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room will push on depth. Lead with the sandboxes, not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let a student try to break one. That offer is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a faculty member ask the follow-up rather than reading the answer pane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persuasive live demo there is: type one topic, change the level, ask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get one slide in front of a parent, this is the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'do you cover our syllabus'. The honest answer is: you do, and here is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point: install it on their own panel during the meeting. It takes under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home screen of the board, nothing held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through one of these live rather than reading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line out loud. Heads ask about it before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WhatsApp group, which is what most institutions use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college this is the slide students will hear about from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objection this answers: who maintains it when the vendor stops answering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the bottom band. Saying it is what makes the rest of the deck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Procurement asks this first, usually before anyone has an account. That is why it is unauthenticated.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runs placements and whether they are in the room. If not, ask for a second meeting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as the college deck: adults consent for themselves, and the job board is age-gated.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number for the conversation, not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close available in this room. Offer it without hedging.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2B"/>
        </a:solidFill>
      </p:bgPr>
    </p:bg>
    <p:spTree>
      <p:nvGrpSpPr>
        <p:cNvPr id="1" name=""/>
        <p:cNvGrpSpPr/>
        <p:nvPr/>
      </p:nvGrpSpPr>
      <p:grpSpPr>
        <a:xfrm>
          <a:off x="0" y="0"/>
          <a:ext cx="0" cy="0"/>
          <a:chOff x="0" y="0"/>
          <a:chExt cx="0" cy="0"/>
        </a:xfrm>
      </p:grpSpPr>
      <p:sp>
        <p:nvSpPr>
          <p:cNvPr id="2" name="Shape 0"/>
          <p:cNvSpPr/>
          <p:nvPr/>
        </p:nvSpPr>
        <p:spPr>
          <a:xfrm>
            <a:off x="9235440" y="-1371600"/>
            <a:ext cx="4937760" cy="4937760"/>
          </a:xfrm>
          <a:prstGeom prst="ellipse">
            <a:avLst/>
          </a:prstGeom>
          <a:solidFill>
            <a:srgbClr val="24473D"/>
          </a:solidFill>
          <a:ln/>
        </p:spPr>
      </p:sp>
      <p:sp>
        <p:nvSpPr>
          <p:cNvPr id="3" name="Shape 1"/>
          <p:cNvSpPr/>
          <p:nvPr/>
        </p:nvSpPr>
        <p:spPr>
          <a:xfrm>
            <a:off x="10881360" y="4206240"/>
            <a:ext cx="2743200" cy="2743200"/>
          </a:xfrm>
          <a:prstGeom prst="ellipse">
            <a:avLst/>
          </a:prstGeom>
          <a:solidFill>
            <a:srgbClr val="24473D"/>
          </a:solidFill>
          <a:ln/>
        </p:spPr>
      </p:sp>
      <p:sp>
        <p:nvSpPr>
          <p:cNvPr id="4" name="Text 2"/>
          <p:cNvSpPr/>
          <p:nvPr/>
        </p:nvSpPr>
        <p:spPr>
          <a:xfrm>
            <a:off x="777240" y="1207008"/>
            <a:ext cx="7863840" cy="274320"/>
          </a:xfrm>
          <a:prstGeom prst="rect">
            <a:avLst/>
          </a:prstGeom>
          <a:noFill/>
          <a:ln/>
        </p:spPr>
        <p:txBody>
          <a:bodyPr wrap="square" lIns="0" tIns="0" rIns="0" bIns="0" rtlCol="0" anchor="ctr"/>
          <a:lstStyle/>
          <a:p>
            <a:pPr indent="0" marL="0">
              <a:buNone/>
            </a:pPr>
            <a:r>
              <a:rPr lang="en-US" sz="1300" b="1" spc="240" kern="0" dirty="0">
                <a:solidFill>
                  <a:srgbClr val="E0913A"/>
                </a:solidFill>
                <a:latin typeface="Calibri" pitchFamily="34" charset="0"/>
                <a:ea typeface="Calibri" pitchFamily="34" charset="-122"/>
                <a:cs typeface="Calibri" pitchFamily="34" charset="-120"/>
              </a:rPr>
              <a:t>FOR ENGINEERING COLLEGES</a:t>
            </a:r>
            <a:endParaRPr lang="en-US" sz="1300" dirty="0"/>
          </a:p>
        </p:txBody>
      </p:sp>
      <p:sp>
        <p:nvSpPr>
          <p:cNvPr id="5" name="Text 3"/>
          <p:cNvSpPr/>
          <p:nvPr/>
        </p:nvSpPr>
        <p:spPr>
          <a:xfrm>
            <a:off x="731520" y="1572768"/>
            <a:ext cx="8595360" cy="1188720"/>
          </a:xfrm>
          <a:prstGeom prst="rect">
            <a:avLst/>
          </a:prstGeom>
          <a:noFill/>
          <a:ln/>
        </p:spPr>
        <p:txBody>
          <a:bodyPr wrap="square" lIns="0" tIns="0" rIns="0" bIns="0" rtlCol="0" anchor="ctr"/>
          <a:lstStyle/>
          <a:p>
            <a:pPr indent="0" marL="0">
              <a:buNone/>
            </a:pPr>
            <a:r>
              <a:rPr lang="en-US" sz="6400" b="1" dirty="0">
                <a:solidFill>
                  <a:srgbClr val="F2F5F1"/>
                </a:solidFill>
                <a:latin typeface="Cambria" pitchFamily="34" charset="0"/>
                <a:ea typeface="Cambria" pitchFamily="34" charset="-122"/>
                <a:cs typeface="Cambria" pitchFamily="34" charset="-120"/>
              </a:rPr>
              <a:t>Craxlearn</a:t>
            </a:r>
            <a:endParaRPr lang="en-US" sz="6400" dirty="0"/>
          </a:p>
        </p:txBody>
      </p:sp>
      <p:sp>
        <p:nvSpPr>
          <p:cNvPr id="6" name="Text 4"/>
          <p:cNvSpPr/>
          <p:nvPr/>
        </p:nvSpPr>
        <p:spPr>
          <a:xfrm>
            <a:off x="777240" y="2798064"/>
            <a:ext cx="7680960" cy="914400"/>
          </a:xfrm>
          <a:prstGeom prst="rect">
            <a:avLst/>
          </a:prstGeom>
          <a:noFill/>
          <a:ln/>
        </p:spPr>
        <p:txBody>
          <a:bodyPr wrap="square" lIns="0" tIns="0" rIns="0" bIns="0" rtlCol="0" anchor="ctr"/>
          <a:lstStyle/>
          <a:p>
            <a:pPr indent="0" marL="0">
              <a:lnSpc>
                <a:spcPts val="2400"/>
              </a:lnSpc>
              <a:buNone/>
            </a:pPr>
            <a:r>
              <a:rPr lang="en-US" sz="1550" dirty="0">
                <a:solidFill>
                  <a:srgbClr val="C7D6CD"/>
                </a:solidFill>
                <a:latin typeface="Calibri" pitchFamily="34" charset="0"/>
                <a:ea typeface="Calibri" pitchFamily="34" charset="-122"/>
                <a:cs typeface="Calibri" pitchFamily="34" charset="-120"/>
              </a:rPr>
              <a:t>Sandboxes a B.Tech student cannot exhaust, a board that teaches to research level on your own material, and the placement pipeline at the end of it.</a:t>
            </a:r>
            <a:endParaRPr lang="en-US" sz="1550" dirty="0"/>
          </a:p>
        </p:txBody>
      </p:sp>
      <p:sp>
        <p:nvSpPr>
          <p:cNvPr id="7" name="Shape 5"/>
          <p:cNvSpPr/>
          <p:nvPr/>
        </p:nvSpPr>
        <p:spPr>
          <a:xfrm>
            <a:off x="777240" y="4023360"/>
            <a:ext cx="1792224" cy="457200"/>
          </a:xfrm>
          <a:prstGeom prst="roundRect">
            <a:avLst>
              <a:gd name="adj" fmla="val 50000"/>
            </a:avLst>
          </a:prstGeom>
          <a:solidFill>
            <a:srgbClr val="24473D"/>
          </a:solidFill>
          <a:ln w="12700">
            <a:solidFill>
              <a:srgbClr val="3D6355"/>
            </a:solidFill>
            <a:prstDash val="solid"/>
          </a:ln>
        </p:spPr>
      </p:sp>
      <p:sp>
        <p:nvSpPr>
          <p:cNvPr id="8" name="Text 6"/>
          <p:cNvSpPr/>
          <p:nvPr/>
        </p:nvSpPr>
        <p:spPr>
          <a:xfrm>
            <a:off x="777240" y="4023360"/>
            <a:ext cx="1792224" cy="457200"/>
          </a:xfrm>
          <a:prstGeom prst="rect">
            <a:avLst/>
          </a:prstGeom>
          <a:noFill/>
          <a:ln/>
        </p:spPr>
        <p:txBody>
          <a:bodyPr wrap="square" lIns="0" tIns="0" rIns="0" bIns="0" rtlCol="0" anchor="ctr"/>
          <a:lstStyle/>
          <a:p>
            <a:pPr algn="ctr" indent="0" marL="0">
              <a:buNone/>
            </a:pPr>
            <a:r>
              <a:rPr lang="en-US" sz="1150" b="1" dirty="0">
                <a:solidFill>
                  <a:srgbClr val="F2F5F1"/>
                </a:solidFill>
                <a:latin typeface="Calibri" pitchFamily="34" charset="0"/>
                <a:ea typeface="Calibri" pitchFamily="34" charset="-122"/>
                <a:cs typeface="Calibri" pitchFamily="34" charset="-120"/>
              </a:rPr>
              <a:t>Real labs</a:t>
            </a:r>
            <a:endParaRPr lang="en-US" sz="1150" dirty="0"/>
          </a:p>
        </p:txBody>
      </p:sp>
      <p:sp>
        <p:nvSpPr>
          <p:cNvPr id="9" name="Shape 7"/>
          <p:cNvSpPr/>
          <p:nvPr/>
        </p:nvSpPr>
        <p:spPr>
          <a:xfrm>
            <a:off x="2752344" y="4023360"/>
            <a:ext cx="1792224" cy="457200"/>
          </a:xfrm>
          <a:prstGeom prst="roundRect">
            <a:avLst>
              <a:gd name="adj" fmla="val 50000"/>
            </a:avLst>
          </a:prstGeom>
          <a:solidFill>
            <a:srgbClr val="24473D"/>
          </a:solidFill>
          <a:ln w="12700">
            <a:solidFill>
              <a:srgbClr val="3D6355"/>
            </a:solidFill>
            <a:prstDash val="solid"/>
          </a:ln>
        </p:spPr>
      </p:sp>
      <p:sp>
        <p:nvSpPr>
          <p:cNvPr id="10" name="Text 8"/>
          <p:cNvSpPr/>
          <p:nvPr/>
        </p:nvSpPr>
        <p:spPr>
          <a:xfrm>
            <a:off x="2752344" y="4023360"/>
            <a:ext cx="1792224" cy="457200"/>
          </a:xfrm>
          <a:prstGeom prst="rect">
            <a:avLst/>
          </a:prstGeom>
          <a:noFill/>
          <a:ln/>
        </p:spPr>
        <p:txBody>
          <a:bodyPr wrap="square" lIns="0" tIns="0" rIns="0" bIns="0" rtlCol="0" anchor="ctr"/>
          <a:lstStyle/>
          <a:p>
            <a:pPr algn="ctr" indent="0" marL="0">
              <a:buNone/>
            </a:pPr>
            <a:r>
              <a:rPr lang="en-US" sz="1150" b="1" dirty="0">
                <a:solidFill>
                  <a:srgbClr val="F2F5F1"/>
                </a:solidFill>
                <a:latin typeface="Calibri" pitchFamily="34" charset="0"/>
                <a:ea typeface="Calibri" pitchFamily="34" charset="-122"/>
                <a:cs typeface="Calibri" pitchFamily="34" charset="-120"/>
              </a:rPr>
              <a:t>The board</a:t>
            </a:r>
            <a:endParaRPr lang="en-US" sz="1150" dirty="0"/>
          </a:p>
        </p:txBody>
      </p:sp>
      <p:sp>
        <p:nvSpPr>
          <p:cNvPr id="11" name="Shape 9"/>
          <p:cNvSpPr/>
          <p:nvPr/>
        </p:nvSpPr>
        <p:spPr>
          <a:xfrm>
            <a:off x="4727448" y="4023360"/>
            <a:ext cx="1792224" cy="457200"/>
          </a:xfrm>
          <a:prstGeom prst="roundRect">
            <a:avLst>
              <a:gd name="adj" fmla="val 50000"/>
            </a:avLst>
          </a:prstGeom>
          <a:solidFill>
            <a:srgbClr val="24473D"/>
          </a:solidFill>
          <a:ln w="12700">
            <a:solidFill>
              <a:srgbClr val="3D6355"/>
            </a:solidFill>
            <a:prstDash val="solid"/>
          </a:ln>
        </p:spPr>
      </p:sp>
      <p:sp>
        <p:nvSpPr>
          <p:cNvPr id="12" name="Text 10"/>
          <p:cNvSpPr/>
          <p:nvPr/>
        </p:nvSpPr>
        <p:spPr>
          <a:xfrm>
            <a:off x="4727448" y="4023360"/>
            <a:ext cx="1792224" cy="457200"/>
          </a:xfrm>
          <a:prstGeom prst="rect">
            <a:avLst/>
          </a:prstGeom>
          <a:noFill/>
          <a:ln/>
        </p:spPr>
        <p:txBody>
          <a:bodyPr wrap="square" lIns="0" tIns="0" rIns="0" bIns="0" rtlCol="0" anchor="ctr"/>
          <a:lstStyle/>
          <a:p>
            <a:pPr algn="ctr" indent="0" marL="0">
              <a:buNone/>
            </a:pPr>
            <a:r>
              <a:rPr lang="en-US" sz="1150" b="1" dirty="0">
                <a:solidFill>
                  <a:srgbClr val="F2F5F1"/>
                </a:solidFill>
                <a:latin typeface="Calibri" pitchFamily="34" charset="0"/>
                <a:ea typeface="Calibri" pitchFamily="34" charset="-122"/>
                <a:cs typeface="Calibri" pitchFamily="34" charset="-120"/>
              </a:rPr>
              <a:t>Courses</a:t>
            </a:r>
            <a:endParaRPr lang="en-US" sz="1150" dirty="0"/>
          </a:p>
        </p:txBody>
      </p:sp>
      <p:sp>
        <p:nvSpPr>
          <p:cNvPr id="13" name="Shape 11"/>
          <p:cNvSpPr/>
          <p:nvPr/>
        </p:nvSpPr>
        <p:spPr>
          <a:xfrm>
            <a:off x="6702552" y="4023360"/>
            <a:ext cx="1792224" cy="457200"/>
          </a:xfrm>
          <a:prstGeom prst="roundRect">
            <a:avLst>
              <a:gd name="adj" fmla="val 50000"/>
            </a:avLst>
          </a:prstGeom>
          <a:solidFill>
            <a:srgbClr val="24473D"/>
          </a:solidFill>
          <a:ln w="12700">
            <a:solidFill>
              <a:srgbClr val="3D6355"/>
            </a:solidFill>
            <a:prstDash val="solid"/>
          </a:ln>
        </p:spPr>
      </p:sp>
      <p:sp>
        <p:nvSpPr>
          <p:cNvPr id="14" name="Text 12"/>
          <p:cNvSpPr/>
          <p:nvPr/>
        </p:nvSpPr>
        <p:spPr>
          <a:xfrm>
            <a:off x="6702552" y="4023360"/>
            <a:ext cx="1792224" cy="457200"/>
          </a:xfrm>
          <a:prstGeom prst="rect">
            <a:avLst/>
          </a:prstGeom>
          <a:noFill/>
          <a:ln/>
        </p:spPr>
        <p:txBody>
          <a:bodyPr wrap="square" lIns="0" tIns="0" rIns="0" bIns="0" rtlCol="0" anchor="ctr"/>
          <a:lstStyle/>
          <a:p>
            <a:pPr algn="ctr" indent="0" marL="0">
              <a:buNone/>
            </a:pPr>
            <a:r>
              <a:rPr lang="en-US" sz="1150" b="1" dirty="0">
                <a:solidFill>
                  <a:srgbClr val="F2F5F1"/>
                </a:solidFill>
                <a:latin typeface="Calibri" pitchFamily="34" charset="0"/>
                <a:ea typeface="Calibri" pitchFamily="34" charset="-122"/>
                <a:cs typeface="Calibri" pitchFamily="34" charset="-120"/>
              </a:rPr>
              <a:t>Placement</a:t>
            </a:r>
            <a:endParaRPr lang="en-US" sz="1150" dirty="0"/>
          </a:p>
        </p:txBody>
      </p:sp>
      <p:sp>
        <p:nvSpPr>
          <p:cNvPr id="15" name="Text 13"/>
          <p:cNvSpPr/>
          <p:nvPr/>
        </p:nvSpPr>
        <p:spPr>
          <a:xfrm>
            <a:off x="777240" y="5212080"/>
            <a:ext cx="5486400" cy="329184"/>
          </a:xfrm>
          <a:prstGeom prst="rect">
            <a:avLst/>
          </a:prstGeom>
          <a:noFill/>
          <a:ln/>
        </p:spPr>
        <p:txBody>
          <a:bodyPr wrap="square" lIns="0" tIns="0" rIns="0" bIns="0" rtlCol="0" anchor="ctr"/>
          <a:lstStyle/>
          <a:p>
            <a:pPr indent="0" marL="0">
              <a:buNone/>
            </a:pPr>
            <a:r>
              <a:rPr lang="en-US" sz="1500" b="1" dirty="0">
                <a:solidFill>
                  <a:srgbClr val="E0913A"/>
                </a:solidFill>
                <a:latin typeface="Calibri" pitchFamily="34" charset="0"/>
                <a:ea typeface="Calibri" pitchFamily="34" charset="-122"/>
                <a:cs typeface="Calibri" pitchFamily="34" charset="-120"/>
              </a:rPr>
              <a:t>craxle.com/craxlearn</a:t>
            </a:r>
            <a:endParaRPr lang="en-US" sz="1500" dirty="0"/>
          </a:p>
        </p:txBody>
      </p:sp>
      <p:sp>
        <p:nvSpPr>
          <p:cNvPr id="16" name="Text 14"/>
          <p:cNvSpPr/>
          <p:nvPr/>
        </p:nvSpPr>
        <p:spPr>
          <a:xfrm>
            <a:off x="777240" y="5559552"/>
            <a:ext cx="7863840" cy="292608"/>
          </a:xfrm>
          <a:prstGeom prst="rect">
            <a:avLst/>
          </a:prstGeom>
          <a:noFill/>
          <a:ln/>
        </p:spPr>
        <p:txBody>
          <a:bodyPr wrap="square" lIns="0" tIns="0" rIns="0" bIns="0" rtlCol="0" anchor="ctr"/>
          <a:lstStyle/>
          <a:p>
            <a:pPr indent="0" marL="0">
              <a:buNone/>
            </a:pPr>
            <a:r>
              <a:rPr lang="en-US" sz="1200" dirty="0">
                <a:solidFill>
                  <a:srgbClr val="8FA89B"/>
                </a:solidFill>
                <a:latin typeface="Calibri" pitchFamily="34" charset="0"/>
                <a:ea typeface="Calibri" pitchFamily="34" charset="-122"/>
                <a:cs typeface="Calibri" pitchFamily="34" charset="-120"/>
              </a:rPr>
              <a:t>Runs in the browser on the panel you already own.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302B"/>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SANDBOXES</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F2F5F1"/>
                </a:solidFill>
                <a:latin typeface="Cambria" pitchFamily="34" charset="0"/>
                <a:ea typeface="Cambria" pitchFamily="34" charset="-122"/>
                <a:cs typeface="Cambria" pitchFamily="34" charset="-120"/>
              </a:rPr>
              <a:t>Things they can actually break</a:t>
            </a:r>
            <a:endParaRPr lang="en-US" sz="3300" dirty="0"/>
          </a:p>
        </p:txBody>
      </p:sp>
      <p:sp>
        <p:nvSpPr>
          <p:cNvPr id="4" name="Text 2"/>
          <p:cNvSpPr/>
          <p:nvPr/>
        </p:nvSpPr>
        <p:spPr>
          <a:xfrm>
            <a:off x="548640" y="1600200"/>
            <a:ext cx="11064240" cy="658368"/>
          </a:xfrm>
          <a:prstGeom prst="rect">
            <a:avLst/>
          </a:prstGeom>
          <a:noFill/>
          <a:ln/>
        </p:spPr>
        <p:txBody>
          <a:bodyPr wrap="square" lIns="0" tIns="0" rIns="0" bIns="0" rtlCol="0" anchor="ctr"/>
          <a:lstStyle/>
          <a:p>
            <a:pPr indent="0" marL="0">
              <a:lnSpc>
                <a:spcPts val="1800"/>
              </a:lnSpc>
              <a:buNone/>
            </a:pPr>
            <a:r>
              <a:rPr lang="en-US" sz="1250" dirty="0">
                <a:solidFill>
                  <a:srgbClr val="C7D6CD"/>
                </a:solidFill>
                <a:latin typeface="Calibri" pitchFamily="34" charset="0"/>
                <a:ea typeface="Calibri" pitchFamily="34" charset="-122"/>
                <a:cs typeface="Calibri" pitchFamily="34" charset="-120"/>
              </a:rPr>
              <a:t>A quiz has a bottom and a B.Tech student finds it in an afternoon. These do not: they are real engines with real rules, and the answer comes from running the thing rather than from a table of expected responses.</a:t>
            </a:r>
            <a:endParaRPr lang="en-US" sz="1250" dirty="0"/>
          </a:p>
        </p:txBody>
      </p:sp>
      <p:sp>
        <p:nvSpPr>
          <p:cNvPr id="5" name="Shape 3"/>
          <p:cNvSpPr/>
          <p:nvPr/>
        </p:nvSpPr>
        <p:spPr>
          <a:xfrm>
            <a:off x="548640" y="2450592"/>
            <a:ext cx="5431536" cy="1444752"/>
          </a:xfrm>
          <a:prstGeom prst="roundRect">
            <a:avLst>
              <a:gd name="adj" fmla="val 6962"/>
            </a:avLst>
          </a:prstGeom>
          <a:solidFill>
            <a:srgbClr val="24473D"/>
          </a:solidFill>
          <a:ln/>
          <a:effectLst>
            <a:outerShdw sx="100000" sy="100000" kx="0" ky="0" algn="bl" rotWithShape="0" blurRad="127000" dist="25400" dir="5400000">
              <a:srgbClr val="10231E">
                <a:alpha val="16000"/>
              </a:srgbClr>
            </a:outerShdw>
          </a:effectLst>
        </p:spPr>
      </p:sp>
      <p:sp>
        <p:nvSpPr>
          <p:cNvPr id="6" name="Shape 4"/>
          <p:cNvSpPr/>
          <p:nvPr/>
        </p:nvSpPr>
        <p:spPr>
          <a:xfrm>
            <a:off x="786384" y="2670048"/>
            <a:ext cx="420624" cy="420624"/>
          </a:xfrm>
          <a:prstGeom prst="ellipse">
            <a:avLst/>
          </a:prstGeom>
          <a:solidFill>
            <a:srgbClr val="E0913A"/>
          </a:solidFill>
          <a:ln/>
        </p:spPr>
      </p:sp>
      <p:sp>
        <p:nvSpPr>
          <p:cNvPr id="7" name="Text 5"/>
          <p:cNvSpPr/>
          <p:nvPr/>
        </p:nvSpPr>
        <p:spPr>
          <a:xfrm>
            <a:off x="786384" y="2670048"/>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p:nvPr/>
        </p:nvSpPr>
        <p:spPr>
          <a:xfrm>
            <a:off x="1316736" y="2633472"/>
            <a:ext cx="4425696" cy="310896"/>
          </a:xfrm>
          <a:prstGeom prst="rect">
            <a:avLst/>
          </a:prstGeom>
          <a:noFill/>
          <a:ln/>
        </p:spPr>
        <p:txBody>
          <a:bodyPr wrap="square" lIns="0" tIns="0" rIns="0" bIns="0" rtlCol="0" anchor="ctr"/>
          <a:lstStyle/>
          <a:p>
            <a:pPr indent="0" marL="0">
              <a:buNone/>
            </a:pPr>
            <a:r>
              <a:rPr lang="en-US" sz="1400" b="1" dirty="0">
                <a:solidFill>
                  <a:srgbClr val="E0913A"/>
                </a:solidFill>
                <a:latin typeface="Calibri" pitchFamily="34" charset="0"/>
                <a:ea typeface="Calibri" pitchFamily="34" charset="-122"/>
                <a:cs typeface="Calibri" pitchFamily="34" charset="-120"/>
              </a:rPr>
              <a:t>SQL board</a:t>
            </a:r>
            <a:endParaRPr lang="en-US" sz="1400" dirty="0"/>
          </a:p>
        </p:txBody>
      </p:sp>
      <p:sp>
        <p:nvSpPr>
          <p:cNvPr id="9" name="Text 7"/>
          <p:cNvSpPr/>
          <p:nvPr/>
        </p:nvSpPr>
        <p:spPr>
          <a:xfrm>
            <a:off x="804672" y="3054096"/>
            <a:ext cx="4919472" cy="768096"/>
          </a:xfrm>
          <a:prstGeom prst="rect">
            <a:avLst/>
          </a:prstGeom>
          <a:noFill/>
          <a:ln/>
        </p:spPr>
        <p:txBody>
          <a:bodyPr wrap="square" lIns="0" tIns="0" rIns="0" bIns="0" rtlCol="0" anchor="ctr"/>
          <a:lstStyle/>
          <a:p>
            <a:pPr indent="0" marL="0">
              <a:lnSpc>
                <a:spcPts val="1350"/>
              </a:lnSpc>
              <a:buNone/>
            </a:pPr>
            <a:r>
              <a:rPr lang="en-US" sz="1050" dirty="0">
                <a:solidFill>
                  <a:srgbClr val="B4C8BC"/>
                </a:solidFill>
                <a:latin typeface="Calibri" pitchFamily="34" charset="0"/>
                <a:ea typeface="Calibri" pitchFamily="34" charset="-122"/>
                <a:cs typeface="Calibri" pitchFamily="34" charset="-120"/>
              </a:rPr>
              <a:t>Write queries against a real database and see what comes back, errors included. Not a multiple-choice question about SQL.</a:t>
            </a:r>
            <a:endParaRPr lang="en-US" sz="1050" dirty="0"/>
          </a:p>
        </p:txBody>
      </p:sp>
      <p:sp>
        <p:nvSpPr>
          <p:cNvPr id="10" name="Shape 8"/>
          <p:cNvSpPr/>
          <p:nvPr/>
        </p:nvSpPr>
        <p:spPr>
          <a:xfrm>
            <a:off x="6181344" y="2450592"/>
            <a:ext cx="5431536" cy="1444752"/>
          </a:xfrm>
          <a:prstGeom prst="roundRect">
            <a:avLst>
              <a:gd name="adj" fmla="val 6962"/>
            </a:avLst>
          </a:prstGeom>
          <a:solidFill>
            <a:srgbClr val="24473D"/>
          </a:solidFill>
          <a:ln/>
          <a:effectLst>
            <a:outerShdw sx="100000" sy="100000" kx="0" ky="0" algn="bl" rotWithShape="0" blurRad="127000" dist="25400" dir="5400000">
              <a:srgbClr val="10231E">
                <a:alpha val="16000"/>
              </a:srgbClr>
            </a:outerShdw>
          </a:effectLst>
        </p:spPr>
      </p:sp>
      <p:sp>
        <p:nvSpPr>
          <p:cNvPr id="11" name="Shape 9"/>
          <p:cNvSpPr/>
          <p:nvPr/>
        </p:nvSpPr>
        <p:spPr>
          <a:xfrm>
            <a:off x="6419088" y="2670048"/>
            <a:ext cx="420624" cy="420624"/>
          </a:xfrm>
          <a:prstGeom prst="ellipse">
            <a:avLst/>
          </a:prstGeom>
          <a:solidFill>
            <a:srgbClr val="E0913A"/>
          </a:solidFill>
          <a:ln/>
        </p:spPr>
      </p:sp>
      <p:sp>
        <p:nvSpPr>
          <p:cNvPr id="12" name="Text 10"/>
          <p:cNvSpPr/>
          <p:nvPr/>
        </p:nvSpPr>
        <p:spPr>
          <a:xfrm>
            <a:off x="6419088" y="2670048"/>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p:nvPr/>
        </p:nvSpPr>
        <p:spPr>
          <a:xfrm>
            <a:off x="6949440" y="2633472"/>
            <a:ext cx="4425696" cy="310896"/>
          </a:xfrm>
          <a:prstGeom prst="rect">
            <a:avLst/>
          </a:prstGeom>
          <a:noFill/>
          <a:ln/>
        </p:spPr>
        <p:txBody>
          <a:bodyPr wrap="square" lIns="0" tIns="0" rIns="0" bIns="0" rtlCol="0" anchor="ctr"/>
          <a:lstStyle/>
          <a:p>
            <a:pPr indent="0" marL="0">
              <a:buNone/>
            </a:pPr>
            <a:r>
              <a:rPr lang="en-US" sz="1400" b="1" dirty="0">
                <a:solidFill>
                  <a:srgbClr val="E0913A"/>
                </a:solidFill>
                <a:latin typeface="Calibri" pitchFamily="34" charset="0"/>
                <a:ea typeface="Calibri" pitchFamily="34" charset="-122"/>
                <a:cs typeface="Calibri" pitchFamily="34" charset="-120"/>
              </a:rPr>
              <a:t>Trace a packet</a:t>
            </a:r>
            <a:endParaRPr lang="en-US" sz="1400" dirty="0"/>
          </a:p>
        </p:txBody>
      </p:sp>
      <p:sp>
        <p:nvSpPr>
          <p:cNvPr id="14" name="Text 12"/>
          <p:cNvSpPr/>
          <p:nvPr/>
        </p:nvSpPr>
        <p:spPr>
          <a:xfrm>
            <a:off x="6437376" y="3054096"/>
            <a:ext cx="4919472" cy="768096"/>
          </a:xfrm>
          <a:prstGeom prst="rect">
            <a:avLst/>
          </a:prstGeom>
          <a:noFill/>
          <a:ln/>
        </p:spPr>
        <p:txBody>
          <a:bodyPr wrap="square" lIns="0" tIns="0" rIns="0" bIns="0" rtlCol="0" anchor="ctr"/>
          <a:lstStyle/>
          <a:p>
            <a:pPr indent="0" marL="0">
              <a:lnSpc>
                <a:spcPts val="1350"/>
              </a:lnSpc>
              <a:buNone/>
            </a:pPr>
            <a:r>
              <a:rPr lang="en-US" sz="1050" dirty="0">
                <a:solidFill>
                  <a:srgbClr val="B4C8BC"/>
                </a:solidFill>
                <a:latin typeface="Calibri" pitchFamily="34" charset="0"/>
                <a:ea typeface="Calibri" pitchFamily="34" charset="-122"/>
                <a:cs typeface="Calibri" pitchFamily="34" charset="-120"/>
              </a:rPr>
              <a:t>Send a packet through real routing tables and firewall rules and watch each decision as it is taken.</a:t>
            </a:r>
            <a:endParaRPr lang="en-US" sz="1050" dirty="0"/>
          </a:p>
        </p:txBody>
      </p:sp>
      <p:sp>
        <p:nvSpPr>
          <p:cNvPr id="15" name="Shape 13"/>
          <p:cNvSpPr/>
          <p:nvPr/>
        </p:nvSpPr>
        <p:spPr>
          <a:xfrm>
            <a:off x="548640" y="4041648"/>
            <a:ext cx="5431536" cy="1444752"/>
          </a:xfrm>
          <a:prstGeom prst="roundRect">
            <a:avLst>
              <a:gd name="adj" fmla="val 6962"/>
            </a:avLst>
          </a:prstGeom>
          <a:solidFill>
            <a:srgbClr val="24473D"/>
          </a:solidFill>
          <a:ln/>
          <a:effectLst>
            <a:outerShdw sx="100000" sy="100000" kx="0" ky="0" algn="bl" rotWithShape="0" blurRad="127000" dist="25400" dir="5400000">
              <a:srgbClr val="10231E">
                <a:alpha val="16000"/>
              </a:srgbClr>
            </a:outerShdw>
          </a:effectLst>
        </p:spPr>
      </p:sp>
      <p:sp>
        <p:nvSpPr>
          <p:cNvPr id="16" name="Shape 14"/>
          <p:cNvSpPr/>
          <p:nvPr/>
        </p:nvSpPr>
        <p:spPr>
          <a:xfrm>
            <a:off x="786384" y="4261104"/>
            <a:ext cx="420624" cy="420624"/>
          </a:xfrm>
          <a:prstGeom prst="ellipse">
            <a:avLst/>
          </a:prstGeom>
          <a:solidFill>
            <a:srgbClr val="E0913A"/>
          </a:solidFill>
          <a:ln/>
        </p:spPr>
      </p:sp>
      <p:sp>
        <p:nvSpPr>
          <p:cNvPr id="17" name="Text 15"/>
          <p:cNvSpPr/>
          <p:nvPr/>
        </p:nvSpPr>
        <p:spPr>
          <a:xfrm>
            <a:off x="786384" y="4261104"/>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p:nvPr/>
        </p:nvSpPr>
        <p:spPr>
          <a:xfrm>
            <a:off x="1316736" y="4224528"/>
            <a:ext cx="4425696" cy="310896"/>
          </a:xfrm>
          <a:prstGeom prst="rect">
            <a:avLst/>
          </a:prstGeom>
          <a:noFill/>
          <a:ln/>
        </p:spPr>
        <p:txBody>
          <a:bodyPr wrap="square" lIns="0" tIns="0" rIns="0" bIns="0" rtlCol="0" anchor="ctr"/>
          <a:lstStyle/>
          <a:p>
            <a:pPr indent="0" marL="0">
              <a:buNone/>
            </a:pPr>
            <a:r>
              <a:rPr lang="en-US" sz="1400" b="1" dirty="0">
                <a:solidFill>
                  <a:srgbClr val="E0913A"/>
                </a:solidFill>
                <a:latin typeface="Calibri" pitchFamily="34" charset="0"/>
                <a:ea typeface="Calibri" pitchFamily="34" charset="-122"/>
                <a:cs typeface="Calibri" pitchFamily="34" charset="-120"/>
              </a:rPr>
              <a:t>The lab</a:t>
            </a:r>
            <a:endParaRPr lang="en-US" sz="1400" dirty="0"/>
          </a:p>
        </p:txBody>
      </p:sp>
      <p:sp>
        <p:nvSpPr>
          <p:cNvPr id="19" name="Text 17"/>
          <p:cNvSpPr/>
          <p:nvPr/>
        </p:nvSpPr>
        <p:spPr>
          <a:xfrm>
            <a:off x="804672" y="4645152"/>
            <a:ext cx="4919472" cy="768096"/>
          </a:xfrm>
          <a:prstGeom prst="rect">
            <a:avLst/>
          </a:prstGeom>
          <a:noFill/>
          <a:ln/>
        </p:spPr>
        <p:txBody>
          <a:bodyPr wrap="square" lIns="0" tIns="0" rIns="0" bIns="0" rtlCol="0" anchor="ctr"/>
          <a:lstStyle/>
          <a:p>
            <a:pPr indent="0" marL="0">
              <a:lnSpc>
                <a:spcPts val="1350"/>
              </a:lnSpc>
              <a:buNone/>
            </a:pPr>
            <a:r>
              <a:rPr lang="en-US" sz="1050" dirty="0">
                <a:solidFill>
                  <a:srgbClr val="B4C8BC"/>
                </a:solidFill>
                <a:latin typeface="Calibri" pitchFamily="34" charset="0"/>
                <a:ea typeface="Calibri" pitchFamily="34" charset="-122"/>
                <a:cs typeface="Calibri" pitchFamily="34" charset="-120"/>
              </a:rPr>
              <a:t>Mix reagents and run experiments. Every reaction comes from a measured table and is never guessed at.</a:t>
            </a:r>
            <a:endParaRPr lang="en-US" sz="1050" dirty="0"/>
          </a:p>
        </p:txBody>
      </p:sp>
      <p:sp>
        <p:nvSpPr>
          <p:cNvPr id="20" name="Shape 18"/>
          <p:cNvSpPr/>
          <p:nvPr/>
        </p:nvSpPr>
        <p:spPr>
          <a:xfrm>
            <a:off x="6181344" y="4041648"/>
            <a:ext cx="5431536" cy="1444752"/>
          </a:xfrm>
          <a:prstGeom prst="roundRect">
            <a:avLst>
              <a:gd name="adj" fmla="val 6962"/>
            </a:avLst>
          </a:prstGeom>
          <a:solidFill>
            <a:srgbClr val="24473D"/>
          </a:solidFill>
          <a:ln/>
          <a:effectLst>
            <a:outerShdw sx="100000" sy="100000" kx="0" ky="0" algn="bl" rotWithShape="0" blurRad="127000" dist="25400" dir="5400000">
              <a:srgbClr val="10231E">
                <a:alpha val="16000"/>
              </a:srgbClr>
            </a:outerShdw>
          </a:effectLst>
        </p:spPr>
      </p:sp>
      <p:sp>
        <p:nvSpPr>
          <p:cNvPr id="21" name="Shape 19"/>
          <p:cNvSpPr/>
          <p:nvPr/>
        </p:nvSpPr>
        <p:spPr>
          <a:xfrm>
            <a:off x="6419088" y="4261104"/>
            <a:ext cx="420624" cy="420624"/>
          </a:xfrm>
          <a:prstGeom prst="ellipse">
            <a:avLst/>
          </a:prstGeom>
          <a:solidFill>
            <a:srgbClr val="E0913A"/>
          </a:solidFill>
          <a:ln/>
        </p:spPr>
      </p:sp>
      <p:sp>
        <p:nvSpPr>
          <p:cNvPr id="22" name="Text 20"/>
          <p:cNvSpPr/>
          <p:nvPr/>
        </p:nvSpPr>
        <p:spPr>
          <a:xfrm>
            <a:off x="6419088" y="4261104"/>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p:nvPr/>
        </p:nvSpPr>
        <p:spPr>
          <a:xfrm>
            <a:off x="6949440" y="4224528"/>
            <a:ext cx="4425696" cy="310896"/>
          </a:xfrm>
          <a:prstGeom prst="rect">
            <a:avLst/>
          </a:prstGeom>
          <a:noFill/>
          <a:ln/>
        </p:spPr>
        <p:txBody>
          <a:bodyPr wrap="square" lIns="0" tIns="0" rIns="0" bIns="0" rtlCol="0" anchor="ctr"/>
          <a:lstStyle/>
          <a:p>
            <a:pPr indent="0" marL="0">
              <a:buNone/>
            </a:pPr>
            <a:r>
              <a:rPr lang="en-US" sz="1400" b="1" dirty="0">
                <a:solidFill>
                  <a:srgbClr val="E0913A"/>
                </a:solidFill>
                <a:latin typeface="Calibri" pitchFamily="34" charset="0"/>
                <a:ea typeface="Calibri" pitchFamily="34" charset="-122"/>
                <a:cs typeface="Calibri" pitchFamily="34" charset="-120"/>
              </a:rPr>
              <a:t>3D structures</a:t>
            </a:r>
            <a:endParaRPr lang="en-US" sz="1400" dirty="0"/>
          </a:p>
        </p:txBody>
      </p:sp>
      <p:sp>
        <p:nvSpPr>
          <p:cNvPr id="24" name="Text 22"/>
          <p:cNvSpPr/>
          <p:nvPr/>
        </p:nvSpPr>
        <p:spPr>
          <a:xfrm>
            <a:off x="6437376" y="4645152"/>
            <a:ext cx="4919472" cy="768096"/>
          </a:xfrm>
          <a:prstGeom prst="rect">
            <a:avLst/>
          </a:prstGeom>
          <a:noFill/>
          <a:ln/>
        </p:spPr>
        <p:txBody>
          <a:bodyPr wrap="square" lIns="0" tIns="0" rIns="0" bIns="0" rtlCol="0" anchor="ctr"/>
          <a:lstStyle/>
          <a:p>
            <a:pPr indent="0" marL="0">
              <a:lnSpc>
                <a:spcPts val="1350"/>
              </a:lnSpc>
              <a:buNone/>
            </a:pPr>
            <a:r>
              <a:rPr lang="en-US" sz="1050" dirty="0">
                <a:solidFill>
                  <a:srgbClr val="B4C8BC"/>
                </a:solidFill>
                <a:latin typeface="Calibri" pitchFamily="34" charset="0"/>
                <a:ea typeface="Calibri" pitchFamily="34" charset="-122"/>
                <a:cs typeface="Calibri" pitchFamily="34" charset="-120"/>
              </a:rPr>
              <a:t>Molecules, crystals, proteins and orbits, turned and measured. Real coordinates from the open catalogues, not artwork.</a:t>
            </a:r>
            <a:endParaRPr lang="en-US" sz="1050" dirty="0"/>
          </a:p>
        </p:txBody>
      </p:sp>
      <p:sp>
        <p:nvSpPr>
          <p:cNvPr id="25" name="Text 23"/>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8FA89B"/>
                </a:solidFill>
                <a:latin typeface="Calibri" pitchFamily="34" charset="0"/>
                <a:ea typeface="Calibri" pitchFamily="34" charset="-122"/>
                <a:cs typeface="Calibri" pitchFamily="34" charset="-120"/>
              </a:rPr>
              <a:t>All four run on the panel at the front and on a student's own laptop, from the same address.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302B"/>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WHAT IT LOOKS LIKE IN THE ROOM</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F2F5F1"/>
                </a:solidFill>
                <a:latin typeface="Cambria" pitchFamily="34" charset="0"/>
                <a:ea typeface="Cambria" pitchFamily="34" charset="-122"/>
                <a:cs typeface="Cambria" pitchFamily="34" charset="-120"/>
              </a:rPr>
              <a:t>A third-year ECE class, as the room sees it</a:t>
            </a:r>
            <a:endParaRPr lang="en-US" sz="3300" dirty="0"/>
          </a:p>
        </p:txBody>
      </p:sp>
      <p:sp>
        <p:nvSpPr>
          <p:cNvPr id="4" name="Shape 2"/>
          <p:cNvSpPr/>
          <p:nvPr/>
        </p:nvSpPr>
        <p:spPr>
          <a:xfrm>
            <a:off x="457200" y="1426464"/>
            <a:ext cx="11274552" cy="4681728"/>
          </a:xfrm>
          <a:prstGeom prst="roundRect">
            <a:avLst>
              <a:gd name="adj" fmla="val 2148"/>
            </a:avLst>
          </a:prstGeom>
          <a:solidFill>
            <a:srgbClr val="0D1F1A"/>
          </a:solidFill>
          <a:ln/>
          <a:effectLst>
            <a:outerShdw sx="100000" sy="100000" kx="0" ky="0" algn="bl" rotWithShape="0" blurRad="127000" dist="25400" dir="5400000">
              <a:srgbClr val="10231E">
                <a:alpha val="16000"/>
              </a:srgbClr>
            </a:outerShdw>
          </a:effectLst>
        </p:spPr>
      </p:sp>
      <p:sp>
        <p:nvSpPr>
          <p:cNvPr id="5" name="Shape 3"/>
          <p:cNvSpPr/>
          <p:nvPr/>
        </p:nvSpPr>
        <p:spPr>
          <a:xfrm>
            <a:off x="603504" y="1554480"/>
            <a:ext cx="10981944" cy="4425696"/>
          </a:xfrm>
          <a:prstGeom prst="roundRect">
            <a:avLst>
              <a:gd name="adj" fmla="val 1653"/>
            </a:avLst>
          </a:prstGeom>
          <a:solidFill>
            <a:srgbClr val="FBFCFB"/>
          </a:solidFill>
          <a:ln/>
        </p:spPr>
      </p:sp>
      <p:sp>
        <p:nvSpPr>
          <p:cNvPr id="6" name="Text 4"/>
          <p:cNvSpPr/>
          <p:nvPr/>
        </p:nvSpPr>
        <p:spPr>
          <a:xfrm>
            <a:off x="786384" y="1664208"/>
            <a:ext cx="7315200" cy="274320"/>
          </a:xfrm>
          <a:prstGeom prst="rect">
            <a:avLst/>
          </a:prstGeom>
          <a:noFill/>
          <a:ln/>
        </p:spPr>
        <p:txBody>
          <a:bodyPr wrap="square" lIns="0" tIns="0" rIns="0" bIns="0" rtlCol="0" anchor="ctr"/>
          <a:lstStyle/>
          <a:p>
            <a:pPr indent="0" marL="0">
              <a:buNone/>
            </a:pPr>
            <a:r>
              <a:rPr lang="en-US" sz="1100" b="1" dirty="0">
                <a:solidFill>
                  <a:srgbClr val="16302B"/>
                </a:solidFill>
                <a:latin typeface="Calibri" pitchFamily="34" charset="0"/>
                <a:ea typeface="Calibri" pitchFamily="34" charset="-122"/>
                <a:cs typeface="Calibri" pitchFamily="34" charset="-120"/>
              </a:rPr>
              <a:t>B.Tech III  ·  ECE  ·  Semiconductor Devices</a:t>
            </a:r>
            <a:endParaRPr lang="en-US" sz="1100" dirty="0"/>
          </a:p>
        </p:txBody>
      </p:sp>
      <p:sp>
        <p:nvSpPr>
          <p:cNvPr id="7" name="Text 5"/>
          <p:cNvSpPr/>
          <p:nvPr/>
        </p:nvSpPr>
        <p:spPr>
          <a:xfrm>
            <a:off x="8595360" y="1664208"/>
            <a:ext cx="2834640" cy="274320"/>
          </a:xfrm>
          <a:prstGeom prst="rect">
            <a:avLst/>
          </a:prstGeom>
          <a:noFill/>
          <a:ln/>
        </p:spPr>
        <p:txBody>
          <a:bodyPr wrap="square" lIns="0" tIns="0" rIns="0" bIns="0" rtlCol="0" anchor="ctr"/>
          <a:lstStyle/>
          <a:p>
            <a:pPr algn="r" indent="0" marL="0">
              <a:buNone/>
            </a:pPr>
            <a:r>
              <a:rPr lang="en-US" sz="1100" b="1" dirty="0">
                <a:solidFill>
                  <a:srgbClr val="E0913A"/>
                </a:solidFill>
                <a:latin typeface="Calibri" pitchFamily="34" charset="0"/>
                <a:ea typeface="Calibri" pitchFamily="34" charset="-122"/>
                <a:cs typeface="Calibri" pitchFamily="34" charset="-120"/>
              </a:rPr>
              <a:t>14:30  ·  IST</a:t>
            </a:r>
            <a:endParaRPr lang="en-US" sz="1100" dirty="0"/>
          </a:p>
        </p:txBody>
      </p:sp>
      <p:sp>
        <p:nvSpPr>
          <p:cNvPr id="8" name="Shape 6"/>
          <p:cNvSpPr/>
          <p:nvPr/>
        </p:nvSpPr>
        <p:spPr>
          <a:xfrm>
            <a:off x="786384" y="2048256"/>
            <a:ext cx="4517136" cy="3785616"/>
          </a:xfrm>
          <a:prstGeom prst="roundRect">
            <a:avLst>
              <a:gd name="adj" fmla="val 1691"/>
            </a:avLst>
          </a:prstGeom>
          <a:solidFill>
            <a:srgbClr val="F1F5F1"/>
          </a:solidFill>
          <a:ln/>
        </p:spPr>
      </p:sp>
      <p:sp>
        <p:nvSpPr>
          <p:cNvPr id="9" name="Text 7"/>
          <p:cNvSpPr/>
          <p:nvPr/>
        </p:nvSpPr>
        <p:spPr>
          <a:xfrm>
            <a:off x="950976" y="2194560"/>
            <a:ext cx="4187952" cy="274320"/>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Doping: making silicon conduct on purpose</a:t>
            </a:r>
            <a:endParaRPr lang="en-US" sz="1300" dirty="0"/>
          </a:p>
        </p:txBody>
      </p:sp>
      <p:sp>
        <p:nvSpPr>
          <p:cNvPr id="10" name="Text 8"/>
          <p:cNvSpPr/>
          <p:nvPr/>
        </p:nvSpPr>
        <p:spPr>
          <a:xfrm>
            <a:off x="969264" y="2560320"/>
            <a:ext cx="4114800" cy="2871216"/>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Pure silicon has four valence electrons and four neighbours.</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Every electron is locked into a bond, so none is free to move.</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Replace one silicon atom with phosphorus, which has five.</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Four of those electrons bond. The fifth has nowhere to go.</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It sits ~45 meV below the conduction band — thermal energy frees it.</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One dopant atom in 10⁷ raises conductivity by orders of magnitude.</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This is n-type. Boron instead of phosphorus gives p-type.</a:t>
            </a:r>
            <a:endParaRPr lang="en-US" sz="1050" dirty="0"/>
          </a:p>
          <a:p>
            <a:pPr marL="342900" indent="-342900">
              <a:lnSpc>
                <a:spcPts val="1400"/>
              </a:lnSpc>
              <a:spcAft>
                <a:spcPts val="600"/>
              </a:spcAft>
              <a:buSzPct val="100000"/>
              <a:buChar char="•"/>
            </a:pPr>
            <a:r>
              <a:rPr lang="en-US" sz="1050" dirty="0">
                <a:solidFill>
                  <a:srgbClr val="2E4740"/>
                </a:solidFill>
                <a:latin typeface="Calibri" pitchFamily="34" charset="0"/>
                <a:ea typeface="Calibri" pitchFamily="34" charset="-122"/>
                <a:cs typeface="Calibri" pitchFamily="34" charset="-120"/>
              </a:rPr>
              <a:t>Put the two together and you have a junction, which is every device.</a:t>
            </a:r>
            <a:endParaRPr lang="en-US" sz="1050" dirty="0"/>
          </a:p>
        </p:txBody>
      </p:sp>
      <p:sp>
        <p:nvSpPr>
          <p:cNvPr id="11" name="Text 9"/>
          <p:cNvSpPr/>
          <p:nvPr/>
        </p:nvSpPr>
        <p:spPr>
          <a:xfrm>
            <a:off x="950976" y="5522976"/>
            <a:ext cx="4187952" cy="219456"/>
          </a:xfrm>
          <a:prstGeom prst="rect">
            <a:avLst/>
          </a:prstGeom>
          <a:noFill/>
          <a:ln/>
        </p:spPr>
        <p:txBody>
          <a:bodyPr wrap="square" lIns="0" tIns="0" rIns="0" bIns="0" rtlCol="0" anchor="ctr"/>
          <a:lstStyle/>
          <a:p>
            <a:pPr indent="0" marL="0">
              <a:buNone/>
            </a:pPr>
            <a:r>
              <a:rPr lang="en-US" sz="850" i="1" dirty="0">
                <a:solidFill>
                  <a:srgbClr val="5C7268"/>
                </a:solidFill>
                <a:latin typeface="Calibri" pitchFamily="34" charset="0"/>
                <a:ea typeface="Calibri" pitchFamily="34" charset="-122"/>
                <a:cs typeface="Calibri" pitchFamily="34" charset="-120"/>
              </a:rPr>
              <a:t>Saved to B.Tech III · Semiconductor Devices · study material</a:t>
            </a:r>
            <a:endParaRPr lang="en-US" sz="850" dirty="0"/>
          </a:p>
        </p:txBody>
      </p:sp>
      <p:sp>
        <p:nvSpPr>
          <p:cNvPr id="12" name="Shape 10"/>
          <p:cNvSpPr/>
          <p:nvPr/>
        </p:nvSpPr>
        <p:spPr>
          <a:xfrm>
            <a:off x="1298448" y="3227832"/>
            <a:ext cx="1993392" cy="0"/>
          </a:xfrm>
          <a:prstGeom prst="line">
            <a:avLst/>
          </a:prstGeom>
          <a:noFill/>
          <a:ln w="28575">
            <a:solidFill>
              <a:srgbClr val="E0913A"/>
            </a:solidFill>
            <a:prstDash val="solid"/>
          </a:ln>
        </p:spPr>
      </p:sp>
      <p:sp>
        <p:nvSpPr>
          <p:cNvPr id="13" name="Shape 11"/>
          <p:cNvSpPr/>
          <p:nvPr/>
        </p:nvSpPr>
        <p:spPr>
          <a:xfrm>
            <a:off x="1298448" y="4242816"/>
            <a:ext cx="1627632" cy="0"/>
          </a:xfrm>
          <a:prstGeom prst="line">
            <a:avLst/>
          </a:prstGeom>
          <a:noFill/>
          <a:ln w="28575">
            <a:solidFill>
              <a:srgbClr val="E0913A"/>
            </a:solidFill>
            <a:prstDash val="solid"/>
          </a:ln>
        </p:spPr>
      </p:sp>
      <p:sp>
        <p:nvSpPr>
          <p:cNvPr id="14" name="Shape 12"/>
          <p:cNvSpPr/>
          <p:nvPr/>
        </p:nvSpPr>
        <p:spPr>
          <a:xfrm>
            <a:off x="5449824" y="2048256"/>
            <a:ext cx="2706624" cy="3785616"/>
          </a:xfrm>
          <a:prstGeom prst="roundRect">
            <a:avLst>
              <a:gd name="adj" fmla="val 2365"/>
            </a:avLst>
          </a:prstGeom>
          <a:solidFill>
            <a:srgbClr val="16302B"/>
          </a:solidFill>
          <a:ln/>
        </p:spPr>
      </p:sp>
      <p:sp>
        <p:nvSpPr>
          <p:cNvPr id="15" name="Text 13"/>
          <p:cNvSpPr/>
          <p:nvPr/>
        </p:nvSpPr>
        <p:spPr>
          <a:xfrm>
            <a:off x="5614416" y="2194560"/>
            <a:ext cx="2377440" cy="237744"/>
          </a:xfrm>
          <a:prstGeom prst="rect">
            <a:avLst/>
          </a:prstGeom>
          <a:noFill/>
          <a:ln/>
        </p:spPr>
        <p:txBody>
          <a:bodyPr wrap="square" lIns="0" tIns="0" rIns="0" bIns="0" rtlCol="0" anchor="ctr"/>
          <a:lstStyle/>
          <a:p>
            <a:pPr indent="0" marL="0">
              <a:buNone/>
            </a:pPr>
            <a:r>
              <a:rPr lang="en-US" sz="950" b="1" dirty="0">
                <a:solidFill>
                  <a:srgbClr val="E0913A"/>
                </a:solidFill>
                <a:latin typeface="Calibri" pitchFamily="34" charset="0"/>
                <a:ea typeface="Calibri" pitchFamily="34" charset="-122"/>
                <a:cs typeface="Calibri" pitchFamily="34" charset="-120"/>
              </a:rPr>
              <a:t>3D · drag to turn</a:t>
            </a:r>
            <a:endParaRPr lang="en-US" sz="950" dirty="0"/>
          </a:p>
        </p:txBody>
      </p:sp>
      <p:sp>
        <p:nvSpPr>
          <p:cNvPr id="16" name="Shape 14"/>
          <p:cNvSpPr/>
          <p:nvPr/>
        </p:nvSpPr>
        <p:spPr>
          <a:xfrm>
            <a:off x="6757416" y="3136392"/>
            <a:ext cx="713232" cy="0"/>
          </a:xfrm>
          <a:prstGeom prst="line">
            <a:avLst/>
          </a:prstGeom>
          <a:noFill/>
          <a:ln w="15875">
            <a:solidFill>
              <a:srgbClr val="3F6154"/>
            </a:solidFill>
            <a:prstDash val="solid"/>
          </a:ln>
        </p:spPr>
      </p:sp>
      <p:sp>
        <p:nvSpPr>
          <p:cNvPr id="17" name="Shape 15"/>
          <p:cNvSpPr/>
          <p:nvPr/>
        </p:nvSpPr>
        <p:spPr>
          <a:xfrm flipH="1">
            <a:off x="6446520" y="3136392"/>
            <a:ext cx="310896" cy="310896"/>
          </a:xfrm>
          <a:prstGeom prst="line">
            <a:avLst/>
          </a:prstGeom>
          <a:noFill/>
          <a:ln w="15875">
            <a:solidFill>
              <a:srgbClr val="3F6154"/>
            </a:solidFill>
            <a:prstDash val="solid"/>
          </a:ln>
        </p:spPr>
      </p:sp>
      <p:sp>
        <p:nvSpPr>
          <p:cNvPr id="18" name="Shape 16"/>
          <p:cNvSpPr/>
          <p:nvPr/>
        </p:nvSpPr>
        <p:spPr>
          <a:xfrm>
            <a:off x="7470648" y="3136392"/>
            <a:ext cx="0" cy="713232"/>
          </a:xfrm>
          <a:prstGeom prst="line">
            <a:avLst/>
          </a:prstGeom>
          <a:noFill/>
          <a:ln w="15875">
            <a:solidFill>
              <a:srgbClr val="3F6154"/>
            </a:solidFill>
            <a:prstDash val="solid"/>
          </a:ln>
        </p:spPr>
      </p:sp>
      <p:sp>
        <p:nvSpPr>
          <p:cNvPr id="19" name="Shape 17"/>
          <p:cNvSpPr/>
          <p:nvPr/>
        </p:nvSpPr>
        <p:spPr>
          <a:xfrm flipH="1">
            <a:off x="7159752" y="3136392"/>
            <a:ext cx="310896" cy="310896"/>
          </a:xfrm>
          <a:prstGeom prst="line">
            <a:avLst/>
          </a:prstGeom>
          <a:noFill/>
          <a:ln w="15875">
            <a:solidFill>
              <a:srgbClr val="3F6154"/>
            </a:solidFill>
            <a:prstDash val="solid"/>
          </a:ln>
        </p:spPr>
      </p:sp>
      <p:sp>
        <p:nvSpPr>
          <p:cNvPr id="20" name="Shape 18"/>
          <p:cNvSpPr/>
          <p:nvPr/>
        </p:nvSpPr>
        <p:spPr>
          <a:xfrm flipH="1">
            <a:off x="6757416" y="3849624"/>
            <a:ext cx="713232" cy="0"/>
          </a:xfrm>
          <a:prstGeom prst="line">
            <a:avLst/>
          </a:prstGeom>
          <a:noFill/>
          <a:ln w="15875">
            <a:solidFill>
              <a:srgbClr val="3F6154"/>
            </a:solidFill>
            <a:prstDash val="solid"/>
          </a:ln>
        </p:spPr>
      </p:sp>
      <p:sp>
        <p:nvSpPr>
          <p:cNvPr id="21" name="Shape 19"/>
          <p:cNvSpPr/>
          <p:nvPr/>
        </p:nvSpPr>
        <p:spPr>
          <a:xfrm flipH="1">
            <a:off x="7159752" y="3849624"/>
            <a:ext cx="310896" cy="310896"/>
          </a:xfrm>
          <a:prstGeom prst="line">
            <a:avLst/>
          </a:prstGeom>
          <a:noFill/>
          <a:ln w="15875">
            <a:solidFill>
              <a:srgbClr val="3F6154"/>
            </a:solidFill>
            <a:prstDash val="solid"/>
          </a:ln>
        </p:spPr>
      </p:sp>
      <p:sp>
        <p:nvSpPr>
          <p:cNvPr id="22" name="Shape 20"/>
          <p:cNvSpPr/>
          <p:nvPr/>
        </p:nvSpPr>
        <p:spPr>
          <a:xfrm flipV="1">
            <a:off x="6757416" y="3136392"/>
            <a:ext cx="0" cy="713232"/>
          </a:xfrm>
          <a:prstGeom prst="line">
            <a:avLst/>
          </a:prstGeom>
          <a:noFill/>
          <a:ln w="15875">
            <a:solidFill>
              <a:srgbClr val="3F6154"/>
            </a:solidFill>
            <a:prstDash val="solid"/>
          </a:ln>
        </p:spPr>
      </p:sp>
      <p:sp>
        <p:nvSpPr>
          <p:cNvPr id="23" name="Shape 21"/>
          <p:cNvSpPr/>
          <p:nvPr/>
        </p:nvSpPr>
        <p:spPr>
          <a:xfrm flipH="1">
            <a:off x="6446520" y="3849624"/>
            <a:ext cx="310896" cy="310896"/>
          </a:xfrm>
          <a:prstGeom prst="line">
            <a:avLst/>
          </a:prstGeom>
          <a:noFill/>
          <a:ln w="15875">
            <a:solidFill>
              <a:srgbClr val="3F6154"/>
            </a:solidFill>
            <a:prstDash val="solid"/>
          </a:ln>
        </p:spPr>
      </p:sp>
      <p:sp>
        <p:nvSpPr>
          <p:cNvPr id="24" name="Shape 22"/>
          <p:cNvSpPr/>
          <p:nvPr/>
        </p:nvSpPr>
        <p:spPr>
          <a:xfrm>
            <a:off x="6446520" y="3447288"/>
            <a:ext cx="713232" cy="0"/>
          </a:xfrm>
          <a:prstGeom prst="line">
            <a:avLst/>
          </a:prstGeom>
          <a:noFill/>
          <a:ln w="25400">
            <a:solidFill>
              <a:srgbClr val="6E8C7F"/>
            </a:solidFill>
            <a:prstDash val="solid"/>
          </a:ln>
        </p:spPr>
      </p:sp>
      <p:sp>
        <p:nvSpPr>
          <p:cNvPr id="25" name="Shape 23"/>
          <p:cNvSpPr/>
          <p:nvPr/>
        </p:nvSpPr>
        <p:spPr>
          <a:xfrm>
            <a:off x="7159752" y="3447288"/>
            <a:ext cx="0" cy="713232"/>
          </a:xfrm>
          <a:prstGeom prst="line">
            <a:avLst/>
          </a:prstGeom>
          <a:noFill/>
          <a:ln w="25400">
            <a:solidFill>
              <a:srgbClr val="6E8C7F"/>
            </a:solidFill>
            <a:prstDash val="solid"/>
          </a:ln>
        </p:spPr>
      </p:sp>
      <p:sp>
        <p:nvSpPr>
          <p:cNvPr id="26" name="Shape 24"/>
          <p:cNvSpPr/>
          <p:nvPr/>
        </p:nvSpPr>
        <p:spPr>
          <a:xfrm flipH="1">
            <a:off x="6446520" y="4160520"/>
            <a:ext cx="713232" cy="0"/>
          </a:xfrm>
          <a:prstGeom prst="line">
            <a:avLst/>
          </a:prstGeom>
          <a:noFill/>
          <a:ln w="25400">
            <a:solidFill>
              <a:srgbClr val="6E8C7F"/>
            </a:solidFill>
            <a:prstDash val="solid"/>
          </a:ln>
        </p:spPr>
      </p:sp>
      <p:sp>
        <p:nvSpPr>
          <p:cNvPr id="27" name="Shape 25"/>
          <p:cNvSpPr/>
          <p:nvPr/>
        </p:nvSpPr>
        <p:spPr>
          <a:xfrm flipV="1">
            <a:off x="6446520" y="3447288"/>
            <a:ext cx="0" cy="713232"/>
          </a:xfrm>
          <a:prstGeom prst="line">
            <a:avLst/>
          </a:prstGeom>
          <a:noFill/>
          <a:ln w="25400">
            <a:solidFill>
              <a:srgbClr val="6E8C7F"/>
            </a:solidFill>
            <a:prstDash val="solid"/>
          </a:ln>
        </p:spPr>
      </p:sp>
      <p:sp>
        <p:nvSpPr>
          <p:cNvPr id="28" name="Shape 26"/>
          <p:cNvSpPr/>
          <p:nvPr/>
        </p:nvSpPr>
        <p:spPr>
          <a:xfrm>
            <a:off x="6665976" y="3044952"/>
            <a:ext cx="182880" cy="182880"/>
          </a:xfrm>
          <a:prstGeom prst="ellipse">
            <a:avLst/>
          </a:prstGeom>
          <a:solidFill>
            <a:srgbClr val="5E7D6F"/>
          </a:solidFill>
          <a:ln/>
        </p:spPr>
      </p:sp>
      <p:sp>
        <p:nvSpPr>
          <p:cNvPr id="29" name="Shape 27"/>
          <p:cNvSpPr/>
          <p:nvPr/>
        </p:nvSpPr>
        <p:spPr>
          <a:xfrm>
            <a:off x="7379208" y="3044952"/>
            <a:ext cx="182880" cy="182880"/>
          </a:xfrm>
          <a:prstGeom prst="ellipse">
            <a:avLst/>
          </a:prstGeom>
          <a:solidFill>
            <a:srgbClr val="5E7D6F"/>
          </a:solidFill>
          <a:ln/>
        </p:spPr>
      </p:sp>
      <p:sp>
        <p:nvSpPr>
          <p:cNvPr id="30" name="Shape 28"/>
          <p:cNvSpPr/>
          <p:nvPr/>
        </p:nvSpPr>
        <p:spPr>
          <a:xfrm>
            <a:off x="7379208" y="3758184"/>
            <a:ext cx="182880" cy="182880"/>
          </a:xfrm>
          <a:prstGeom prst="ellipse">
            <a:avLst/>
          </a:prstGeom>
          <a:solidFill>
            <a:srgbClr val="5E7D6F"/>
          </a:solidFill>
          <a:ln/>
        </p:spPr>
      </p:sp>
      <p:sp>
        <p:nvSpPr>
          <p:cNvPr id="31" name="Shape 29"/>
          <p:cNvSpPr/>
          <p:nvPr/>
        </p:nvSpPr>
        <p:spPr>
          <a:xfrm>
            <a:off x="6665976" y="3758184"/>
            <a:ext cx="182880" cy="182880"/>
          </a:xfrm>
          <a:prstGeom prst="ellipse">
            <a:avLst/>
          </a:prstGeom>
          <a:solidFill>
            <a:srgbClr val="5E7D6F"/>
          </a:solidFill>
          <a:ln/>
        </p:spPr>
      </p:sp>
      <p:sp>
        <p:nvSpPr>
          <p:cNvPr id="32" name="Shape 30"/>
          <p:cNvSpPr/>
          <p:nvPr/>
        </p:nvSpPr>
        <p:spPr>
          <a:xfrm>
            <a:off x="6327648" y="3328416"/>
            <a:ext cx="237744" cy="237744"/>
          </a:xfrm>
          <a:prstGeom prst="ellipse">
            <a:avLst/>
          </a:prstGeom>
          <a:solidFill>
            <a:srgbClr val="DCE6DF"/>
          </a:solidFill>
          <a:ln/>
        </p:spPr>
      </p:sp>
      <p:sp>
        <p:nvSpPr>
          <p:cNvPr id="33" name="Shape 31"/>
          <p:cNvSpPr/>
          <p:nvPr/>
        </p:nvSpPr>
        <p:spPr>
          <a:xfrm>
            <a:off x="7040880" y="4041648"/>
            <a:ext cx="237744" cy="237744"/>
          </a:xfrm>
          <a:prstGeom prst="ellipse">
            <a:avLst/>
          </a:prstGeom>
          <a:solidFill>
            <a:srgbClr val="DCE6DF"/>
          </a:solidFill>
          <a:ln/>
        </p:spPr>
      </p:sp>
      <p:sp>
        <p:nvSpPr>
          <p:cNvPr id="34" name="Shape 32"/>
          <p:cNvSpPr/>
          <p:nvPr/>
        </p:nvSpPr>
        <p:spPr>
          <a:xfrm>
            <a:off x="6327648" y="4041648"/>
            <a:ext cx="237744" cy="237744"/>
          </a:xfrm>
          <a:prstGeom prst="ellipse">
            <a:avLst/>
          </a:prstGeom>
          <a:solidFill>
            <a:srgbClr val="DCE6DF"/>
          </a:solidFill>
          <a:ln/>
        </p:spPr>
      </p:sp>
      <p:sp>
        <p:nvSpPr>
          <p:cNvPr id="35" name="Shape 33"/>
          <p:cNvSpPr/>
          <p:nvPr/>
        </p:nvSpPr>
        <p:spPr>
          <a:xfrm>
            <a:off x="7004304" y="3291840"/>
            <a:ext cx="310896" cy="310896"/>
          </a:xfrm>
          <a:prstGeom prst="ellipse">
            <a:avLst/>
          </a:prstGeom>
          <a:solidFill>
            <a:srgbClr val="E0913A"/>
          </a:solidFill>
          <a:ln/>
        </p:spPr>
      </p:sp>
      <p:sp>
        <p:nvSpPr>
          <p:cNvPr id="36" name="Text 34"/>
          <p:cNvSpPr/>
          <p:nvPr/>
        </p:nvSpPr>
        <p:spPr>
          <a:xfrm>
            <a:off x="7004304" y="3291840"/>
            <a:ext cx="310896" cy="310896"/>
          </a:xfrm>
          <a:prstGeom prst="rect">
            <a:avLst/>
          </a:prstGeom>
          <a:noFill/>
          <a:ln/>
        </p:spPr>
        <p:txBody>
          <a:bodyPr wrap="square" lIns="0" tIns="0" rIns="0" bIns="0" rtlCol="0" anchor="ctr"/>
          <a:lstStyle/>
          <a:p>
            <a:pPr algn="ctr" indent="0" marL="0">
              <a:buNone/>
            </a:pPr>
            <a:r>
              <a:rPr lang="en-US" sz="950" b="1" dirty="0">
                <a:solidFill>
                  <a:srgbClr val="16302B"/>
                </a:solidFill>
                <a:latin typeface="Calibri" pitchFamily="34" charset="0"/>
                <a:ea typeface="Calibri" pitchFamily="34" charset="-122"/>
                <a:cs typeface="Calibri" pitchFamily="34" charset="-120"/>
              </a:rPr>
              <a:t>P</a:t>
            </a:r>
            <a:endParaRPr lang="en-US" sz="950" dirty="0"/>
          </a:p>
        </p:txBody>
      </p:sp>
      <p:sp>
        <p:nvSpPr>
          <p:cNvPr id="37" name="Text 35"/>
          <p:cNvSpPr/>
          <p:nvPr/>
        </p:nvSpPr>
        <p:spPr>
          <a:xfrm>
            <a:off x="5614416" y="5102352"/>
            <a:ext cx="2377440" cy="566928"/>
          </a:xfrm>
          <a:prstGeom prst="rect">
            <a:avLst/>
          </a:prstGeom>
          <a:noFill/>
          <a:ln/>
        </p:spPr>
        <p:txBody>
          <a:bodyPr wrap="square" lIns="0" tIns="0" rIns="0" bIns="0" rtlCol="0" anchor="ctr"/>
          <a:lstStyle/>
          <a:p>
            <a:pPr indent="0" marL="0">
              <a:lnSpc>
                <a:spcPts val="1100"/>
              </a:lnSpc>
              <a:buNone/>
            </a:pPr>
            <a:r>
              <a:rPr lang="en-US" sz="850" dirty="0">
                <a:solidFill>
                  <a:srgbClr val="9DB6A9"/>
                </a:solidFill>
                <a:latin typeface="Calibri" pitchFamily="34" charset="0"/>
                <a:ea typeface="Calibri" pitchFamily="34" charset="-122"/>
                <a:cs typeface="Calibri" pitchFamily="34" charset="-120"/>
              </a:rPr>
              <a:t>A silicon cell with one phosphorus substitution. Turn it to see which neighbour is short.</a:t>
            </a:r>
            <a:endParaRPr lang="en-US" sz="850" dirty="0"/>
          </a:p>
        </p:txBody>
      </p:sp>
      <p:sp>
        <p:nvSpPr>
          <p:cNvPr id="38" name="Shape 36"/>
          <p:cNvSpPr/>
          <p:nvPr/>
        </p:nvSpPr>
        <p:spPr>
          <a:xfrm>
            <a:off x="8302752" y="2048256"/>
            <a:ext cx="3291840" cy="3785616"/>
          </a:xfrm>
          <a:prstGeom prst="roundRect">
            <a:avLst>
              <a:gd name="adj" fmla="val 1944"/>
            </a:avLst>
          </a:prstGeom>
          <a:solidFill>
            <a:srgbClr val="1E3D34"/>
          </a:solidFill>
          <a:ln/>
          <a:effectLst>
            <a:outerShdw sx="100000" sy="100000" kx="0" ky="0" algn="bl" rotWithShape="0" blurRad="152400" dist="38100" dir="5400000">
              <a:srgbClr val="000000">
                <a:alpha val="30000"/>
              </a:srgbClr>
            </a:outerShdw>
          </a:effectLst>
        </p:spPr>
      </p:sp>
      <p:sp>
        <p:nvSpPr>
          <p:cNvPr id="39" name="Shape 37"/>
          <p:cNvSpPr/>
          <p:nvPr/>
        </p:nvSpPr>
        <p:spPr>
          <a:xfrm>
            <a:off x="8467344" y="2194560"/>
            <a:ext cx="310896" cy="310896"/>
          </a:xfrm>
          <a:prstGeom prst="ellipse">
            <a:avLst/>
          </a:prstGeom>
          <a:solidFill>
            <a:srgbClr val="E0913A"/>
          </a:solidFill>
          <a:ln/>
        </p:spPr>
      </p:sp>
      <p:sp>
        <p:nvSpPr>
          <p:cNvPr id="40" name="Text 38"/>
          <p:cNvSpPr/>
          <p:nvPr/>
        </p:nvSpPr>
        <p:spPr>
          <a:xfrm>
            <a:off x="8467344" y="219456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41" name="Text 39"/>
          <p:cNvSpPr/>
          <p:nvPr/>
        </p:nvSpPr>
        <p:spPr>
          <a:xfrm>
            <a:off x="8851392" y="2194560"/>
            <a:ext cx="1170432" cy="310896"/>
          </a:xfrm>
          <a:prstGeom prst="rect">
            <a:avLst/>
          </a:prstGeom>
          <a:noFill/>
          <a:ln/>
        </p:spPr>
        <p:txBody>
          <a:bodyPr wrap="square" lIns="0" tIns="0" rIns="0" bIns="0" rtlCol="0" anchor="ctr"/>
          <a:lstStyle/>
          <a:p>
            <a:pPr indent="0" marL="0">
              <a:buNone/>
            </a:pPr>
            <a:r>
              <a:rPr lang="en-US" sz="1150" b="1" dirty="0">
                <a:solidFill>
                  <a:srgbClr val="F2F5F1"/>
                </a:solidFill>
                <a:latin typeface="Calibri" pitchFamily="34" charset="0"/>
                <a:ea typeface="Calibri" pitchFamily="34" charset="-122"/>
                <a:cs typeface="Calibri" pitchFamily="34" charset="-120"/>
              </a:rPr>
              <a:t>Ask Axle</a:t>
            </a:r>
            <a:endParaRPr lang="en-US" sz="1150" dirty="0"/>
          </a:p>
        </p:txBody>
      </p:sp>
      <p:sp>
        <p:nvSpPr>
          <p:cNvPr id="42" name="Text 40"/>
          <p:cNvSpPr/>
          <p:nvPr/>
        </p:nvSpPr>
        <p:spPr>
          <a:xfrm>
            <a:off x="10058400" y="2194560"/>
            <a:ext cx="1371600" cy="310896"/>
          </a:xfrm>
          <a:prstGeom prst="rect">
            <a:avLst/>
          </a:prstGeom>
          <a:noFill/>
          <a:ln/>
        </p:spPr>
        <p:txBody>
          <a:bodyPr wrap="square" lIns="0" tIns="0" rIns="0" bIns="0" rtlCol="0" anchor="ctr"/>
          <a:lstStyle/>
          <a:p>
            <a:pPr algn="r" indent="0" marL="0">
              <a:buNone/>
            </a:pPr>
            <a:r>
              <a:rPr lang="en-US" sz="850" dirty="0">
                <a:solidFill>
                  <a:srgbClr val="7E9A8C"/>
                </a:solidFill>
                <a:latin typeface="Calibri" pitchFamily="34" charset="0"/>
                <a:ea typeface="Calibri" pitchFamily="34" charset="-122"/>
                <a:cs typeface="Calibri" pitchFamily="34" charset="-120"/>
              </a:rPr>
              <a:t>resize  ·  close</a:t>
            </a:r>
            <a:endParaRPr lang="en-US" sz="850" dirty="0"/>
          </a:p>
        </p:txBody>
      </p:sp>
      <p:sp>
        <p:nvSpPr>
          <p:cNvPr id="43" name="Text 41"/>
          <p:cNvSpPr/>
          <p:nvPr/>
        </p:nvSpPr>
        <p:spPr>
          <a:xfrm>
            <a:off x="8467344" y="2615184"/>
            <a:ext cx="2962656" cy="384048"/>
          </a:xfrm>
          <a:prstGeom prst="rect">
            <a:avLst/>
          </a:prstGeom>
          <a:noFill/>
          <a:ln/>
        </p:spPr>
        <p:txBody>
          <a:bodyPr wrap="square" lIns="0" tIns="0" rIns="0" bIns="0" rtlCol="0" anchor="ctr"/>
          <a:lstStyle/>
          <a:p>
            <a:pPr indent="0" marL="0">
              <a:lnSpc>
                <a:spcPts val="1200"/>
              </a:lnSpc>
              <a:buNone/>
            </a:pPr>
            <a:r>
              <a:rPr lang="en-US" sz="1000" i="1" dirty="0">
                <a:solidFill>
                  <a:srgbClr val="E0913A"/>
                </a:solidFill>
                <a:latin typeface="Calibri" pitchFamily="34" charset="0"/>
                <a:ea typeface="Calibri" pitchFamily="34" charset="-122"/>
                <a:cs typeface="Calibri" pitchFamily="34" charset="-120"/>
              </a:rPr>
              <a:t>"Why does 1 in 10^7 change anything?"</a:t>
            </a:r>
            <a:endParaRPr lang="en-US" sz="1000" dirty="0"/>
          </a:p>
        </p:txBody>
      </p:sp>
      <p:sp>
        <p:nvSpPr>
          <p:cNvPr id="44" name="Text 42"/>
          <p:cNvSpPr/>
          <p:nvPr/>
        </p:nvSpPr>
        <p:spPr>
          <a:xfrm>
            <a:off x="8485632" y="3054096"/>
            <a:ext cx="2926080" cy="2304288"/>
          </a:xfrm>
          <a:prstGeom prst="rect">
            <a:avLst/>
          </a:prstGeom>
          <a:noFill/>
          <a:ln/>
        </p:spPr>
        <p:txBody>
          <a:bodyPr wrap="square" lIns="0" tIns="0" rIns="0" bIns="0" rtlCol="0" anchor="t"/>
          <a:lstStyle/>
          <a:p>
            <a:pPr marL="342900" indent="-342900">
              <a:lnSpc>
                <a:spcPts val="1250"/>
              </a:lnSpc>
              <a:spcAft>
                <a:spcPts val="600"/>
              </a:spcAft>
              <a:buSzPct val="100000"/>
              <a:buChar char="•"/>
            </a:pPr>
            <a:r>
              <a:rPr lang="en-US" sz="950" dirty="0">
                <a:solidFill>
                  <a:srgbClr val="C7D6CD"/>
                </a:solidFill>
                <a:latin typeface="Calibri" pitchFamily="34" charset="0"/>
                <a:ea typeface="Calibri" pitchFamily="34" charset="-122"/>
                <a:cs typeface="Calibri" pitchFamily="34" charset="-120"/>
              </a:rPr>
              <a:t>Intrinsic silicon has ~10¹⁰ carriers per cm³ at room temperature.</a:t>
            </a:r>
            <a:endParaRPr lang="en-US" sz="950" dirty="0"/>
          </a:p>
          <a:p>
            <a:pPr marL="342900" indent="-342900">
              <a:lnSpc>
                <a:spcPts val="1250"/>
              </a:lnSpc>
              <a:spcAft>
                <a:spcPts val="600"/>
              </a:spcAft>
              <a:buSzPct val="100000"/>
              <a:buChar char="•"/>
            </a:pPr>
            <a:r>
              <a:rPr lang="en-US" sz="950" dirty="0">
                <a:solidFill>
                  <a:srgbClr val="C7D6CD"/>
                </a:solidFill>
                <a:latin typeface="Calibri" pitchFamily="34" charset="0"/>
                <a:ea typeface="Calibri" pitchFamily="34" charset="-122"/>
                <a:cs typeface="Calibri" pitchFamily="34" charset="-120"/>
              </a:rPr>
              <a:t>Silicon itself has ~5×10²² atoms per cm³.</a:t>
            </a:r>
            <a:endParaRPr lang="en-US" sz="950" dirty="0"/>
          </a:p>
          <a:p>
            <a:pPr marL="342900" indent="-342900">
              <a:lnSpc>
                <a:spcPts val="1250"/>
              </a:lnSpc>
              <a:spcAft>
                <a:spcPts val="600"/>
              </a:spcAft>
              <a:buSzPct val="100000"/>
              <a:buChar char="•"/>
            </a:pPr>
            <a:r>
              <a:rPr lang="en-US" sz="950" dirty="0">
                <a:solidFill>
                  <a:srgbClr val="C7D6CD"/>
                </a:solidFill>
                <a:latin typeface="Calibri" pitchFamily="34" charset="0"/>
                <a:ea typeface="Calibri" pitchFamily="34" charset="-122"/>
                <a:cs typeface="Calibri" pitchFamily="34" charset="-120"/>
              </a:rPr>
              <a:t>One dopant in 10⁷ is therefore ~5×10¹⁵ donors per cm³.</a:t>
            </a:r>
            <a:endParaRPr lang="en-US" sz="950" dirty="0"/>
          </a:p>
          <a:p>
            <a:pPr marL="342900" indent="-342900">
              <a:lnSpc>
                <a:spcPts val="1250"/>
              </a:lnSpc>
              <a:spcAft>
                <a:spcPts val="600"/>
              </a:spcAft>
              <a:buSzPct val="100000"/>
              <a:buChar char="•"/>
            </a:pPr>
            <a:r>
              <a:rPr lang="en-US" sz="950" dirty="0">
                <a:solidFill>
                  <a:srgbClr val="C7D6CD"/>
                </a:solidFill>
                <a:latin typeface="Calibri" pitchFamily="34" charset="0"/>
                <a:ea typeface="Calibri" pitchFamily="34" charset="-122"/>
                <a:cs typeface="Calibri" pitchFamily="34" charset="-120"/>
              </a:rPr>
              <a:t>That is five orders of magnitude more carriers than were there.</a:t>
            </a:r>
            <a:endParaRPr lang="en-US" sz="950" dirty="0"/>
          </a:p>
          <a:p>
            <a:pPr marL="342900" indent="-342900">
              <a:lnSpc>
                <a:spcPts val="1250"/>
              </a:lnSpc>
              <a:spcAft>
                <a:spcPts val="600"/>
              </a:spcAft>
              <a:buSzPct val="100000"/>
              <a:buChar char="•"/>
            </a:pPr>
            <a:r>
              <a:rPr lang="en-US" sz="950" dirty="0">
                <a:solidFill>
                  <a:srgbClr val="C7D6CD"/>
                </a:solidFill>
                <a:latin typeface="Calibri" pitchFamily="34" charset="0"/>
                <a:ea typeface="Calibri" pitchFamily="34" charset="-122"/>
                <a:cs typeface="Calibri" pitchFamily="34" charset="-120"/>
              </a:rPr>
              <a:t>The ratio is the answer — the doping is tiny, the population is tinier.</a:t>
            </a:r>
            <a:endParaRPr lang="en-US" sz="950" dirty="0"/>
          </a:p>
        </p:txBody>
      </p:sp>
      <p:sp>
        <p:nvSpPr>
          <p:cNvPr id="45" name="Text 43"/>
          <p:cNvSpPr/>
          <p:nvPr/>
        </p:nvSpPr>
        <p:spPr>
          <a:xfrm>
            <a:off x="8467344" y="5504688"/>
            <a:ext cx="2962656" cy="237744"/>
          </a:xfrm>
          <a:prstGeom prst="rect">
            <a:avLst/>
          </a:prstGeom>
          <a:noFill/>
          <a:ln/>
        </p:spPr>
        <p:txBody>
          <a:bodyPr wrap="square" lIns="0" tIns="0" rIns="0" bIns="0" rtlCol="0" anchor="ctr"/>
          <a:lstStyle/>
          <a:p>
            <a:pPr indent="0" marL="0">
              <a:buNone/>
            </a:pPr>
            <a:r>
              <a:rPr lang="en-US" sz="850" i="1" dirty="0">
                <a:solidFill>
                  <a:srgbClr val="7E9A8C"/>
                </a:solidFill>
                <a:latin typeface="Calibri" pitchFamily="34" charset="0"/>
                <a:ea typeface="Calibri" pitchFamily="34" charset="-122"/>
                <a:cs typeface="Calibri" pitchFamily="34" charset="-120"/>
              </a:rPr>
              <a:t>Report an error in this</a:t>
            </a:r>
            <a:endParaRPr lang="en-US" sz="850" dirty="0"/>
          </a:p>
        </p:txBody>
      </p:sp>
      <p:sp>
        <p:nvSpPr>
          <p:cNvPr id="46" name="Text 44"/>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8FA89B"/>
                </a:solidFill>
                <a:latin typeface="Calibri" pitchFamily="34" charset="0"/>
                <a:ea typeface="Calibri" pitchFamily="34" charset="-122"/>
                <a:cs typeface="Calibri" pitchFamily="34" charset="-120"/>
              </a:rPr>
              <a:t>Ask it the next question and it goes further. This is the point of the level control for a room that will keep pushing.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302B"/>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TAUGHT TO ANY LEVEL</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F2F5F1"/>
                </a:solidFill>
                <a:latin typeface="Cambria" pitchFamily="34" charset="0"/>
                <a:ea typeface="Cambria" pitchFamily="34" charset="-122"/>
                <a:cs typeface="Cambria" pitchFamily="34" charset="-120"/>
              </a:rPr>
              <a:t>It does not stop where the syllabus does</a:t>
            </a:r>
            <a:endParaRPr lang="en-US" sz="3300" dirty="0"/>
          </a:p>
        </p:txBody>
      </p:sp>
      <p:sp>
        <p:nvSpPr>
          <p:cNvPr id="4" name="Shape 2"/>
          <p:cNvSpPr/>
          <p:nvPr/>
        </p:nvSpPr>
        <p:spPr>
          <a:xfrm>
            <a:off x="548640" y="1600200"/>
            <a:ext cx="1706880" cy="530352"/>
          </a:xfrm>
          <a:prstGeom prst="roundRect">
            <a:avLst>
              <a:gd name="adj" fmla="val 50000"/>
            </a:avLst>
          </a:prstGeom>
          <a:solidFill>
            <a:srgbClr val="24473D"/>
          </a:solidFill>
          <a:ln w="12700">
            <a:solidFill>
              <a:srgbClr val="3D6355"/>
            </a:solidFill>
            <a:prstDash val="solid"/>
          </a:ln>
        </p:spPr>
      </p:sp>
      <p:sp>
        <p:nvSpPr>
          <p:cNvPr id="5" name="Text 3"/>
          <p:cNvSpPr/>
          <p:nvPr/>
        </p:nvSpPr>
        <p:spPr>
          <a:xfrm>
            <a:off x="548640" y="1600200"/>
            <a:ext cx="1706880" cy="530352"/>
          </a:xfrm>
          <a:prstGeom prst="rect">
            <a:avLst/>
          </a:prstGeom>
          <a:noFill/>
          <a:ln/>
        </p:spPr>
        <p:txBody>
          <a:bodyPr wrap="square" lIns="0" tIns="0" rIns="0" bIns="0" rtlCol="0" anchor="ctr"/>
          <a:lstStyle/>
          <a:p>
            <a:pPr algn="ctr" indent="0" marL="0">
              <a:buNone/>
            </a:pPr>
            <a:r>
              <a:rPr lang="en-US" sz="1200" b="1" dirty="0">
                <a:solidFill>
                  <a:srgbClr val="F2F5F1"/>
                </a:solidFill>
                <a:latin typeface="Calibri" pitchFamily="34" charset="0"/>
                <a:ea typeface="Calibri" pitchFamily="34" charset="-122"/>
                <a:cs typeface="Calibri" pitchFamily="34" charset="-120"/>
              </a:rPr>
              <a:t>Class 6</a:t>
            </a:r>
            <a:endParaRPr lang="en-US" sz="1200" dirty="0"/>
          </a:p>
        </p:txBody>
      </p:sp>
      <p:sp>
        <p:nvSpPr>
          <p:cNvPr id="6" name="Shape 4"/>
          <p:cNvSpPr/>
          <p:nvPr/>
        </p:nvSpPr>
        <p:spPr>
          <a:xfrm>
            <a:off x="2420112" y="1600200"/>
            <a:ext cx="1706880" cy="530352"/>
          </a:xfrm>
          <a:prstGeom prst="roundRect">
            <a:avLst>
              <a:gd name="adj" fmla="val 50000"/>
            </a:avLst>
          </a:prstGeom>
          <a:solidFill>
            <a:srgbClr val="24473D"/>
          </a:solidFill>
          <a:ln w="12700">
            <a:solidFill>
              <a:srgbClr val="3D6355"/>
            </a:solidFill>
            <a:prstDash val="solid"/>
          </a:ln>
        </p:spPr>
      </p:sp>
      <p:sp>
        <p:nvSpPr>
          <p:cNvPr id="7" name="Text 5"/>
          <p:cNvSpPr/>
          <p:nvPr/>
        </p:nvSpPr>
        <p:spPr>
          <a:xfrm>
            <a:off x="2420112" y="1600200"/>
            <a:ext cx="1706880" cy="530352"/>
          </a:xfrm>
          <a:prstGeom prst="rect">
            <a:avLst/>
          </a:prstGeom>
          <a:noFill/>
          <a:ln/>
        </p:spPr>
        <p:txBody>
          <a:bodyPr wrap="square" lIns="0" tIns="0" rIns="0" bIns="0" rtlCol="0" anchor="ctr"/>
          <a:lstStyle/>
          <a:p>
            <a:pPr algn="ctr" indent="0" marL="0">
              <a:buNone/>
            </a:pPr>
            <a:r>
              <a:rPr lang="en-US" sz="1200" b="1" dirty="0">
                <a:solidFill>
                  <a:srgbClr val="F2F5F1"/>
                </a:solidFill>
                <a:latin typeface="Calibri" pitchFamily="34" charset="0"/>
                <a:ea typeface="Calibri" pitchFamily="34" charset="-122"/>
                <a:cs typeface="Calibri" pitchFamily="34" charset="-120"/>
              </a:rPr>
              <a:t>Class 8</a:t>
            </a:r>
            <a:endParaRPr lang="en-US" sz="1200" dirty="0"/>
          </a:p>
        </p:txBody>
      </p:sp>
      <p:sp>
        <p:nvSpPr>
          <p:cNvPr id="8" name="Shape 6"/>
          <p:cNvSpPr/>
          <p:nvPr/>
        </p:nvSpPr>
        <p:spPr>
          <a:xfrm>
            <a:off x="4291584" y="1600200"/>
            <a:ext cx="1706880" cy="530352"/>
          </a:xfrm>
          <a:prstGeom prst="roundRect">
            <a:avLst>
              <a:gd name="adj" fmla="val 50000"/>
            </a:avLst>
          </a:prstGeom>
          <a:solidFill>
            <a:srgbClr val="24473D"/>
          </a:solidFill>
          <a:ln w="12700">
            <a:solidFill>
              <a:srgbClr val="3D6355"/>
            </a:solidFill>
            <a:prstDash val="solid"/>
          </a:ln>
        </p:spPr>
      </p:sp>
      <p:sp>
        <p:nvSpPr>
          <p:cNvPr id="9" name="Text 7"/>
          <p:cNvSpPr/>
          <p:nvPr/>
        </p:nvSpPr>
        <p:spPr>
          <a:xfrm>
            <a:off x="4291584" y="1600200"/>
            <a:ext cx="1706880" cy="530352"/>
          </a:xfrm>
          <a:prstGeom prst="rect">
            <a:avLst/>
          </a:prstGeom>
          <a:noFill/>
          <a:ln/>
        </p:spPr>
        <p:txBody>
          <a:bodyPr wrap="square" lIns="0" tIns="0" rIns="0" bIns="0" rtlCol="0" anchor="ctr"/>
          <a:lstStyle/>
          <a:p>
            <a:pPr algn="ctr" indent="0" marL="0">
              <a:buNone/>
            </a:pPr>
            <a:r>
              <a:rPr lang="en-US" sz="1200" b="1" dirty="0">
                <a:solidFill>
                  <a:srgbClr val="F2F5F1"/>
                </a:solidFill>
                <a:latin typeface="Calibri" pitchFamily="34" charset="0"/>
                <a:ea typeface="Calibri" pitchFamily="34" charset="-122"/>
                <a:cs typeface="Calibri" pitchFamily="34" charset="-120"/>
              </a:rPr>
              <a:t>Class 10</a:t>
            </a:r>
            <a:endParaRPr lang="en-US" sz="1200" dirty="0"/>
          </a:p>
        </p:txBody>
      </p:sp>
      <p:sp>
        <p:nvSpPr>
          <p:cNvPr id="10" name="Shape 8"/>
          <p:cNvSpPr/>
          <p:nvPr/>
        </p:nvSpPr>
        <p:spPr>
          <a:xfrm>
            <a:off x="6163056" y="1600200"/>
            <a:ext cx="1706880" cy="530352"/>
          </a:xfrm>
          <a:prstGeom prst="roundRect">
            <a:avLst>
              <a:gd name="adj" fmla="val 50000"/>
            </a:avLst>
          </a:prstGeom>
          <a:solidFill>
            <a:srgbClr val="24473D"/>
          </a:solidFill>
          <a:ln w="12700">
            <a:solidFill>
              <a:srgbClr val="3D6355"/>
            </a:solidFill>
            <a:prstDash val="solid"/>
          </a:ln>
        </p:spPr>
      </p:sp>
      <p:sp>
        <p:nvSpPr>
          <p:cNvPr id="11" name="Text 9"/>
          <p:cNvSpPr/>
          <p:nvPr/>
        </p:nvSpPr>
        <p:spPr>
          <a:xfrm>
            <a:off x="6163056" y="1600200"/>
            <a:ext cx="1706880" cy="530352"/>
          </a:xfrm>
          <a:prstGeom prst="rect">
            <a:avLst/>
          </a:prstGeom>
          <a:noFill/>
          <a:ln/>
        </p:spPr>
        <p:txBody>
          <a:bodyPr wrap="square" lIns="0" tIns="0" rIns="0" bIns="0" rtlCol="0" anchor="ctr"/>
          <a:lstStyle/>
          <a:p>
            <a:pPr algn="ctr" indent="0" marL="0">
              <a:buNone/>
            </a:pPr>
            <a:r>
              <a:rPr lang="en-US" sz="1200" b="1" dirty="0">
                <a:solidFill>
                  <a:srgbClr val="F2F5F1"/>
                </a:solidFill>
                <a:latin typeface="Calibri" pitchFamily="34" charset="0"/>
                <a:ea typeface="Calibri" pitchFamily="34" charset="-122"/>
                <a:cs typeface="Calibri" pitchFamily="34" charset="-120"/>
              </a:rPr>
              <a:t>Class 12</a:t>
            </a:r>
            <a:endParaRPr lang="en-US" sz="1200" dirty="0"/>
          </a:p>
        </p:txBody>
      </p:sp>
      <p:sp>
        <p:nvSpPr>
          <p:cNvPr id="12" name="Shape 10"/>
          <p:cNvSpPr/>
          <p:nvPr/>
        </p:nvSpPr>
        <p:spPr>
          <a:xfrm>
            <a:off x="8034528" y="1600200"/>
            <a:ext cx="1706880" cy="530352"/>
          </a:xfrm>
          <a:prstGeom prst="roundRect">
            <a:avLst>
              <a:gd name="adj" fmla="val 50000"/>
            </a:avLst>
          </a:prstGeom>
          <a:solidFill>
            <a:srgbClr val="24473D"/>
          </a:solidFill>
          <a:ln w="12700">
            <a:solidFill>
              <a:srgbClr val="3D6355"/>
            </a:solidFill>
            <a:prstDash val="solid"/>
          </a:ln>
        </p:spPr>
      </p:sp>
      <p:sp>
        <p:nvSpPr>
          <p:cNvPr id="13" name="Text 11"/>
          <p:cNvSpPr/>
          <p:nvPr/>
        </p:nvSpPr>
        <p:spPr>
          <a:xfrm>
            <a:off x="8034528" y="1600200"/>
            <a:ext cx="1706880" cy="530352"/>
          </a:xfrm>
          <a:prstGeom prst="rect">
            <a:avLst/>
          </a:prstGeom>
          <a:noFill/>
          <a:ln/>
        </p:spPr>
        <p:txBody>
          <a:bodyPr wrap="square" lIns="0" tIns="0" rIns="0" bIns="0" rtlCol="0" anchor="ctr"/>
          <a:lstStyle/>
          <a:p>
            <a:pPr algn="ctr" indent="0" marL="0">
              <a:buNone/>
            </a:pPr>
            <a:r>
              <a:rPr lang="en-US" sz="1200" b="1" dirty="0">
                <a:solidFill>
                  <a:srgbClr val="F2F5F1"/>
                </a:solidFill>
                <a:latin typeface="Calibri" pitchFamily="34" charset="0"/>
                <a:ea typeface="Calibri" pitchFamily="34" charset="-122"/>
                <a:cs typeface="Calibri" pitchFamily="34" charset="-120"/>
              </a:rPr>
              <a:t>Undergraduate</a:t>
            </a:r>
            <a:endParaRPr lang="en-US" sz="1200" dirty="0"/>
          </a:p>
        </p:txBody>
      </p:sp>
      <p:sp>
        <p:nvSpPr>
          <p:cNvPr id="14" name="Shape 12"/>
          <p:cNvSpPr/>
          <p:nvPr/>
        </p:nvSpPr>
        <p:spPr>
          <a:xfrm>
            <a:off x="9906000" y="1600200"/>
            <a:ext cx="1706880" cy="530352"/>
          </a:xfrm>
          <a:prstGeom prst="roundRect">
            <a:avLst>
              <a:gd name="adj" fmla="val 50000"/>
            </a:avLst>
          </a:prstGeom>
          <a:solidFill>
            <a:srgbClr val="E0913A"/>
          </a:solidFill>
          <a:ln w="12700">
            <a:solidFill>
              <a:srgbClr val="E0913A"/>
            </a:solidFill>
            <a:prstDash val="solid"/>
          </a:ln>
        </p:spPr>
      </p:sp>
      <p:sp>
        <p:nvSpPr>
          <p:cNvPr id="15" name="Text 13"/>
          <p:cNvSpPr/>
          <p:nvPr/>
        </p:nvSpPr>
        <p:spPr>
          <a:xfrm>
            <a:off x="9906000" y="1600200"/>
            <a:ext cx="1706880" cy="530352"/>
          </a:xfrm>
          <a:prstGeom prst="rect">
            <a:avLst/>
          </a:prstGeom>
          <a:noFill/>
          <a:ln/>
        </p:spPr>
        <p:txBody>
          <a:bodyPr wrap="square" lIns="0" tIns="0" rIns="0" bIns="0" rtlCol="0" anchor="ctr"/>
          <a:lstStyle/>
          <a:p>
            <a:pPr algn="ctr" indent="0" marL="0">
              <a:buNone/>
            </a:pPr>
            <a:r>
              <a:rPr lang="en-US" sz="1200" b="1" dirty="0">
                <a:solidFill>
                  <a:srgbClr val="16302B"/>
                </a:solidFill>
                <a:latin typeface="Calibri" pitchFamily="34" charset="0"/>
                <a:ea typeface="Calibri" pitchFamily="34" charset="-122"/>
                <a:cs typeface="Calibri" pitchFamily="34" charset="-120"/>
              </a:rPr>
              <a:t>Research</a:t>
            </a:r>
            <a:endParaRPr lang="en-US" sz="1200" dirty="0"/>
          </a:p>
        </p:txBody>
      </p:sp>
      <p:sp>
        <p:nvSpPr>
          <p:cNvPr id="16" name="Text 14"/>
          <p:cNvSpPr/>
          <p:nvPr/>
        </p:nvSpPr>
        <p:spPr>
          <a:xfrm>
            <a:off x="548640" y="2340864"/>
            <a:ext cx="11064240" cy="731520"/>
          </a:xfrm>
          <a:prstGeom prst="rect">
            <a:avLst/>
          </a:prstGeom>
          <a:noFill/>
          <a:ln/>
        </p:spPr>
        <p:txBody>
          <a:bodyPr wrap="square" lIns="0" tIns="0" rIns="0" bIns="0" rtlCol="0" anchor="ctr"/>
          <a:lstStyle/>
          <a:p>
            <a:pPr indent="0" marL="0">
              <a:lnSpc>
                <a:spcPts val="1800"/>
              </a:lnSpc>
              <a:buNone/>
            </a:pPr>
            <a:r>
              <a:rPr lang="en-US" sz="1250" dirty="0">
                <a:solidFill>
                  <a:srgbClr val="C7D6CD"/>
                </a:solidFill>
                <a:latin typeface="Calibri" pitchFamily="34" charset="0"/>
                <a:ea typeface="Calibri" pitchFamily="34" charset="-122"/>
                <a:cs typeface="Calibri" pitchFamily="34" charset="-120"/>
              </a:rPr>
              <a:t>The level control runs to research, and a student who keeps asking keeps getting further. That matters more here than anywhere else: a B.Tech student who has understood the lecture has three more questions, and the usual answer to those is nothing at all.</a:t>
            </a:r>
            <a:endParaRPr lang="en-US" sz="1250" dirty="0"/>
          </a:p>
        </p:txBody>
      </p:sp>
      <p:sp>
        <p:nvSpPr>
          <p:cNvPr id="17" name="Shape 15"/>
          <p:cNvSpPr/>
          <p:nvPr/>
        </p:nvSpPr>
        <p:spPr>
          <a:xfrm>
            <a:off x="548640" y="3255264"/>
            <a:ext cx="3553968" cy="2194560"/>
          </a:xfrm>
          <a:prstGeom prst="roundRect">
            <a:avLst>
              <a:gd name="adj" fmla="val 4583"/>
            </a:avLst>
          </a:prstGeom>
          <a:solidFill>
            <a:srgbClr val="24473D"/>
          </a:solidFill>
          <a:ln/>
          <a:effectLst>
            <a:outerShdw sx="100000" sy="100000" kx="0" ky="0" algn="bl" rotWithShape="0" blurRad="127000" dist="25400" dir="5400000">
              <a:srgbClr val="10231E">
                <a:alpha val="16000"/>
              </a:srgbClr>
            </a:outerShdw>
          </a:effectLst>
        </p:spPr>
      </p:sp>
      <p:sp>
        <p:nvSpPr>
          <p:cNvPr id="18" name="Shape 16"/>
          <p:cNvSpPr/>
          <p:nvPr/>
        </p:nvSpPr>
        <p:spPr>
          <a:xfrm>
            <a:off x="786384" y="3474720"/>
            <a:ext cx="1737360" cy="365760"/>
          </a:xfrm>
          <a:prstGeom prst="roundRect">
            <a:avLst>
              <a:gd name="adj" fmla="val 50000"/>
            </a:avLst>
          </a:prstGeom>
          <a:solidFill>
            <a:srgbClr val="E0913A"/>
          </a:solidFill>
          <a:ln/>
        </p:spPr>
      </p:sp>
      <p:sp>
        <p:nvSpPr>
          <p:cNvPr id="19" name="Text 17"/>
          <p:cNvSpPr/>
          <p:nvPr/>
        </p:nvSpPr>
        <p:spPr>
          <a:xfrm>
            <a:off x="786384" y="3474720"/>
            <a:ext cx="1737360" cy="365760"/>
          </a:xfrm>
          <a:prstGeom prst="rect">
            <a:avLst/>
          </a:prstGeom>
          <a:noFill/>
          <a:ln/>
        </p:spPr>
        <p:txBody>
          <a:bodyPr wrap="square" lIns="0" tIns="0" rIns="0" bIns="0" rtlCol="0" anchor="ctr"/>
          <a:lstStyle/>
          <a:p>
            <a:pPr algn="ctr" indent="0" marL="0">
              <a:buNone/>
            </a:pPr>
            <a:r>
              <a:rPr lang="en-US" sz="1100" b="1" dirty="0">
                <a:solidFill>
                  <a:srgbClr val="16302B"/>
                </a:solidFill>
                <a:latin typeface="Calibri" pitchFamily="34" charset="0"/>
                <a:ea typeface="Calibri" pitchFamily="34" charset="-122"/>
                <a:cs typeface="Calibri" pitchFamily="34" charset="-120"/>
              </a:rPr>
              <a:t>Undergraduate</a:t>
            </a:r>
            <a:endParaRPr lang="en-US" sz="1100" dirty="0"/>
          </a:p>
        </p:txBody>
      </p:sp>
      <p:sp>
        <p:nvSpPr>
          <p:cNvPr id="20" name="Text 18"/>
          <p:cNvSpPr/>
          <p:nvPr/>
        </p:nvSpPr>
        <p:spPr>
          <a:xfrm>
            <a:off x="786384" y="3968496"/>
            <a:ext cx="3078480" cy="1371600"/>
          </a:xfrm>
          <a:prstGeom prst="rect">
            <a:avLst/>
          </a:prstGeom>
          <a:noFill/>
          <a:ln/>
        </p:spPr>
        <p:txBody>
          <a:bodyPr wrap="square" lIns="0" tIns="0" rIns="0" bIns="0" rtlCol="0" anchor="ctr"/>
          <a:lstStyle/>
          <a:p>
            <a:pPr indent="0" marL="0">
              <a:lnSpc>
                <a:spcPts val="1500"/>
              </a:lnSpc>
              <a:buNone/>
            </a:pPr>
            <a:r>
              <a:rPr lang="en-US" sz="1100" i="1" dirty="0">
                <a:solidFill>
                  <a:srgbClr val="D6E2DA"/>
                </a:solidFill>
                <a:latin typeface="Calibri" pitchFamily="34" charset="0"/>
                <a:ea typeface="Calibri" pitchFamily="34" charset="-122"/>
                <a:cs typeface="Calibri" pitchFamily="34" charset="-120"/>
              </a:rPr>
              <a:t>"The transistor as a switch, with the transfer characteristic and the two regions that matter."</a:t>
            </a:r>
            <a:endParaRPr lang="en-US" sz="1100" dirty="0"/>
          </a:p>
        </p:txBody>
      </p:sp>
      <p:sp>
        <p:nvSpPr>
          <p:cNvPr id="21" name="Shape 19"/>
          <p:cNvSpPr/>
          <p:nvPr/>
        </p:nvSpPr>
        <p:spPr>
          <a:xfrm>
            <a:off x="4303776" y="3255264"/>
            <a:ext cx="3553968" cy="2194560"/>
          </a:xfrm>
          <a:prstGeom prst="roundRect">
            <a:avLst>
              <a:gd name="adj" fmla="val 4583"/>
            </a:avLst>
          </a:prstGeom>
          <a:solidFill>
            <a:srgbClr val="24473D"/>
          </a:solidFill>
          <a:ln/>
          <a:effectLst>
            <a:outerShdw sx="100000" sy="100000" kx="0" ky="0" algn="bl" rotWithShape="0" blurRad="127000" dist="25400" dir="5400000">
              <a:srgbClr val="10231E">
                <a:alpha val="16000"/>
              </a:srgbClr>
            </a:outerShdw>
          </a:effectLst>
        </p:spPr>
      </p:sp>
      <p:sp>
        <p:nvSpPr>
          <p:cNvPr id="22" name="Shape 20"/>
          <p:cNvSpPr/>
          <p:nvPr/>
        </p:nvSpPr>
        <p:spPr>
          <a:xfrm>
            <a:off x="4541520" y="3474720"/>
            <a:ext cx="1737360" cy="365760"/>
          </a:xfrm>
          <a:prstGeom prst="roundRect">
            <a:avLst>
              <a:gd name="adj" fmla="val 50000"/>
            </a:avLst>
          </a:prstGeom>
          <a:solidFill>
            <a:srgbClr val="E0913A"/>
          </a:solidFill>
          <a:ln/>
        </p:spPr>
      </p:sp>
      <p:sp>
        <p:nvSpPr>
          <p:cNvPr id="23" name="Text 21"/>
          <p:cNvSpPr/>
          <p:nvPr/>
        </p:nvSpPr>
        <p:spPr>
          <a:xfrm>
            <a:off x="4541520" y="3474720"/>
            <a:ext cx="1737360" cy="365760"/>
          </a:xfrm>
          <a:prstGeom prst="rect">
            <a:avLst/>
          </a:prstGeom>
          <a:noFill/>
          <a:ln/>
        </p:spPr>
        <p:txBody>
          <a:bodyPr wrap="square" lIns="0" tIns="0" rIns="0" bIns="0" rtlCol="0" anchor="ctr"/>
          <a:lstStyle/>
          <a:p>
            <a:pPr algn="ctr" indent="0" marL="0">
              <a:buNone/>
            </a:pPr>
            <a:r>
              <a:rPr lang="en-US" sz="1100" b="1" dirty="0">
                <a:solidFill>
                  <a:srgbClr val="16302B"/>
                </a:solidFill>
                <a:latin typeface="Calibri" pitchFamily="34" charset="0"/>
                <a:ea typeface="Calibri" pitchFamily="34" charset="-122"/>
                <a:cs typeface="Calibri" pitchFamily="34" charset="-120"/>
              </a:rPr>
              <a:t>Research</a:t>
            </a:r>
            <a:endParaRPr lang="en-US" sz="1100" dirty="0"/>
          </a:p>
        </p:txBody>
      </p:sp>
      <p:sp>
        <p:nvSpPr>
          <p:cNvPr id="24" name="Text 22"/>
          <p:cNvSpPr/>
          <p:nvPr/>
        </p:nvSpPr>
        <p:spPr>
          <a:xfrm>
            <a:off x="4541520" y="3968496"/>
            <a:ext cx="3078480" cy="1371600"/>
          </a:xfrm>
          <a:prstGeom prst="rect">
            <a:avLst/>
          </a:prstGeom>
          <a:noFill/>
          <a:ln/>
        </p:spPr>
        <p:txBody>
          <a:bodyPr wrap="square" lIns="0" tIns="0" rIns="0" bIns="0" rtlCol="0" anchor="ctr"/>
          <a:lstStyle/>
          <a:p>
            <a:pPr indent="0" marL="0">
              <a:lnSpc>
                <a:spcPts val="1500"/>
              </a:lnSpc>
              <a:buNone/>
            </a:pPr>
            <a:r>
              <a:rPr lang="en-US" sz="1100" i="1" dirty="0">
                <a:solidFill>
                  <a:srgbClr val="D6E2DA"/>
                </a:solidFill>
                <a:latin typeface="Calibri" pitchFamily="34" charset="0"/>
                <a:ea typeface="Calibri" pitchFamily="34" charset="-122"/>
                <a:cs typeface="Calibri" pitchFamily="34" charset="-120"/>
              </a:rPr>
              <a:t>"Short-channel effects, subthreshold slope, and why the scaling that used to be free stopped being free."</a:t>
            </a:r>
            <a:endParaRPr lang="en-US" sz="1100" dirty="0"/>
          </a:p>
        </p:txBody>
      </p:sp>
      <p:sp>
        <p:nvSpPr>
          <p:cNvPr id="25" name="Shape 23"/>
          <p:cNvSpPr/>
          <p:nvPr/>
        </p:nvSpPr>
        <p:spPr>
          <a:xfrm>
            <a:off x="8058912" y="3255264"/>
            <a:ext cx="3553968" cy="2194560"/>
          </a:xfrm>
          <a:prstGeom prst="roundRect">
            <a:avLst>
              <a:gd name="adj" fmla="val 4583"/>
            </a:avLst>
          </a:prstGeom>
          <a:solidFill>
            <a:srgbClr val="24473D"/>
          </a:solidFill>
          <a:ln/>
          <a:effectLst>
            <a:outerShdw sx="100000" sy="100000" kx="0" ky="0" algn="bl" rotWithShape="0" blurRad="127000" dist="25400" dir="5400000">
              <a:srgbClr val="10231E">
                <a:alpha val="16000"/>
              </a:srgbClr>
            </a:outerShdw>
          </a:effectLst>
        </p:spPr>
      </p:sp>
      <p:sp>
        <p:nvSpPr>
          <p:cNvPr id="26" name="Shape 24"/>
          <p:cNvSpPr/>
          <p:nvPr/>
        </p:nvSpPr>
        <p:spPr>
          <a:xfrm>
            <a:off x="8296656" y="3474720"/>
            <a:ext cx="1737360" cy="365760"/>
          </a:xfrm>
          <a:prstGeom prst="roundRect">
            <a:avLst>
              <a:gd name="adj" fmla="val 50000"/>
            </a:avLst>
          </a:prstGeom>
          <a:solidFill>
            <a:srgbClr val="E0913A"/>
          </a:solidFill>
          <a:ln/>
        </p:spPr>
      </p:sp>
      <p:sp>
        <p:nvSpPr>
          <p:cNvPr id="27" name="Text 25"/>
          <p:cNvSpPr/>
          <p:nvPr/>
        </p:nvSpPr>
        <p:spPr>
          <a:xfrm>
            <a:off x="8296656" y="3474720"/>
            <a:ext cx="1737360" cy="365760"/>
          </a:xfrm>
          <a:prstGeom prst="rect">
            <a:avLst/>
          </a:prstGeom>
          <a:noFill/>
          <a:ln/>
        </p:spPr>
        <p:txBody>
          <a:bodyPr wrap="square" lIns="0" tIns="0" rIns="0" bIns="0" rtlCol="0" anchor="ctr"/>
          <a:lstStyle/>
          <a:p>
            <a:pPr algn="ctr" indent="0" marL="0">
              <a:buNone/>
            </a:pPr>
            <a:r>
              <a:rPr lang="en-US" sz="1100" b="1" dirty="0">
                <a:solidFill>
                  <a:srgbClr val="16302B"/>
                </a:solidFill>
                <a:latin typeface="Calibri" pitchFamily="34" charset="0"/>
                <a:ea typeface="Calibri" pitchFamily="34" charset="-122"/>
                <a:cs typeface="Calibri" pitchFamily="34" charset="-120"/>
              </a:rPr>
              <a:t>Ask again</a:t>
            </a:r>
            <a:endParaRPr lang="en-US" sz="1100" dirty="0"/>
          </a:p>
        </p:txBody>
      </p:sp>
      <p:sp>
        <p:nvSpPr>
          <p:cNvPr id="28" name="Text 26"/>
          <p:cNvSpPr/>
          <p:nvPr/>
        </p:nvSpPr>
        <p:spPr>
          <a:xfrm>
            <a:off x="8296656" y="3968496"/>
            <a:ext cx="3078480" cy="1371600"/>
          </a:xfrm>
          <a:prstGeom prst="rect">
            <a:avLst/>
          </a:prstGeom>
          <a:noFill/>
          <a:ln/>
        </p:spPr>
        <p:txBody>
          <a:bodyPr wrap="square" lIns="0" tIns="0" rIns="0" bIns="0" rtlCol="0" anchor="ctr"/>
          <a:lstStyle/>
          <a:p>
            <a:pPr indent="0" marL="0">
              <a:lnSpc>
                <a:spcPts val="1500"/>
              </a:lnSpc>
              <a:buNone/>
            </a:pPr>
            <a:r>
              <a:rPr lang="en-US" sz="1100" i="1" dirty="0">
                <a:solidFill>
                  <a:srgbClr val="D6E2DA"/>
                </a:solidFill>
                <a:latin typeface="Calibri" pitchFamily="34" charset="0"/>
                <a:ea typeface="Calibri" pitchFamily="34" charset="-122"/>
                <a:cs typeface="Calibri" pitchFamily="34" charset="-120"/>
              </a:rPr>
              <a:t>"And again. Depth is not a fixed number of paragraphs — the next question gets the next layer."</a:t>
            </a:r>
            <a:endParaRPr lang="en-US" sz="1100" dirty="0"/>
          </a:p>
        </p:txBody>
      </p:sp>
      <p:sp>
        <p:nvSpPr>
          <p:cNvPr id="29" name="Text 27"/>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8FA89B"/>
                </a:solidFill>
                <a:latin typeface="Calibri" pitchFamily="34" charset="0"/>
                <a:ea typeface="Calibri" pitchFamily="34" charset="-122"/>
                <a:cs typeface="Calibri" pitchFamily="34" charset="-120"/>
              </a:rPr>
              <a:t>The board's own level control, from Class 6 to research, on one screen.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NOT THE FEATURE LIST — THE POINT OF IT</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What a student gets out of it</a:t>
            </a:r>
            <a:endParaRPr lang="en-US" sz="3300" dirty="0"/>
          </a:p>
        </p:txBody>
      </p:sp>
      <p:sp>
        <p:nvSpPr>
          <p:cNvPr id="4" name="Shape 2"/>
          <p:cNvSpPr/>
          <p:nvPr/>
        </p:nvSpPr>
        <p:spPr>
          <a:xfrm>
            <a:off x="548640" y="1600200"/>
            <a:ext cx="5431536" cy="1335024"/>
          </a:xfrm>
          <a:prstGeom prst="roundRect">
            <a:avLst>
              <a:gd name="adj" fmla="val 7534"/>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801368"/>
            <a:ext cx="402336" cy="402336"/>
          </a:xfrm>
          <a:prstGeom prst="ellipse">
            <a:avLst/>
          </a:prstGeom>
          <a:solidFill>
            <a:srgbClr val="E0913A"/>
          </a:solidFill>
          <a:ln/>
        </p:spPr>
      </p:sp>
      <p:sp>
        <p:nvSpPr>
          <p:cNvPr id="6" name="Text 4"/>
          <p:cNvSpPr/>
          <p:nvPr/>
        </p:nvSpPr>
        <p:spPr>
          <a:xfrm>
            <a:off x="768096" y="180136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7" name="Text 5"/>
          <p:cNvSpPr/>
          <p:nvPr/>
        </p:nvSpPr>
        <p:spPr>
          <a:xfrm>
            <a:off x="1280160" y="1764792"/>
            <a:ext cx="4517136"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Stuck at 9pm, nobody to ask</a:t>
            </a:r>
            <a:endParaRPr lang="en-US" sz="1100" dirty="0"/>
          </a:p>
        </p:txBody>
      </p:sp>
      <p:sp>
        <p:nvSpPr>
          <p:cNvPr id="8" name="Text 6"/>
          <p:cNvSpPr/>
          <p:nvPr/>
        </p:nvSpPr>
        <p:spPr>
          <a:xfrm>
            <a:off x="1280160" y="2020824"/>
            <a:ext cx="4517136" cy="274320"/>
          </a:xfrm>
          <a:prstGeom prst="rect">
            <a:avLst/>
          </a:prstGeom>
          <a:noFill/>
          <a:ln/>
        </p:spPr>
        <p:txBody>
          <a:bodyPr wrap="square" lIns="0" tIns="0" rIns="0" bIns="0" rtlCol="0" anchor="ctr"/>
          <a:lstStyle/>
          <a:p>
            <a:pPr indent="0" marL="0">
              <a:buNone/>
            </a:pPr>
            <a:r>
              <a:rPr lang="en-US" sz="1350" b="1" dirty="0">
                <a:solidFill>
                  <a:srgbClr val="16302B"/>
                </a:solidFill>
                <a:latin typeface="Calibri" pitchFamily="34" charset="0"/>
                <a:ea typeface="Calibri" pitchFamily="34" charset="-122"/>
                <a:cs typeface="Calibri" pitchFamily="34" charset="-120"/>
              </a:rPr>
              <a:t>The tutor</a:t>
            </a:r>
            <a:endParaRPr lang="en-US" sz="1350" dirty="0"/>
          </a:p>
        </p:txBody>
      </p:sp>
      <p:sp>
        <p:nvSpPr>
          <p:cNvPr id="9" name="Text 7"/>
          <p:cNvSpPr/>
          <p:nvPr/>
        </p:nvSpPr>
        <p:spPr>
          <a:xfrm>
            <a:off x="786384" y="2350008"/>
            <a:ext cx="4956048" cy="512064"/>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Ask it at their own level and keep asking. It does not get tired of the third follow-up, which is usually the one that matters.</a:t>
            </a:r>
            <a:endParaRPr lang="en-US" sz="1000" dirty="0"/>
          </a:p>
        </p:txBody>
      </p:sp>
      <p:sp>
        <p:nvSpPr>
          <p:cNvPr id="10" name="Shape 8"/>
          <p:cNvSpPr/>
          <p:nvPr/>
        </p:nvSpPr>
        <p:spPr>
          <a:xfrm>
            <a:off x="6181344" y="1600200"/>
            <a:ext cx="5431536" cy="1335024"/>
          </a:xfrm>
          <a:prstGeom prst="roundRect">
            <a:avLst>
              <a:gd name="adj" fmla="val 7534"/>
            </a:avLst>
          </a:prstGeom>
          <a:solidFill>
            <a:srgbClr val="E7EDE7"/>
          </a:solidFill>
          <a:ln/>
          <a:effectLst>
            <a:outerShdw sx="100000" sy="100000" kx="0" ky="0" algn="bl" rotWithShape="0" blurRad="127000" dist="25400" dir="5400000">
              <a:srgbClr val="10231E">
                <a:alpha val="16000"/>
              </a:srgbClr>
            </a:outerShdw>
          </a:effectLst>
        </p:spPr>
      </p:sp>
      <p:sp>
        <p:nvSpPr>
          <p:cNvPr id="11" name="Shape 9"/>
          <p:cNvSpPr/>
          <p:nvPr/>
        </p:nvSpPr>
        <p:spPr>
          <a:xfrm>
            <a:off x="6400800" y="1801368"/>
            <a:ext cx="402336" cy="402336"/>
          </a:xfrm>
          <a:prstGeom prst="ellipse">
            <a:avLst/>
          </a:prstGeom>
          <a:solidFill>
            <a:srgbClr val="E0913A"/>
          </a:solidFill>
          <a:ln/>
        </p:spPr>
      </p:sp>
      <p:sp>
        <p:nvSpPr>
          <p:cNvPr id="12" name="Text 10"/>
          <p:cNvSpPr/>
          <p:nvPr/>
        </p:nvSpPr>
        <p:spPr>
          <a:xfrm>
            <a:off x="6400800" y="180136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t>
            </a:r>
            <a:endParaRPr lang="en-US" sz="1250" dirty="0"/>
          </a:p>
        </p:txBody>
      </p:sp>
      <p:sp>
        <p:nvSpPr>
          <p:cNvPr id="13" name="Text 11"/>
          <p:cNvSpPr/>
          <p:nvPr/>
        </p:nvSpPr>
        <p:spPr>
          <a:xfrm>
            <a:off x="6912864" y="1764792"/>
            <a:ext cx="4517136"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A question they cannot even type</a:t>
            </a:r>
            <a:endParaRPr lang="en-US" sz="1100" dirty="0"/>
          </a:p>
        </p:txBody>
      </p:sp>
      <p:sp>
        <p:nvSpPr>
          <p:cNvPr id="14" name="Text 12"/>
          <p:cNvSpPr/>
          <p:nvPr/>
        </p:nvSpPr>
        <p:spPr>
          <a:xfrm>
            <a:off x="6912864" y="2020824"/>
            <a:ext cx="4517136" cy="274320"/>
          </a:xfrm>
          <a:prstGeom prst="rect">
            <a:avLst/>
          </a:prstGeom>
          <a:noFill/>
          <a:ln/>
        </p:spPr>
        <p:txBody>
          <a:bodyPr wrap="square" lIns="0" tIns="0" rIns="0" bIns="0" rtlCol="0" anchor="ctr"/>
          <a:lstStyle/>
          <a:p>
            <a:pPr indent="0" marL="0">
              <a:buNone/>
            </a:pPr>
            <a:r>
              <a:rPr lang="en-US" sz="1350" b="1" dirty="0">
                <a:solidFill>
                  <a:srgbClr val="16302B"/>
                </a:solidFill>
                <a:latin typeface="Calibri" pitchFamily="34" charset="0"/>
                <a:ea typeface="Calibri" pitchFamily="34" charset="-122"/>
                <a:cs typeface="Calibri" pitchFamily="34" charset="-120"/>
              </a:rPr>
              <a:t>Scan a problem</a:t>
            </a:r>
            <a:endParaRPr lang="en-US" sz="1350" dirty="0"/>
          </a:p>
        </p:txBody>
      </p:sp>
      <p:sp>
        <p:nvSpPr>
          <p:cNvPr id="15" name="Text 13"/>
          <p:cNvSpPr/>
          <p:nvPr/>
        </p:nvSpPr>
        <p:spPr>
          <a:xfrm>
            <a:off x="6419088" y="2350008"/>
            <a:ext cx="4956048" cy="512064"/>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Photograph it out of the textbook — the diagram, the equation, the circuit — and have it worked through step by step.</a:t>
            </a:r>
            <a:endParaRPr lang="en-US" sz="1000" dirty="0"/>
          </a:p>
        </p:txBody>
      </p:sp>
      <p:sp>
        <p:nvSpPr>
          <p:cNvPr id="16" name="Shape 14"/>
          <p:cNvSpPr/>
          <p:nvPr/>
        </p:nvSpPr>
        <p:spPr>
          <a:xfrm>
            <a:off x="548640" y="3081528"/>
            <a:ext cx="5431536" cy="1335024"/>
          </a:xfrm>
          <a:prstGeom prst="roundRect">
            <a:avLst>
              <a:gd name="adj" fmla="val 7534"/>
            </a:avLst>
          </a:prstGeom>
          <a:solidFill>
            <a:srgbClr val="E7EDE7"/>
          </a:solidFill>
          <a:ln/>
          <a:effectLst>
            <a:outerShdw sx="100000" sy="100000" kx="0" ky="0" algn="bl" rotWithShape="0" blurRad="127000" dist="25400" dir="5400000">
              <a:srgbClr val="10231E">
                <a:alpha val="16000"/>
              </a:srgbClr>
            </a:outerShdw>
          </a:effectLst>
        </p:spPr>
      </p:sp>
      <p:sp>
        <p:nvSpPr>
          <p:cNvPr id="17" name="Shape 15"/>
          <p:cNvSpPr/>
          <p:nvPr/>
        </p:nvSpPr>
        <p:spPr>
          <a:xfrm>
            <a:off x="768096" y="3282696"/>
            <a:ext cx="402336" cy="402336"/>
          </a:xfrm>
          <a:prstGeom prst="ellipse">
            <a:avLst/>
          </a:prstGeom>
          <a:solidFill>
            <a:srgbClr val="E0913A"/>
          </a:solidFill>
          <a:ln/>
        </p:spPr>
      </p:sp>
      <p:sp>
        <p:nvSpPr>
          <p:cNvPr id="18" name="Text 16"/>
          <p:cNvSpPr/>
          <p:nvPr/>
        </p:nvSpPr>
        <p:spPr>
          <a:xfrm>
            <a:off x="768096" y="328269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t>
            </a:r>
            <a:endParaRPr lang="en-US" sz="1250" dirty="0"/>
          </a:p>
        </p:txBody>
      </p:sp>
      <p:sp>
        <p:nvSpPr>
          <p:cNvPr id="19" name="Text 17"/>
          <p:cNvSpPr/>
          <p:nvPr/>
        </p:nvSpPr>
        <p:spPr>
          <a:xfrm>
            <a:off x="1280160" y="3246120"/>
            <a:ext cx="4517136"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An experiment the timetable has no room for</a:t>
            </a:r>
            <a:endParaRPr lang="en-US" sz="1100" dirty="0"/>
          </a:p>
        </p:txBody>
      </p:sp>
      <p:sp>
        <p:nvSpPr>
          <p:cNvPr id="20" name="Text 18"/>
          <p:cNvSpPr/>
          <p:nvPr/>
        </p:nvSpPr>
        <p:spPr>
          <a:xfrm>
            <a:off x="1280160" y="3502152"/>
            <a:ext cx="4517136" cy="274320"/>
          </a:xfrm>
          <a:prstGeom prst="rect">
            <a:avLst/>
          </a:prstGeom>
          <a:noFill/>
          <a:ln/>
        </p:spPr>
        <p:txBody>
          <a:bodyPr wrap="square" lIns="0" tIns="0" rIns="0" bIns="0" rtlCol="0" anchor="ctr"/>
          <a:lstStyle/>
          <a:p>
            <a:pPr indent="0" marL="0">
              <a:buNone/>
            </a:pPr>
            <a:r>
              <a:rPr lang="en-US" sz="1350" b="1" dirty="0">
                <a:solidFill>
                  <a:srgbClr val="16302B"/>
                </a:solidFill>
                <a:latin typeface="Calibri" pitchFamily="34" charset="0"/>
                <a:ea typeface="Calibri" pitchFamily="34" charset="-122"/>
                <a:cs typeface="Calibri" pitchFamily="34" charset="-120"/>
              </a:rPr>
              <a:t>The lab</a:t>
            </a:r>
            <a:endParaRPr lang="en-US" sz="1350" dirty="0"/>
          </a:p>
        </p:txBody>
      </p:sp>
      <p:sp>
        <p:nvSpPr>
          <p:cNvPr id="21" name="Text 19"/>
          <p:cNvSpPr/>
          <p:nvPr/>
        </p:nvSpPr>
        <p:spPr>
          <a:xfrm>
            <a:off x="786384" y="3831336"/>
            <a:ext cx="4956048" cy="512064"/>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Mix the reagents and run it. Every reaction comes from a measured table, so a wrong prediction is corrected by the chemistry, not by a marking scheme.</a:t>
            </a:r>
            <a:endParaRPr lang="en-US" sz="1000" dirty="0"/>
          </a:p>
        </p:txBody>
      </p:sp>
      <p:sp>
        <p:nvSpPr>
          <p:cNvPr id="22" name="Shape 20"/>
          <p:cNvSpPr/>
          <p:nvPr/>
        </p:nvSpPr>
        <p:spPr>
          <a:xfrm>
            <a:off x="6181344" y="3081528"/>
            <a:ext cx="5431536" cy="1335024"/>
          </a:xfrm>
          <a:prstGeom prst="roundRect">
            <a:avLst>
              <a:gd name="adj" fmla="val 7534"/>
            </a:avLst>
          </a:prstGeom>
          <a:solidFill>
            <a:srgbClr val="E7EDE7"/>
          </a:solidFill>
          <a:ln/>
          <a:effectLst>
            <a:outerShdw sx="100000" sy="100000" kx="0" ky="0" algn="bl" rotWithShape="0" blurRad="127000" dist="25400" dir="5400000">
              <a:srgbClr val="10231E">
                <a:alpha val="16000"/>
              </a:srgbClr>
            </a:outerShdw>
          </a:effectLst>
        </p:spPr>
      </p:sp>
      <p:sp>
        <p:nvSpPr>
          <p:cNvPr id="23" name="Shape 21"/>
          <p:cNvSpPr/>
          <p:nvPr/>
        </p:nvSpPr>
        <p:spPr>
          <a:xfrm>
            <a:off x="6400800" y="3282696"/>
            <a:ext cx="402336" cy="402336"/>
          </a:xfrm>
          <a:prstGeom prst="ellipse">
            <a:avLst/>
          </a:prstGeom>
          <a:solidFill>
            <a:srgbClr val="E0913A"/>
          </a:solidFill>
          <a:ln/>
        </p:spPr>
      </p:sp>
      <p:sp>
        <p:nvSpPr>
          <p:cNvPr id="24" name="Text 22"/>
          <p:cNvSpPr/>
          <p:nvPr/>
        </p:nvSpPr>
        <p:spPr>
          <a:xfrm>
            <a:off x="6400800" y="328269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
            </a:r>
            <a:endParaRPr lang="en-US" sz="1250" dirty="0"/>
          </a:p>
        </p:txBody>
      </p:sp>
      <p:sp>
        <p:nvSpPr>
          <p:cNvPr id="25" name="Text 23"/>
          <p:cNvSpPr/>
          <p:nvPr/>
        </p:nvSpPr>
        <p:spPr>
          <a:xfrm>
            <a:off x="6912864" y="3246120"/>
            <a:ext cx="4517136"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Learning to query without a database to break</a:t>
            </a:r>
            <a:endParaRPr lang="en-US" sz="1100" dirty="0"/>
          </a:p>
        </p:txBody>
      </p:sp>
      <p:sp>
        <p:nvSpPr>
          <p:cNvPr id="26" name="Text 24"/>
          <p:cNvSpPr/>
          <p:nvPr/>
        </p:nvSpPr>
        <p:spPr>
          <a:xfrm>
            <a:off x="6912864" y="3502152"/>
            <a:ext cx="4517136" cy="274320"/>
          </a:xfrm>
          <a:prstGeom prst="rect">
            <a:avLst/>
          </a:prstGeom>
          <a:noFill/>
          <a:ln/>
        </p:spPr>
        <p:txBody>
          <a:bodyPr wrap="square" lIns="0" tIns="0" rIns="0" bIns="0" rtlCol="0" anchor="ctr"/>
          <a:lstStyle/>
          <a:p>
            <a:pPr indent="0" marL="0">
              <a:buNone/>
            </a:pPr>
            <a:r>
              <a:rPr lang="en-US" sz="1350" b="1" dirty="0">
                <a:solidFill>
                  <a:srgbClr val="16302B"/>
                </a:solidFill>
                <a:latin typeface="Calibri" pitchFamily="34" charset="0"/>
                <a:ea typeface="Calibri" pitchFamily="34" charset="-122"/>
                <a:cs typeface="Calibri" pitchFamily="34" charset="-120"/>
              </a:rPr>
              <a:t>The SQL board</a:t>
            </a:r>
            <a:endParaRPr lang="en-US" sz="1350" dirty="0"/>
          </a:p>
        </p:txBody>
      </p:sp>
      <p:sp>
        <p:nvSpPr>
          <p:cNvPr id="27" name="Text 25"/>
          <p:cNvSpPr/>
          <p:nvPr/>
        </p:nvSpPr>
        <p:spPr>
          <a:xfrm>
            <a:off x="6419088" y="3831336"/>
            <a:ext cx="4956048" cy="512064"/>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Real queries against a real database, including the errors. They cannot break anything, so they can try the thing they are unsure about.</a:t>
            </a:r>
            <a:endParaRPr lang="en-US" sz="1000" dirty="0"/>
          </a:p>
        </p:txBody>
      </p:sp>
      <p:sp>
        <p:nvSpPr>
          <p:cNvPr id="28" name="Shape 26"/>
          <p:cNvSpPr/>
          <p:nvPr/>
        </p:nvSpPr>
        <p:spPr>
          <a:xfrm>
            <a:off x="548640" y="4562856"/>
            <a:ext cx="5431536" cy="1335024"/>
          </a:xfrm>
          <a:prstGeom prst="roundRect">
            <a:avLst>
              <a:gd name="adj" fmla="val 7534"/>
            </a:avLst>
          </a:prstGeom>
          <a:solidFill>
            <a:srgbClr val="E7EDE7"/>
          </a:solidFill>
          <a:ln/>
          <a:effectLst>
            <a:outerShdw sx="100000" sy="100000" kx="0" ky="0" algn="bl" rotWithShape="0" blurRad="127000" dist="25400" dir="5400000">
              <a:srgbClr val="10231E">
                <a:alpha val="16000"/>
              </a:srgbClr>
            </a:outerShdw>
          </a:effectLst>
        </p:spPr>
      </p:sp>
      <p:sp>
        <p:nvSpPr>
          <p:cNvPr id="29" name="Shape 27"/>
          <p:cNvSpPr/>
          <p:nvPr/>
        </p:nvSpPr>
        <p:spPr>
          <a:xfrm>
            <a:off x="768096" y="4764024"/>
            <a:ext cx="402336" cy="402336"/>
          </a:xfrm>
          <a:prstGeom prst="ellipse">
            <a:avLst/>
          </a:prstGeom>
          <a:solidFill>
            <a:srgbClr val="E0913A"/>
          </a:solidFill>
          <a:ln/>
        </p:spPr>
      </p:sp>
      <p:sp>
        <p:nvSpPr>
          <p:cNvPr id="30" name="Text 28"/>
          <p:cNvSpPr/>
          <p:nvPr/>
        </p:nvSpPr>
        <p:spPr>
          <a:xfrm>
            <a:off x="768096" y="476402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a:t>
            </a:r>
            <a:endParaRPr lang="en-US" sz="1250" dirty="0"/>
          </a:p>
        </p:txBody>
      </p:sp>
      <p:sp>
        <p:nvSpPr>
          <p:cNvPr id="31" name="Text 29"/>
          <p:cNvSpPr/>
          <p:nvPr/>
        </p:nvSpPr>
        <p:spPr>
          <a:xfrm>
            <a:off x="1280160" y="4727448"/>
            <a:ext cx="4517136"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Networking as an abstraction that never lands</a:t>
            </a:r>
            <a:endParaRPr lang="en-US" sz="1100" dirty="0"/>
          </a:p>
        </p:txBody>
      </p:sp>
      <p:sp>
        <p:nvSpPr>
          <p:cNvPr id="32" name="Text 30"/>
          <p:cNvSpPr/>
          <p:nvPr/>
        </p:nvSpPr>
        <p:spPr>
          <a:xfrm>
            <a:off x="1280160" y="4983480"/>
            <a:ext cx="4517136" cy="274320"/>
          </a:xfrm>
          <a:prstGeom prst="rect">
            <a:avLst/>
          </a:prstGeom>
          <a:noFill/>
          <a:ln/>
        </p:spPr>
        <p:txBody>
          <a:bodyPr wrap="square" lIns="0" tIns="0" rIns="0" bIns="0" rtlCol="0" anchor="ctr"/>
          <a:lstStyle/>
          <a:p>
            <a:pPr indent="0" marL="0">
              <a:buNone/>
            </a:pPr>
            <a:r>
              <a:rPr lang="en-US" sz="1350" b="1" dirty="0">
                <a:solidFill>
                  <a:srgbClr val="16302B"/>
                </a:solidFill>
                <a:latin typeface="Calibri" pitchFamily="34" charset="0"/>
                <a:ea typeface="Calibri" pitchFamily="34" charset="-122"/>
                <a:cs typeface="Calibri" pitchFamily="34" charset="-120"/>
              </a:rPr>
              <a:t>Trace a packet</a:t>
            </a:r>
            <a:endParaRPr lang="en-US" sz="1350" dirty="0"/>
          </a:p>
        </p:txBody>
      </p:sp>
      <p:sp>
        <p:nvSpPr>
          <p:cNvPr id="33" name="Text 31"/>
          <p:cNvSpPr/>
          <p:nvPr/>
        </p:nvSpPr>
        <p:spPr>
          <a:xfrm>
            <a:off x="786384" y="5312664"/>
            <a:ext cx="4956048" cy="512064"/>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Send one through real routing tables and firewall rules and watch each decision as it happens.</a:t>
            </a:r>
            <a:endParaRPr lang="en-US" sz="1000" dirty="0"/>
          </a:p>
        </p:txBody>
      </p:sp>
      <p:sp>
        <p:nvSpPr>
          <p:cNvPr id="34" name="Shape 32"/>
          <p:cNvSpPr/>
          <p:nvPr/>
        </p:nvSpPr>
        <p:spPr>
          <a:xfrm>
            <a:off x="6181344" y="4562856"/>
            <a:ext cx="5431536" cy="1335024"/>
          </a:xfrm>
          <a:prstGeom prst="roundRect">
            <a:avLst>
              <a:gd name="adj" fmla="val 7534"/>
            </a:avLst>
          </a:prstGeom>
          <a:solidFill>
            <a:srgbClr val="E7EDE7"/>
          </a:solidFill>
          <a:ln/>
          <a:effectLst>
            <a:outerShdw sx="100000" sy="100000" kx="0" ky="0" algn="bl" rotWithShape="0" blurRad="127000" dist="25400" dir="5400000">
              <a:srgbClr val="10231E">
                <a:alpha val="16000"/>
              </a:srgbClr>
            </a:outerShdw>
          </a:effectLst>
        </p:spPr>
      </p:sp>
      <p:sp>
        <p:nvSpPr>
          <p:cNvPr id="35" name="Shape 33"/>
          <p:cNvSpPr/>
          <p:nvPr/>
        </p:nvSpPr>
        <p:spPr>
          <a:xfrm>
            <a:off x="6400800" y="4764024"/>
            <a:ext cx="402336" cy="402336"/>
          </a:xfrm>
          <a:prstGeom prst="ellipse">
            <a:avLst/>
          </a:prstGeom>
          <a:solidFill>
            <a:srgbClr val="E0913A"/>
          </a:solidFill>
          <a:ln/>
        </p:spPr>
      </p:sp>
      <p:sp>
        <p:nvSpPr>
          <p:cNvPr id="36" name="Text 34"/>
          <p:cNvSpPr/>
          <p:nvPr/>
        </p:nvSpPr>
        <p:spPr>
          <a:xfrm>
            <a:off x="6400800" y="476402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37" name="Text 35"/>
          <p:cNvSpPr/>
          <p:nvPr/>
        </p:nvSpPr>
        <p:spPr>
          <a:xfrm>
            <a:off x="6912864" y="4727448"/>
            <a:ext cx="4517136"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Something flat on a page that is not flat</a:t>
            </a:r>
            <a:endParaRPr lang="en-US" sz="1100" dirty="0"/>
          </a:p>
        </p:txBody>
      </p:sp>
      <p:sp>
        <p:nvSpPr>
          <p:cNvPr id="38" name="Text 36"/>
          <p:cNvSpPr/>
          <p:nvPr/>
        </p:nvSpPr>
        <p:spPr>
          <a:xfrm>
            <a:off x="6912864" y="4983480"/>
            <a:ext cx="4517136" cy="274320"/>
          </a:xfrm>
          <a:prstGeom prst="rect">
            <a:avLst/>
          </a:prstGeom>
          <a:noFill/>
          <a:ln/>
        </p:spPr>
        <p:txBody>
          <a:bodyPr wrap="square" lIns="0" tIns="0" rIns="0" bIns="0" rtlCol="0" anchor="ctr"/>
          <a:lstStyle/>
          <a:p>
            <a:pPr indent="0" marL="0">
              <a:buNone/>
            </a:pPr>
            <a:r>
              <a:rPr lang="en-US" sz="1350" b="1" dirty="0">
                <a:solidFill>
                  <a:srgbClr val="16302B"/>
                </a:solidFill>
                <a:latin typeface="Calibri" pitchFamily="34" charset="0"/>
                <a:ea typeface="Calibri" pitchFamily="34" charset="-122"/>
                <a:cs typeface="Calibri" pitchFamily="34" charset="-120"/>
              </a:rPr>
              <a:t>3D structures</a:t>
            </a:r>
            <a:endParaRPr lang="en-US" sz="1350" dirty="0"/>
          </a:p>
        </p:txBody>
      </p:sp>
      <p:sp>
        <p:nvSpPr>
          <p:cNvPr id="39" name="Text 37"/>
          <p:cNvSpPr/>
          <p:nvPr/>
        </p:nvSpPr>
        <p:spPr>
          <a:xfrm>
            <a:off x="6419088" y="5312664"/>
            <a:ext cx="4956048" cy="512064"/>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Turn the molecule, the crystal or the orbit and measure it. Real coordinates from the open catalogues.</a:t>
            </a:r>
            <a:endParaRPr lang="en-US" sz="1000" dirty="0"/>
          </a:p>
        </p:txBody>
      </p:sp>
      <p:sp>
        <p:nvSpPr>
          <p:cNvPr id="40" name="Text 38"/>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All of it on the board at the front and on their own phone or laptop, from one address and one account.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BRING YOUR OWN MATERIAL</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Your syllabus, not somebody else's</a:t>
            </a:r>
            <a:endParaRPr lang="en-US" sz="3300" dirty="0"/>
          </a:p>
        </p:txBody>
      </p:sp>
      <p:sp>
        <p:nvSpPr>
          <p:cNvPr id="4" name="Text 2"/>
          <p:cNvSpPr/>
          <p:nvPr/>
        </p:nvSpPr>
        <p:spPr>
          <a:xfrm>
            <a:off x="548640" y="1600200"/>
            <a:ext cx="11064240" cy="658368"/>
          </a:xfrm>
          <a:prstGeom prst="rect">
            <a:avLst/>
          </a:prstGeom>
          <a:noFill/>
          <a:ln/>
        </p:spPr>
        <p:txBody>
          <a:bodyPr wrap="square" lIns="0" tIns="0" rIns="0" bIns="0" rtlCol="0" anchor="ctr"/>
          <a:lstStyle/>
          <a:p>
            <a:pPr indent="0" marL="0">
              <a:lnSpc>
                <a:spcPts val="1900"/>
              </a:lnSpc>
              <a:buNone/>
            </a:pPr>
            <a:r>
              <a:rPr lang="en-US" sz="1300" dirty="0">
                <a:solidFill>
                  <a:srgbClr val="5C7268"/>
                </a:solidFill>
                <a:latin typeface="Calibri" pitchFamily="34" charset="0"/>
                <a:ea typeface="Calibri" pitchFamily="34" charset="-122"/>
                <a:cs typeface="Calibri" pitchFamily="34" charset="-120"/>
              </a:rPr>
              <a:t>No corpus covers every B.Tech branch in India, and a product that pretends otherwise is one a department finds out about in week one. So the material a lecturer already has is a first-class input, not a workaround.</a:t>
            </a:r>
            <a:endParaRPr lang="en-US" sz="1300" dirty="0"/>
          </a:p>
        </p:txBody>
      </p:sp>
      <p:sp>
        <p:nvSpPr>
          <p:cNvPr id="5" name="Shape 3"/>
          <p:cNvSpPr/>
          <p:nvPr/>
        </p:nvSpPr>
        <p:spPr>
          <a:xfrm>
            <a:off x="548640" y="2432304"/>
            <a:ext cx="3553968" cy="1554480"/>
          </a:xfrm>
          <a:prstGeom prst="roundRect">
            <a:avLst>
              <a:gd name="adj" fmla="val 6471"/>
            </a:avLst>
          </a:prstGeom>
          <a:solidFill>
            <a:srgbClr val="E7EDE7"/>
          </a:solidFill>
          <a:ln/>
          <a:effectLst>
            <a:outerShdw sx="100000" sy="100000" kx="0" ky="0" algn="bl" rotWithShape="0" blurRad="127000" dist="25400" dir="5400000">
              <a:srgbClr val="10231E">
                <a:alpha val="16000"/>
              </a:srgbClr>
            </a:outerShdw>
          </a:effectLst>
        </p:spPr>
      </p:sp>
      <p:sp>
        <p:nvSpPr>
          <p:cNvPr id="6" name="Shape 4"/>
          <p:cNvSpPr/>
          <p:nvPr/>
        </p:nvSpPr>
        <p:spPr>
          <a:xfrm>
            <a:off x="768096" y="2615184"/>
            <a:ext cx="402336" cy="402336"/>
          </a:xfrm>
          <a:prstGeom prst="ellipse">
            <a:avLst/>
          </a:prstGeom>
          <a:solidFill>
            <a:srgbClr val="E0913A"/>
          </a:solidFill>
          <a:ln/>
        </p:spPr>
      </p:sp>
      <p:sp>
        <p:nvSpPr>
          <p:cNvPr id="7" name="Text 5"/>
          <p:cNvSpPr/>
          <p:nvPr/>
        </p:nvSpPr>
        <p:spPr>
          <a:xfrm>
            <a:off x="768096" y="26151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p:nvPr/>
        </p:nvSpPr>
        <p:spPr>
          <a:xfrm>
            <a:off x="1280160" y="2578608"/>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Upload the PDF</a:t>
            </a:r>
            <a:endParaRPr lang="en-US" sz="1250" dirty="0"/>
          </a:p>
        </p:txBody>
      </p:sp>
      <p:sp>
        <p:nvSpPr>
          <p:cNvPr id="9" name="Text 7"/>
          <p:cNvSpPr/>
          <p:nvPr/>
        </p:nvSpPr>
        <p:spPr>
          <a:xfrm>
            <a:off x="786384" y="3054096"/>
            <a:ext cx="3078480" cy="82296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 chapter, a paper, a set of notes, a lab manual, last year's question paper.</a:t>
            </a:r>
            <a:endParaRPr lang="en-US" sz="1000" dirty="0"/>
          </a:p>
        </p:txBody>
      </p:sp>
      <p:sp>
        <p:nvSpPr>
          <p:cNvPr id="10" name="Shape 8"/>
          <p:cNvSpPr/>
          <p:nvPr/>
        </p:nvSpPr>
        <p:spPr>
          <a:xfrm>
            <a:off x="4303776" y="2432304"/>
            <a:ext cx="3553968" cy="1554480"/>
          </a:xfrm>
          <a:prstGeom prst="roundRect">
            <a:avLst>
              <a:gd name="adj" fmla="val 6471"/>
            </a:avLst>
          </a:prstGeom>
          <a:solidFill>
            <a:srgbClr val="E7EDE7"/>
          </a:solidFill>
          <a:ln/>
          <a:effectLst>
            <a:outerShdw sx="100000" sy="100000" kx="0" ky="0" algn="bl" rotWithShape="0" blurRad="127000" dist="25400" dir="5400000">
              <a:srgbClr val="10231E">
                <a:alpha val="16000"/>
              </a:srgbClr>
            </a:outerShdw>
          </a:effectLst>
        </p:spPr>
      </p:sp>
      <p:sp>
        <p:nvSpPr>
          <p:cNvPr id="11" name="Shape 9"/>
          <p:cNvSpPr/>
          <p:nvPr/>
        </p:nvSpPr>
        <p:spPr>
          <a:xfrm>
            <a:off x="4523232" y="2615184"/>
            <a:ext cx="402336" cy="402336"/>
          </a:xfrm>
          <a:prstGeom prst="ellipse">
            <a:avLst/>
          </a:prstGeom>
          <a:solidFill>
            <a:srgbClr val="E0913A"/>
          </a:solidFill>
          <a:ln/>
        </p:spPr>
      </p:sp>
      <p:sp>
        <p:nvSpPr>
          <p:cNvPr id="12" name="Text 10"/>
          <p:cNvSpPr/>
          <p:nvPr/>
        </p:nvSpPr>
        <p:spPr>
          <a:xfrm>
            <a:off x="4523232" y="26151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p:nvPr/>
        </p:nvSpPr>
        <p:spPr>
          <a:xfrm>
            <a:off x="5035296" y="2578608"/>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Show it exactly as it is</a:t>
            </a:r>
            <a:endParaRPr lang="en-US" sz="1250" dirty="0"/>
          </a:p>
        </p:txBody>
      </p:sp>
      <p:sp>
        <p:nvSpPr>
          <p:cNvPr id="14" name="Text 12"/>
          <p:cNvSpPr/>
          <p:nvPr/>
        </p:nvSpPr>
        <p:spPr>
          <a:xfrm>
            <a:off x="4541520" y="3054096"/>
            <a:ext cx="3078480" cy="82296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For when the department's own document is the thing that must be on screen.</a:t>
            </a:r>
            <a:endParaRPr lang="en-US" sz="1000" dirty="0"/>
          </a:p>
        </p:txBody>
      </p:sp>
      <p:sp>
        <p:nvSpPr>
          <p:cNvPr id="15" name="Shape 13"/>
          <p:cNvSpPr/>
          <p:nvPr/>
        </p:nvSpPr>
        <p:spPr>
          <a:xfrm>
            <a:off x="8058912" y="2432304"/>
            <a:ext cx="3553968" cy="1554480"/>
          </a:xfrm>
          <a:prstGeom prst="roundRect">
            <a:avLst>
              <a:gd name="adj" fmla="val 6471"/>
            </a:avLst>
          </a:prstGeom>
          <a:solidFill>
            <a:srgbClr val="E7EDE7"/>
          </a:solidFill>
          <a:ln/>
          <a:effectLst>
            <a:outerShdw sx="100000" sy="100000" kx="0" ky="0" algn="bl" rotWithShape="0" blurRad="127000" dist="25400" dir="5400000">
              <a:srgbClr val="10231E">
                <a:alpha val="16000"/>
              </a:srgbClr>
            </a:outerShdw>
          </a:effectLst>
        </p:spPr>
      </p:sp>
      <p:sp>
        <p:nvSpPr>
          <p:cNvPr id="16" name="Shape 14"/>
          <p:cNvSpPr/>
          <p:nvPr/>
        </p:nvSpPr>
        <p:spPr>
          <a:xfrm>
            <a:off x="8278368" y="2615184"/>
            <a:ext cx="402336" cy="402336"/>
          </a:xfrm>
          <a:prstGeom prst="ellipse">
            <a:avLst/>
          </a:prstGeom>
          <a:solidFill>
            <a:srgbClr val="E0913A"/>
          </a:solidFill>
          <a:ln/>
        </p:spPr>
      </p:sp>
      <p:sp>
        <p:nvSpPr>
          <p:cNvPr id="17" name="Text 15"/>
          <p:cNvSpPr/>
          <p:nvPr/>
        </p:nvSpPr>
        <p:spPr>
          <a:xfrm>
            <a:off x="8278368" y="26151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p:nvPr/>
        </p:nvSpPr>
        <p:spPr>
          <a:xfrm>
            <a:off x="8790432" y="2578608"/>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Or have it taught</a:t>
            </a:r>
            <a:endParaRPr lang="en-US" sz="1250" dirty="0"/>
          </a:p>
        </p:txBody>
      </p:sp>
      <p:sp>
        <p:nvSpPr>
          <p:cNvPr id="19" name="Text 17"/>
          <p:cNvSpPr/>
          <p:nvPr/>
        </p:nvSpPr>
        <p:spPr>
          <a:xfrm>
            <a:off x="8296656" y="3054096"/>
            <a:ext cx="3078480" cy="82296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Axle writes it up as a lesson: line by line, at the level set, with a diagram where one helps.</a:t>
            </a:r>
            <a:endParaRPr lang="en-US" sz="1000" dirty="0"/>
          </a:p>
        </p:txBody>
      </p:sp>
      <p:sp>
        <p:nvSpPr>
          <p:cNvPr id="20" name="Shape 18"/>
          <p:cNvSpPr/>
          <p:nvPr/>
        </p:nvSpPr>
        <p:spPr>
          <a:xfrm>
            <a:off x="548640" y="4151376"/>
            <a:ext cx="3553968" cy="1554480"/>
          </a:xfrm>
          <a:prstGeom prst="roundRect">
            <a:avLst>
              <a:gd name="adj" fmla="val 6471"/>
            </a:avLst>
          </a:prstGeom>
          <a:solidFill>
            <a:srgbClr val="E7EDE7"/>
          </a:solidFill>
          <a:ln/>
          <a:effectLst>
            <a:outerShdw sx="100000" sy="100000" kx="0" ky="0" algn="bl" rotWithShape="0" blurRad="127000" dist="25400" dir="5400000">
              <a:srgbClr val="10231E">
                <a:alpha val="16000"/>
              </a:srgbClr>
            </a:outerShdw>
          </a:effectLst>
        </p:spPr>
      </p:sp>
      <p:sp>
        <p:nvSpPr>
          <p:cNvPr id="21" name="Shape 19"/>
          <p:cNvSpPr/>
          <p:nvPr/>
        </p:nvSpPr>
        <p:spPr>
          <a:xfrm>
            <a:off x="768096" y="4334256"/>
            <a:ext cx="402336" cy="402336"/>
          </a:xfrm>
          <a:prstGeom prst="ellipse">
            <a:avLst/>
          </a:prstGeom>
          <a:solidFill>
            <a:srgbClr val="E0913A"/>
          </a:solidFill>
          <a:ln/>
        </p:spPr>
      </p:sp>
      <p:sp>
        <p:nvSpPr>
          <p:cNvPr id="22" name="Text 20"/>
          <p:cNvSpPr/>
          <p:nvPr/>
        </p:nvSpPr>
        <p:spPr>
          <a:xfrm>
            <a:off x="768096" y="433425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p:nvPr/>
        </p:nvSpPr>
        <p:spPr>
          <a:xfrm>
            <a:off x="1280160" y="4297680"/>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It stays in the subject</a:t>
            </a:r>
            <a:endParaRPr lang="en-US" sz="1250" dirty="0"/>
          </a:p>
        </p:txBody>
      </p:sp>
      <p:sp>
        <p:nvSpPr>
          <p:cNvPr id="24" name="Text 22"/>
          <p:cNvSpPr/>
          <p:nvPr/>
        </p:nvSpPr>
        <p:spPr>
          <a:xfrm>
            <a:off x="786384" y="4773168"/>
            <a:ext cx="3078480" cy="82296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Filed under that subject's study material, there next term, for the next batch too.</a:t>
            </a:r>
            <a:endParaRPr lang="en-US" sz="1000" dirty="0"/>
          </a:p>
        </p:txBody>
      </p:sp>
      <p:sp>
        <p:nvSpPr>
          <p:cNvPr id="25" name="Shape 23"/>
          <p:cNvSpPr/>
          <p:nvPr/>
        </p:nvSpPr>
        <p:spPr>
          <a:xfrm>
            <a:off x="4303776" y="4151376"/>
            <a:ext cx="3553968" cy="1554480"/>
          </a:xfrm>
          <a:prstGeom prst="roundRect">
            <a:avLst>
              <a:gd name="adj" fmla="val 6471"/>
            </a:avLst>
          </a:prstGeom>
          <a:solidFill>
            <a:srgbClr val="E7EDE7"/>
          </a:solidFill>
          <a:ln/>
          <a:effectLst>
            <a:outerShdw sx="100000" sy="100000" kx="0" ky="0" algn="bl" rotWithShape="0" blurRad="127000" dist="25400" dir="5400000">
              <a:srgbClr val="10231E">
                <a:alpha val="16000"/>
              </a:srgbClr>
            </a:outerShdw>
          </a:effectLst>
        </p:spPr>
      </p:sp>
      <p:sp>
        <p:nvSpPr>
          <p:cNvPr id="26" name="Shape 24"/>
          <p:cNvSpPr/>
          <p:nvPr/>
        </p:nvSpPr>
        <p:spPr>
          <a:xfrm>
            <a:off x="4523232" y="4334256"/>
            <a:ext cx="402336" cy="402336"/>
          </a:xfrm>
          <a:prstGeom prst="ellipse">
            <a:avLst/>
          </a:prstGeom>
          <a:solidFill>
            <a:srgbClr val="E0913A"/>
          </a:solidFill>
          <a:ln/>
        </p:spPr>
      </p:sp>
      <p:sp>
        <p:nvSpPr>
          <p:cNvPr id="27" name="Text 25"/>
          <p:cNvSpPr/>
          <p:nvPr/>
        </p:nvSpPr>
        <p:spPr>
          <a:xfrm>
            <a:off x="4523232" y="433425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8" name="Text 26"/>
          <p:cNvSpPr/>
          <p:nvPr/>
        </p:nvSpPr>
        <p:spPr>
          <a:xfrm>
            <a:off x="5035296" y="4297680"/>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Add links as well</a:t>
            </a:r>
            <a:endParaRPr lang="en-US" sz="1250" dirty="0"/>
          </a:p>
        </p:txBody>
      </p:sp>
      <p:sp>
        <p:nvSpPr>
          <p:cNvPr id="29" name="Text 27"/>
          <p:cNvSpPr/>
          <p:nvPr/>
        </p:nvSpPr>
        <p:spPr>
          <a:xfrm>
            <a:off x="4541520" y="4773168"/>
            <a:ext cx="3078480" cy="82296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 paper, a dataset, a repository, a recorded lecture — kept beside the files.</a:t>
            </a:r>
            <a:endParaRPr lang="en-US" sz="1000" dirty="0"/>
          </a:p>
        </p:txBody>
      </p:sp>
      <p:sp>
        <p:nvSpPr>
          <p:cNvPr id="30" name="Shape 28"/>
          <p:cNvSpPr/>
          <p:nvPr/>
        </p:nvSpPr>
        <p:spPr>
          <a:xfrm>
            <a:off x="8058912" y="4151376"/>
            <a:ext cx="3553968" cy="1554480"/>
          </a:xfrm>
          <a:prstGeom prst="roundRect">
            <a:avLst>
              <a:gd name="adj" fmla="val 6471"/>
            </a:avLst>
          </a:prstGeom>
          <a:solidFill>
            <a:srgbClr val="E7EDE7"/>
          </a:solidFill>
          <a:ln/>
          <a:effectLst>
            <a:outerShdw sx="100000" sy="100000" kx="0" ky="0" algn="bl" rotWithShape="0" blurRad="127000" dist="25400" dir="5400000">
              <a:srgbClr val="10231E">
                <a:alpha val="16000"/>
              </a:srgbClr>
            </a:outerShdw>
          </a:effectLst>
        </p:spPr>
      </p:sp>
      <p:sp>
        <p:nvSpPr>
          <p:cNvPr id="31" name="Shape 29"/>
          <p:cNvSpPr/>
          <p:nvPr/>
        </p:nvSpPr>
        <p:spPr>
          <a:xfrm>
            <a:off x="8278368" y="4334256"/>
            <a:ext cx="402336" cy="402336"/>
          </a:xfrm>
          <a:prstGeom prst="ellipse">
            <a:avLst/>
          </a:prstGeom>
          <a:solidFill>
            <a:srgbClr val="E0913A"/>
          </a:solidFill>
          <a:ln/>
        </p:spPr>
      </p:sp>
      <p:sp>
        <p:nvSpPr>
          <p:cNvPr id="32" name="Text 30"/>
          <p:cNvSpPr/>
          <p:nvPr/>
        </p:nvSpPr>
        <p:spPr>
          <a:xfrm>
            <a:off x="8278368" y="4334256"/>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3" name="Text 31"/>
          <p:cNvSpPr/>
          <p:nvPr/>
        </p:nvSpPr>
        <p:spPr>
          <a:xfrm>
            <a:off x="8790432" y="4297680"/>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Anything from the board</a:t>
            </a:r>
            <a:endParaRPr lang="en-US" sz="1250" dirty="0"/>
          </a:p>
        </p:txBody>
      </p:sp>
      <p:sp>
        <p:nvSpPr>
          <p:cNvPr id="34" name="Text 32"/>
          <p:cNvSpPr/>
          <p:nvPr/>
        </p:nvSpPr>
        <p:spPr>
          <a:xfrm>
            <a:off x="8296656" y="4773168"/>
            <a:ext cx="3078480" cy="82296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Whatever gets taught on the panel is saved into the same place, automatically.</a:t>
            </a:r>
            <a:endParaRPr lang="en-US" sz="1000" dirty="0"/>
          </a:p>
        </p:txBody>
      </p:sp>
      <p:sp>
        <p:nvSpPr>
          <p:cNvPr id="35" name="Text 33"/>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Between this, the corpus and the open catalogues, a department is not waiting on us to cover their syllabus.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THE BOARD</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How the smart board works</a:t>
            </a:r>
            <a:endParaRPr lang="en-US" sz="3300" dirty="0"/>
          </a:p>
        </p:txBody>
      </p:sp>
      <p:sp>
        <p:nvSpPr>
          <p:cNvPr id="4" name="Shape 2"/>
          <p:cNvSpPr/>
          <p:nvPr/>
        </p:nvSpPr>
        <p:spPr>
          <a:xfrm>
            <a:off x="548640" y="1600200"/>
            <a:ext cx="2051914" cy="2231136"/>
          </a:xfrm>
          <a:prstGeom prst="roundRect">
            <a:avLst>
              <a:gd name="adj" fmla="val 4902"/>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801368"/>
            <a:ext cx="438912" cy="438912"/>
          </a:xfrm>
          <a:prstGeom prst="ellipse">
            <a:avLst/>
          </a:prstGeom>
          <a:solidFill>
            <a:srgbClr val="E0913A"/>
          </a:solidFill>
          <a:ln/>
        </p:spPr>
      </p:sp>
      <p:sp>
        <p:nvSpPr>
          <p:cNvPr id="6" name="Text 4"/>
          <p:cNvSpPr/>
          <p:nvPr/>
        </p:nvSpPr>
        <p:spPr>
          <a:xfrm>
            <a:off x="768096" y="1801368"/>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768096" y="2368296"/>
            <a:ext cx="1613002" cy="512064"/>
          </a:xfrm>
          <a:prstGeom prst="rect">
            <a:avLst/>
          </a:prstGeom>
          <a:noFill/>
          <a:ln/>
        </p:spPr>
        <p:txBody>
          <a:bodyPr wrap="square" lIns="0" tIns="0" rIns="0" bIns="0" rtlCol="0" anchor="ctr"/>
          <a:lstStyle/>
          <a:p>
            <a:pPr indent="0" marL="0">
              <a:lnSpc>
                <a:spcPts val="1500"/>
              </a:lnSpc>
              <a:buNone/>
            </a:pPr>
            <a:r>
              <a:rPr lang="en-US" sz="1250" b="1" dirty="0">
                <a:solidFill>
                  <a:srgbClr val="16302B"/>
                </a:solidFill>
                <a:latin typeface="Calibri" pitchFamily="34" charset="0"/>
                <a:ea typeface="Calibri" pitchFamily="34" charset="-122"/>
                <a:cs typeface="Calibri" pitchFamily="34" charset="-120"/>
              </a:rPr>
              <a:t>The panel you have</a:t>
            </a:r>
            <a:endParaRPr lang="en-US" sz="1250" dirty="0"/>
          </a:p>
        </p:txBody>
      </p:sp>
      <p:sp>
        <p:nvSpPr>
          <p:cNvPr id="8" name="Text 6"/>
          <p:cNvSpPr/>
          <p:nvPr/>
        </p:nvSpPr>
        <p:spPr>
          <a:xfrm>
            <a:off x="768096" y="2898648"/>
            <a:ext cx="1613002" cy="822960"/>
          </a:xfrm>
          <a:prstGeom prst="rect">
            <a:avLst/>
          </a:prstGeom>
          <a:noFill/>
          <a:ln/>
        </p:spPr>
        <p:txBody>
          <a:bodyPr wrap="square" lIns="0" tIns="0" rIns="0" bIns="0" rtlCol="0" anchor="ctr"/>
          <a:lstStyle/>
          <a:p>
            <a:pPr indent="0" marL="0">
              <a:lnSpc>
                <a:spcPts val="1200"/>
              </a:lnSpc>
              <a:buNone/>
            </a:pPr>
            <a:r>
              <a:rPr lang="en-US" sz="950" dirty="0">
                <a:solidFill>
                  <a:srgbClr val="5C7268"/>
                </a:solidFill>
                <a:latin typeface="Calibri" pitchFamily="34" charset="0"/>
                <a:ea typeface="Calibri" pitchFamily="34" charset="-122"/>
                <a:cs typeface="Calibri" pitchFamily="34" charset="-120"/>
              </a:rPr>
              <a:t>Any smart board or TV with an OPS mini PC, or any Windows or Android panel with a browser.</a:t>
            </a:r>
            <a:endParaRPr lang="en-US" sz="950" dirty="0"/>
          </a:p>
        </p:txBody>
      </p:sp>
      <p:sp>
        <p:nvSpPr>
          <p:cNvPr id="9" name="Shape 7"/>
          <p:cNvSpPr/>
          <p:nvPr/>
        </p:nvSpPr>
        <p:spPr>
          <a:xfrm>
            <a:off x="2801722" y="1600200"/>
            <a:ext cx="2051914" cy="2231136"/>
          </a:xfrm>
          <a:prstGeom prst="roundRect">
            <a:avLst>
              <a:gd name="adj" fmla="val 4902"/>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3021178" y="1801368"/>
            <a:ext cx="438912" cy="438912"/>
          </a:xfrm>
          <a:prstGeom prst="ellipse">
            <a:avLst/>
          </a:prstGeom>
          <a:solidFill>
            <a:srgbClr val="E0913A"/>
          </a:solidFill>
          <a:ln/>
        </p:spPr>
      </p:sp>
      <p:sp>
        <p:nvSpPr>
          <p:cNvPr id="11" name="Text 9"/>
          <p:cNvSpPr/>
          <p:nvPr/>
        </p:nvSpPr>
        <p:spPr>
          <a:xfrm>
            <a:off x="3021178" y="1801368"/>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3021178" y="2368296"/>
            <a:ext cx="1613002" cy="512064"/>
          </a:xfrm>
          <a:prstGeom prst="rect">
            <a:avLst/>
          </a:prstGeom>
          <a:noFill/>
          <a:ln/>
        </p:spPr>
        <p:txBody>
          <a:bodyPr wrap="square" lIns="0" tIns="0" rIns="0" bIns="0" rtlCol="0" anchor="ctr"/>
          <a:lstStyle/>
          <a:p>
            <a:pPr indent="0" marL="0">
              <a:lnSpc>
                <a:spcPts val="1500"/>
              </a:lnSpc>
              <a:buNone/>
            </a:pPr>
            <a:r>
              <a:rPr lang="en-US" sz="1250" b="1" dirty="0">
                <a:solidFill>
                  <a:srgbClr val="16302B"/>
                </a:solidFill>
                <a:latin typeface="Calibri" pitchFamily="34" charset="0"/>
                <a:ea typeface="Calibri" pitchFamily="34" charset="-122"/>
                <a:cs typeface="Calibri" pitchFamily="34" charset="-120"/>
              </a:rPr>
              <a:t>Open the address</a:t>
            </a:r>
            <a:endParaRPr lang="en-US" sz="1250" dirty="0"/>
          </a:p>
        </p:txBody>
      </p:sp>
      <p:sp>
        <p:nvSpPr>
          <p:cNvPr id="13" name="Text 11"/>
          <p:cNvSpPr/>
          <p:nvPr/>
        </p:nvSpPr>
        <p:spPr>
          <a:xfrm>
            <a:off x="3021178" y="2898648"/>
            <a:ext cx="1613002" cy="822960"/>
          </a:xfrm>
          <a:prstGeom prst="rect">
            <a:avLst/>
          </a:prstGeom>
          <a:noFill/>
          <a:ln/>
        </p:spPr>
        <p:txBody>
          <a:bodyPr wrap="square" lIns="0" tIns="0" rIns="0" bIns="0" rtlCol="0" anchor="ctr"/>
          <a:lstStyle/>
          <a:p>
            <a:pPr indent="0" marL="0">
              <a:lnSpc>
                <a:spcPts val="1200"/>
              </a:lnSpc>
              <a:buNone/>
            </a:pPr>
            <a:r>
              <a:rPr lang="en-US" sz="950" dirty="0">
                <a:solidFill>
                  <a:srgbClr val="5C7268"/>
                </a:solidFill>
                <a:latin typeface="Calibri" pitchFamily="34" charset="0"/>
                <a:ea typeface="Calibri" pitchFamily="34" charset="-122"/>
                <a:cs typeface="Calibri" pitchFamily="34" charset="-120"/>
              </a:rPr>
              <a:t>craxle.com/craxlearn. No app store, no installer, no licence key on a USB stick.</a:t>
            </a:r>
            <a:endParaRPr lang="en-US" sz="950" dirty="0"/>
          </a:p>
        </p:txBody>
      </p:sp>
      <p:sp>
        <p:nvSpPr>
          <p:cNvPr id="14" name="Shape 12"/>
          <p:cNvSpPr/>
          <p:nvPr/>
        </p:nvSpPr>
        <p:spPr>
          <a:xfrm>
            <a:off x="5054803" y="1600200"/>
            <a:ext cx="2051914" cy="2231136"/>
          </a:xfrm>
          <a:prstGeom prst="roundRect">
            <a:avLst>
              <a:gd name="adj" fmla="val 4902"/>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5274259" y="1801368"/>
            <a:ext cx="438912" cy="438912"/>
          </a:xfrm>
          <a:prstGeom prst="ellipse">
            <a:avLst/>
          </a:prstGeom>
          <a:solidFill>
            <a:srgbClr val="E0913A"/>
          </a:solidFill>
          <a:ln/>
        </p:spPr>
      </p:sp>
      <p:sp>
        <p:nvSpPr>
          <p:cNvPr id="16" name="Text 14"/>
          <p:cNvSpPr/>
          <p:nvPr/>
        </p:nvSpPr>
        <p:spPr>
          <a:xfrm>
            <a:off x="5274259" y="1801368"/>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5274259" y="2368296"/>
            <a:ext cx="1613002" cy="512064"/>
          </a:xfrm>
          <a:prstGeom prst="rect">
            <a:avLst/>
          </a:prstGeom>
          <a:noFill/>
          <a:ln/>
        </p:spPr>
        <p:txBody>
          <a:bodyPr wrap="square" lIns="0" tIns="0" rIns="0" bIns="0" rtlCol="0" anchor="ctr"/>
          <a:lstStyle/>
          <a:p>
            <a:pPr indent="0" marL="0">
              <a:lnSpc>
                <a:spcPts val="1500"/>
              </a:lnSpc>
              <a:buNone/>
            </a:pPr>
            <a:r>
              <a:rPr lang="en-US" sz="1250" b="1" dirty="0">
                <a:solidFill>
                  <a:srgbClr val="16302B"/>
                </a:solidFill>
                <a:latin typeface="Calibri" pitchFamily="34" charset="0"/>
                <a:ea typeface="Calibri" pitchFamily="34" charset="-122"/>
                <a:cs typeface="Calibri" pitchFamily="34" charset="-120"/>
              </a:rPr>
              <a:t>Install it once</a:t>
            </a:r>
            <a:endParaRPr lang="en-US" sz="1250" dirty="0"/>
          </a:p>
        </p:txBody>
      </p:sp>
      <p:sp>
        <p:nvSpPr>
          <p:cNvPr id="18" name="Text 16"/>
          <p:cNvSpPr/>
          <p:nvPr/>
        </p:nvSpPr>
        <p:spPr>
          <a:xfrm>
            <a:off x="5274259" y="2898648"/>
            <a:ext cx="1613002" cy="822960"/>
          </a:xfrm>
          <a:prstGeom prst="rect">
            <a:avLst/>
          </a:prstGeom>
          <a:noFill/>
          <a:ln/>
        </p:spPr>
        <p:txBody>
          <a:bodyPr wrap="square" lIns="0" tIns="0" rIns="0" bIns="0" rtlCol="0" anchor="ctr"/>
          <a:lstStyle/>
          <a:p>
            <a:pPr indent="0" marL="0">
              <a:lnSpc>
                <a:spcPts val="1200"/>
              </a:lnSpc>
              <a:buNone/>
            </a:pPr>
            <a:r>
              <a:rPr lang="en-US" sz="950" dirty="0">
                <a:solidFill>
                  <a:srgbClr val="5C7268"/>
                </a:solidFill>
                <a:latin typeface="Calibri" pitchFamily="34" charset="0"/>
                <a:ea typeface="Calibri" pitchFamily="34" charset="-122"/>
                <a:cs typeface="Calibri" pitchFamily="34" charset="-120"/>
              </a:rPr>
              <a:t>It installs as an app and opens full screen from the home screen after that.</a:t>
            </a:r>
            <a:endParaRPr lang="en-US" sz="950" dirty="0"/>
          </a:p>
        </p:txBody>
      </p:sp>
      <p:sp>
        <p:nvSpPr>
          <p:cNvPr id="19" name="Shape 17"/>
          <p:cNvSpPr/>
          <p:nvPr/>
        </p:nvSpPr>
        <p:spPr>
          <a:xfrm>
            <a:off x="7307885" y="1600200"/>
            <a:ext cx="2051914" cy="2231136"/>
          </a:xfrm>
          <a:prstGeom prst="roundRect">
            <a:avLst>
              <a:gd name="adj" fmla="val 4902"/>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7527341" y="1801368"/>
            <a:ext cx="438912" cy="438912"/>
          </a:xfrm>
          <a:prstGeom prst="ellipse">
            <a:avLst/>
          </a:prstGeom>
          <a:solidFill>
            <a:srgbClr val="E0913A"/>
          </a:solidFill>
          <a:ln/>
        </p:spPr>
      </p:sp>
      <p:sp>
        <p:nvSpPr>
          <p:cNvPr id="21" name="Text 19"/>
          <p:cNvSpPr/>
          <p:nvPr/>
        </p:nvSpPr>
        <p:spPr>
          <a:xfrm>
            <a:off x="7527341" y="1801368"/>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7527341" y="2368296"/>
            <a:ext cx="1613002" cy="512064"/>
          </a:xfrm>
          <a:prstGeom prst="rect">
            <a:avLst/>
          </a:prstGeom>
          <a:noFill/>
          <a:ln/>
        </p:spPr>
        <p:txBody>
          <a:bodyPr wrap="square" lIns="0" tIns="0" rIns="0" bIns="0" rtlCol="0" anchor="ctr"/>
          <a:lstStyle/>
          <a:p>
            <a:pPr indent="0" marL="0">
              <a:lnSpc>
                <a:spcPts val="1500"/>
              </a:lnSpc>
              <a:buNone/>
            </a:pPr>
            <a:r>
              <a:rPr lang="en-US" sz="1250" b="1" dirty="0">
                <a:solidFill>
                  <a:srgbClr val="16302B"/>
                </a:solidFill>
                <a:latin typeface="Calibri" pitchFamily="34" charset="0"/>
                <a:ea typeface="Calibri" pitchFamily="34" charset="-122"/>
                <a:cs typeface="Calibri" pitchFamily="34" charset="-120"/>
              </a:rPr>
              <a:t>Sign in with a code</a:t>
            </a:r>
            <a:endParaRPr lang="en-US" sz="1250" dirty="0"/>
          </a:p>
        </p:txBody>
      </p:sp>
      <p:sp>
        <p:nvSpPr>
          <p:cNvPr id="23" name="Text 21"/>
          <p:cNvSpPr/>
          <p:nvPr/>
        </p:nvSpPr>
        <p:spPr>
          <a:xfrm>
            <a:off x="7527341" y="2898648"/>
            <a:ext cx="1613002" cy="822960"/>
          </a:xfrm>
          <a:prstGeom prst="rect">
            <a:avLst/>
          </a:prstGeom>
          <a:noFill/>
          <a:ln/>
        </p:spPr>
        <p:txBody>
          <a:bodyPr wrap="square" lIns="0" tIns="0" rIns="0" bIns="0" rtlCol="0" anchor="ctr"/>
          <a:lstStyle/>
          <a:p>
            <a:pPr indent="0" marL="0">
              <a:lnSpc>
                <a:spcPts val="1200"/>
              </a:lnSpc>
              <a:buNone/>
            </a:pPr>
            <a:r>
              <a:rPr lang="en-US" sz="950" dirty="0">
                <a:solidFill>
                  <a:srgbClr val="5C7268"/>
                </a:solidFill>
                <a:latin typeface="Calibri" pitchFamily="34" charset="0"/>
                <a:ea typeface="Calibri" pitchFamily="34" charset="-122"/>
                <a:cs typeface="Calibri" pitchFamily="34" charset="-120"/>
              </a:rPr>
              <a:t>The code tells the board which class and subject it is standing in.</a:t>
            </a:r>
            <a:endParaRPr lang="en-US" sz="950" dirty="0"/>
          </a:p>
        </p:txBody>
      </p:sp>
      <p:sp>
        <p:nvSpPr>
          <p:cNvPr id="24" name="Shape 22"/>
          <p:cNvSpPr/>
          <p:nvPr/>
        </p:nvSpPr>
        <p:spPr>
          <a:xfrm>
            <a:off x="9560966" y="1600200"/>
            <a:ext cx="2051914" cy="2231136"/>
          </a:xfrm>
          <a:prstGeom prst="roundRect">
            <a:avLst>
              <a:gd name="adj" fmla="val 4902"/>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9780422" y="1801368"/>
            <a:ext cx="438912" cy="438912"/>
          </a:xfrm>
          <a:prstGeom prst="ellipse">
            <a:avLst/>
          </a:prstGeom>
          <a:solidFill>
            <a:srgbClr val="E0913A"/>
          </a:solidFill>
          <a:ln/>
        </p:spPr>
      </p:sp>
      <p:sp>
        <p:nvSpPr>
          <p:cNvPr id="26" name="Text 24"/>
          <p:cNvSpPr/>
          <p:nvPr/>
        </p:nvSpPr>
        <p:spPr>
          <a:xfrm>
            <a:off x="9780422" y="1801368"/>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9780422" y="2368296"/>
            <a:ext cx="1613002" cy="512064"/>
          </a:xfrm>
          <a:prstGeom prst="rect">
            <a:avLst/>
          </a:prstGeom>
          <a:noFill/>
          <a:ln/>
        </p:spPr>
        <p:txBody>
          <a:bodyPr wrap="square" lIns="0" tIns="0" rIns="0" bIns="0" rtlCol="0" anchor="ctr"/>
          <a:lstStyle/>
          <a:p>
            <a:pPr indent="0" marL="0">
              <a:lnSpc>
                <a:spcPts val="1500"/>
              </a:lnSpc>
              <a:buNone/>
            </a:pPr>
            <a:r>
              <a:rPr lang="en-US" sz="1250" b="1" dirty="0">
                <a:solidFill>
                  <a:srgbClr val="16302B"/>
                </a:solidFill>
                <a:latin typeface="Calibri" pitchFamily="34" charset="0"/>
                <a:ea typeface="Calibri" pitchFamily="34" charset="-122"/>
                <a:cs typeface="Calibri" pitchFamily="34" charset="-120"/>
              </a:rPr>
              <a:t>Teach</a:t>
            </a:r>
            <a:endParaRPr lang="en-US" sz="1250" dirty="0"/>
          </a:p>
        </p:txBody>
      </p:sp>
      <p:sp>
        <p:nvSpPr>
          <p:cNvPr id="28" name="Text 26"/>
          <p:cNvSpPr/>
          <p:nvPr/>
        </p:nvSpPr>
        <p:spPr>
          <a:xfrm>
            <a:off x="9780422" y="2898648"/>
            <a:ext cx="1613002" cy="822960"/>
          </a:xfrm>
          <a:prstGeom prst="rect">
            <a:avLst/>
          </a:prstGeom>
          <a:noFill/>
          <a:ln/>
        </p:spPr>
        <p:txBody>
          <a:bodyPr wrap="square" lIns="0" tIns="0" rIns="0" bIns="0" rtlCol="0" anchor="ctr"/>
          <a:lstStyle/>
          <a:p>
            <a:pPr indent="0" marL="0">
              <a:lnSpc>
                <a:spcPts val="1200"/>
              </a:lnSpc>
              <a:buNone/>
            </a:pPr>
            <a:r>
              <a:rPr lang="en-US" sz="950" dirty="0">
                <a:solidFill>
                  <a:srgbClr val="5C7268"/>
                </a:solidFill>
                <a:latin typeface="Calibri" pitchFamily="34" charset="0"/>
                <a:ea typeface="Calibri" pitchFamily="34" charset="-122"/>
                <a:cs typeface="Calibri" pitchFamily="34" charset="-120"/>
              </a:rPr>
              <a:t>Everything saved from the board goes straight to that subject's study material.</a:t>
            </a:r>
            <a:endParaRPr lang="en-US" sz="950" dirty="0"/>
          </a:p>
        </p:txBody>
      </p:sp>
      <p:sp>
        <p:nvSpPr>
          <p:cNvPr id="29" name="Shape 27"/>
          <p:cNvSpPr/>
          <p:nvPr/>
        </p:nvSpPr>
        <p:spPr>
          <a:xfrm>
            <a:off x="548640" y="4133088"/>
            <a:ext cx="11064240" cy="1737360"/>
          </a:xfrm>
          <a:prstGeom prst="roundRect">
            <a:avLst>
              <a:gd name="adj" fmla="val 5789"/>
            </a:avLst>
          </a:prstGeom>
          <a:solidFill>
            <a:srgbClr val="16302B"/>
          </a:solidFill>
          <a:ln/>
          <a:effectLst>
            <a:outerShdw sx="100000" sy="100000" kx="0" ky="0" algn="bl" rotWithShape="0" blurRad="127000" dist="25400" dir="5400000">
              <a:srgbClr val="10231E">
                <a:alpha val="16000"/>
              </a:srgbClr>
            </a:outerShdw>
          </a:effectLst>
        </p:spPr>
      </p:sp>
      <p:sp>
        <p:nvSpPr>
          <p:cNvPr id="30" name="Shape 28"/>
          <p:cNvSpPr/>
          <p:nvPr/>
        </p:nvSpPr>
        <p:spPr>
          <a:xfrm>
            <a:off x="859536" y="4425696"/>
            <a:ext cx="457200" cy="457200"/>
          </a:xfrm>
          <a:prstGeom prst="ellipse">
            <a:avLst/>
          </a:prstGeom>
          <a:solidFill>
            <a:srgbClr val="E0913A"/>
          </a:solidFill>
          <a:ln/>
        </p:spPr>
      </p:sp>
      <p:sp>
        <p:nvSpPr>
          <p:cNvPr id="31" name="Text 29"/>
          <p:cNvSpPr/>
          <p:nvPr/>
        </p:nvSpPr>
        <p:spPr>
          <a:xfrm>
            <a:off x="859536" y="4425696"/>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32" name="Text 30"/>
          <p:cNvSpPr/>
          <p:nvPr/>
        </p:nvSpPr>
        <p:spPr>
          <a:xfrm>
            <a:off x="1481328" y="4389120"/>
            <a:ext cx="9692640" cy="310896"/>
          </a:xfrm>
          <a:prstGeom prst="rect">
            <a:avLst/>
          </a:prstGeom>
          <a:noFill/>
          <a:ln/>
        </p:spPr>
        <p:txBody>
          <a:bodyPr wrap="square" lIns="0" tIns="0" rIns="0" bIns="0" rtlCol="0" anchor="ctr"/>
          <a:lstStyle/>
          <a:p>
            <a:pPr indent="0" marL="0">
              <a:buNone/>
            </a:pPr>
            <a:r>
              <a:rPr lang="en-US" sz="1450" b="1" dirty="0">
                <a:solidFill>
                  <a:srgbClr val="F2F5F1"/>
                </a:solidFill>
                <a:latin typeface="Calibri" pitchFamily="34" charset="0"/>
                <a:ea typeface="Calibri" pitchFamily="34" charset="-122"/>
                <a:cs typeface="Calibri" pitchFamily="34" charset="-120"/>
              </a:rPr>
              <a:t>It also runs on a laptop, a tablet and a phone</a:t>
            </a:r>
            <a:endParaRPr lang="en-US" sz="1450" dirty="0"/>
          </a:p>
        </p:txBody>
      </p:sp>
      <p:sp>
        <p:nvSpPr>
          <p:cNvPr id="33" name="Text 31"/>
          <p:cNvSpPr/>
          <p:nvPr/>
        </p:nvSpPr>
        <p:spPr>
          <a:xfrm>
            <a:off x="1481328" y="4773168"/>
            <a:ext cx="9692640" cy="914400"/>
          </a:xfrm>
          <a:prstGeom prst="rect">
            <a:avLst/>
          </a:prstGeom>
          <a:noFill/>
          <a:ln/>
        </p:spPr>
        <p:txBody>
          <a:bodyPr wrap="square" lIns="0" tIns="0" rIns="0" bIns="0" rtlCol="0" anchor="ctr"/>
          <a:lstStyle/>
          <a:p>
            <a:pPr indent="0" marL="0">
              <a:lnSpc>
                <a:spcPts val="1400"/>
              </a:lnSpc>
              <a:buNone/>
            </a:pPr>
            <a:r>
              <a:rPr lang="en-US" sz="1100" dirty="0">
                <a:solidFill>
                  <a:srgbClr val="BCCFC4"/>
                </a:solidFill>
                <a:latin typeface="Calibri" pitchFamily="34" charset="0"/>
                <a:ea typeface="Calibri" pitchFamily="34" charset="-122"/>
                <a:cs typeface="Calibri" pitchFamily="34" charset="-120"/>
              </a:rPr>
              <a:t>The same address, the same account. A teacher can prepare at home and pick it up in the room. A phone works as the remote, so the lesson is driven facing the room rather than from the screen — type or speak the next topic and it appears on the board.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ON THE BOARD</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Twelve teaching surfaces</a:t>
            </a:r>
            <a:endParaRPr lang="en-US" sz="3300" dirty="0"/>
          </a:p>
        </p:txBody>
      </p:sp>
      <p:sp>
        <p:nvSpPr>
          <p:cNvPr id="4" name="Shape 2"/>
          <p:cNvSpPr/>
          <p:nvPr/>
        </p:nvSpPr>
        <p:spPr>
          <a:xfrm>
            <a:off x="548640" y="1600200"/>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7" name="Text 5"/>
          <p:cNvSpPr/>
          <p:nvPr/>
        </p:nvSpPr>
        <p:spPr>
          <a:xfrm>
            <a:off x="1280160" y="1746504"/>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Ask the board</a:t>
            </a:r>
            <a:endParaRPr lang="en-US" sz="1250" dirty="0"/>
          </a:p>
        </p:txBody>
      </p:sp>
      <p:sp>
        <p:nvSpPr>
          <p:cNvPr id="8" name="Text 6"/>
          <p:cNvSpPr/>
          <p:nvPr/>
        </p:nvSpPr>
        <p:spPr>
          <a:xfrm>
            <a:off x="786384" y="2221992"/>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Any subject, taught step by step, with a diagram where one helps.</a:t>
            </a:r>
            <a:endParaRPr lang="en-US" sz="980" dirty="0"/>
          </a:p>
        </p:txBody>
      </p:sp>
      <p:sp>
        <p:nvSpPr>
          <p:cNvPr id="9" name="Shape 7"/>
          <p:cNvSpPr/>
          <p:nvPr/>
        </p:nvSpPr>
        <p:spPr>
          <a:xfrm>
            <a:off x="3364992" y="1600200"/>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3584448" y="1783080"/>
            <a:ext cx="402336" cy="402336"/>
          </a:xfrm>
          <a:prstGeom prst="ellipse">
            <a:avLst/>
          </a:prstGeom>
          <a:solidFill>
            <a:srgbClr val="E0913A"/>
          </a:solidFill>
          <a:ln/>
        </p:spPr>
      </p:sp>
      <p:sp>
        <p:nvSpPr>
          <p:cNvPr id="11" name="Text 9"/>
          <p:cNvSpPr/>
          <p:nvPr/>
        </p:nvSpPr>
        <p:spPr>
          <a:xfrm>
            <a:off x="3584448"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t>
            </a:r>
            <a:endParaRPr lang="en-US" sz="1250" dirty="0"/>
          </a:p>
        </p:txBody>
      </p:sp>
      <p:sp>
        <p:nvSpPr>
          <p:cNvPr id="12" name="Text 10"/>
          <p:cNvSpPr/>
          <p:nvPr/>
        </p:nvSpPr>
        <p:spPr>
          <a:xfrm>
            <a:off x="4096512" y="1746504"/>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Writing space</a:t>
            </a:r>
            <a:endParaRPr lang="en-US" sz="1250" dirty="0"/>
          </a:p>
        </p:txBody>
      </p:sp>
      <p:sp>
        <p:nvSpPr>
          <p:cNvPr id="13" name="Text 11"/>
          <p:cNvSpPr/>
          <p:nvPr/>
        </p:nvSpPr>
        <p:spPr>
          <a:xfrm>
            <a:off x="3602736" y="2221992"/>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 blank surface to work on by hand. Save it as a picture.</a:t>
            </a:r>
            <a:endParaRPr lang="en-US" sz="980" dirty="0"/>
          </a:p>
        </p:txBody>
      </p:sp>
      <p:sp>
        <p:nvSpPr>
          <p:cNvPr id="14" name="Shape 12"/>
          <p:cNvSpPr/>
          <p:nvPr/>
        </p:nvSpPr>
        <p:spPr>
          <a:xfrm>
            <a:off x="6181344" y="1600200"/>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6400800" y="1783080"/>
            <a:ext cx="402336" cy="402336"/>
          </a:xfrm>
          <a:prstGeom prst="ellipse">
            <a:avLst/>
          </a:prstGeom>
          <a:solidFill>
            <a:srgbClr val="E0913A"/>
          </a:solidFill>
          <a:ln/>
        </p:spPr>
      </p:sp>
      <p:sp>
        <p:nvSpPr>
          <p:cNvPr id="16" name="Text 14"/>
          <p:cNvSpPr/>
          <p:nvPr/>
        </p:nvSpPr>
        <p:spPr>
          <a:xfrm>
            <a:off x="6400800"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t>
            </a:r>
            <a:endParaRPr lang="en-US" sz="1250" dirty="0"/>
          </a:p>
        </p:txBody>
      </p:sp>
      <p:sp>
        <p:nvSpPr>
          <p:cNvPr id="17" name="Text 15"/>
          <p:cNvSpPr/>
          <p:nvPr/>
        </p:nvSpPr>
        <p:spPr>
          <a:xfrm>
            <a:off x="6912864" y="1746504"/>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Calculator</a:t>
            </a:r>
            <a:endParaRPr lang="en-US" sz="1250" dirty="0"/>
          </a:p>
        </p:txBody>
      </p:sp>
      <p:sp>
        <p:nvSpPr>
          <p:cNvPr id="18" name="Text 16"/>
          <p:cNvSpPr/>
          <p:nvPr/>
        </p:nvSpPr>
        <p:spPr>
          <a:xfrm>
            <a:off x="6419088" y="2221992"/>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Arithmetic, powers and roots, worked where the room can see it.</a:t>
            </a:r>
            <a:endParaRPr lang="en-US" sz="980" dirty="0"/>
          </a:p>
        </p:txBody>
      </p:sp>
      <p:sp>
        <p:nvSpPr>
          <p:cNvPr id="19" name="Shape 17"/>
          <p:cNvSpPr/>
          <p:nvPr/>
        </p:nvSpPr>
        <p:spPr>
          <a:xfrm>
            <a:off x="8997696" y="1600200"/>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9217152" y="1783080"/>
            <a:ext cx="402336" cy="402336"/>
          </a:xfrm>
          <a:prstGeom prst="ellipse">
            <a:avLst/>
          </a:prstGeom>
          <a:solidFill>
            <a:srgbClr val="E0913A"/>
          </a:solidFill>
          <a:ln/>
        </p:spPr>
      </p:sp>
      <p:sp>
        <p:nvSpPr>
          <p:cNvPr id="21" name="Text 19"/>
          <p:cNvSpPr/>
          <p:nvPr/>
        </p:nvSpPr>
        <p:spPr>
          <a:xfrm>
            <a:off x="9217152"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2" name="Text 20"/>
          <p:cNvSpPr/>
          <p:nvPr/>
        </p:nvSpPr>
        <p:spPr>
          <a:xfrm>
            <a:off x="9729216" y="1746504"/>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3D structures</a:t>
            </a:r>
            <a:endParaRPr lang="en-US" sz="1250" dirty="0"/>
          </a:p>
        </p:txBody>
      </p:sp>
      <p:sp>
        <p:nvSpPr>
          <p:cNvPr id="23" name="Text 21"/>
          <p:cNvSpPr/>
          <p:nvPr/>
        </p:nvSpPr>
        <p:spPr>
          <a:xfrm>
            <a:off x="9235440" y="2221992"/>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 molecule, crystal, protein or orbit, turned. Measured, never drawn.</a:t>
            </a:r>
            <a:endParaRPr lang="en-US" sz="980" dirty="0"/>
          </a:p>
        </p:txBody>
      </p:sp>
      <p:sp>
        <p:nvSpPr>
          <p:cNvPr id="24" name="Shape 22"/>
          <p:cNvSpPr/>
          <p:nvPr/>
        </p:nvSpPr>
        <p:spPr>
          <a:xfrm>
            <a:off x="548640" y="3118104"/>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3300984"/>
            <a:ext cx="402336" cy="402336"/>
          </a:xfrm>
          <a:prstGeom prst="ellipse">
            <a:avLst/>
          </a:prstGeom>
          <a:solidFill>
            <a:srgbClr val="E0913A"/>
          </a:solidFill>
          <a:ln/>
        </p:spPr>
      </p:sp>
      <p:sp>
        <p:nvSpPr>
          <p:cNvPr id="26" name="Text 24"/>
          <p:cNvSpPr/>
          <p:nvPr/>
        </p:nvSpPr>
        <p:spPr>
          <a:xfrm>
            <a:off x="768096"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t>
            </a:r>
            <a:endParaRPr lang="en-US" sz="1250" dirty="0"/>
          </a:p>
        </p:txBody>
      </p:sp>
      <p:sp>
        <p:nvSpPr>
          <p:cNvPr id="27" name="Text 25"/>
          <p:cNvSpPr/>
          <p:nvPr/>
        </p:nvSpPr>
        <p:spPr>
          <a:xfrm>
            <a:off x="1280160" y="3264408"/>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Search the sources</a:t>
            </a:r>
            <a:endParaRPr lang="en-US" sz="1250" dirty="0"/>
          </a:p>
        </p:txBody>
      </p:sp>
      <p:sp>
        <p:nvSpPr>
          <p:cNvPr id="28" name="Text 26"/>
          <p:cNvSpPr/>
          <p:nvPr/>
        </p:nvSpPr>
        <p:spPr>
          <a:xfrm>
            <a:off x="786384" y="3739896"/>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 photograph or structure from the open catalogues, with its licence.</a:t>
            </a:r>
            <a:endParaRPr lang="en-US" sz="980" dirty="0"/>
          </a:p>
        </p:txBody>
      </p:sp>
      <p:sp>
        <p:nvSpPr>
          <p:cNvPr id="29" name="Shape 27"/>
          <p:cNvSpPr/>
          <p:nvPr/>
        </p:nvSpPr>
        <p:spPr>
          <a:xfrm>
            <a:off x="3364992" y="3118104"/>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3584448" y="3300984"/>
            <a:ext cx="402336" cy="402336"/>
          </a:xfrm>
          <a:prstGeom prst="ellipse">
            <a:avLst/>
          </a:prstGeom>
          <a:solidFill>
            <a:srgbClr val="E0913A"/>
          </a:solidFill>
          <a:ln/>
        </p:spPr>
      </p:sp>
      <p:sp>
        <p:nvSpPr>
          <p:cNvPr id="31" name="Text 29"/>
          <p:cNvSpPr/>
          <p:nvPr/>
        </p:nvSpPr>
        <p:spPr>
          <a:xfrm>
            <a:off x="3584448"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t>
            </a:r>
            <a:endParaRPr lang="en-US" sz="1250" dirty="0"/>
          </a:p>
        </p:txBody>
      </p:sp>
      <p:sp>
        <p:nvSpPr>
          <p:cNvPr id="32" name="Text 30"/>
          <p:cNvSpPr/>
          <p:nvPr/>
        </p:nvSpPr>
        <p:spPr>
          <a:xfrm>
            <a:off x="4096512" y="3264408"/>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Simulations</a:t>
            </a:r>
            <a:endParaRPr lang="en-US" sz="1250" dirty="0"/>
          </a:p>
        </p:txBody>
      </p:sp>
      <p:sp>
        <p:nvSpPr>
          <p:cNvPr id="33" name="Text 31"/>
          <p:cNvSpPr/>
          <p:nvPr/>
        </p:nvSpPr>
        <p:spPr>
          <a:xfrm>
            <a:off x="3602736" y="3739896"/>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PhET: build an atom, wire a circuit, balance an equation.</a:t>
            </a:r>
            <a:endParaRPr lang="en-US" sz="980" dirty="0"/>
          </a:p>
        </p:txBody>
      </p:sp>
      <p:sp>
        <p:nvSpPr>
          <p:cNvPr id="34" name="Shape 32"/>
          <p:cNvSpPr/>
          <p:nvPr/>
        </p:nvSpPr>
        <p:spPr>
          <a:xfrm>
            <a:off x="6181344" y="3118104"/>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35" name="Shape 33"/>
          <p:cNvSpPr/>
          <p:nvPr/>
        </p:nvSpPr>
        <p:spPr>
          <a:xfrm>
            <a:off x="6400800" y="3300984"/>
            <a:ext cx="402336" cy="402336"/>
          </a:xfrm>
          <a:prstGeom prst="ellipse">
            <a:avLst/>
          </a:prstGeom>
          <a:solidFill>
            <a:srgbClr val="E0913A"/>
          </a:solidFill>
          <a:ln/>
        </p:spPr>
      </p:sp>
      <p:sp>
        <p:nvSpPr>
          <p:cNvPr id="36" name="Text 34"/>
          <p:cNvSpPr/>
          <p:nvPr/>
        </p:nvSpPr>
        <p:spPr>
          <a:xfrm>
            <a:off x="6400800"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Q</a:t>
            </a:r>
            <a:endParaRPr lang="en-US" sz="1250" dirty="0"/>
          </a:p>
        </p:txBody>
      </p:sp>
      <p:sp>
        <p:nvSpPr>
          <p:cNvPr id="37" name="Text 35"/>
          <p:cNvSpPr/>
          <p:nvPr/>
        </p:nvSpPr>
        <p:spPr>
          <a:xfrm>
            <a:off x="6912864" y="3264408"/>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Scan a problem</a:t>
            </a:r>
            <a:endParaRPr lang="en-US" sz="1250" dirty="0"/>
          </a:p>
        </p:txBody>
      </p:sp>
      <p:sp>
        <p:nvSpPr>
          <p:cNvPr id="38" name="Text 36"/>
          <p:cNvSpPr/>
          <p:nvPr/>
        </p:nvSpPr>
        <p:spPr>
          <a:xfrm>
            <a:off x="6419088" y="3739896"/>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Photograph a question from a book and have it worked through.</a:t>
            </a:r>
            <a:endParaRPr lang="en-US" sz="980" dirty="0"/>
          </a:p>
        </p:txBody>
      </p:sp>
      <p:sp>
        <p:nvSpPr>
          <p:cNvPr id="39" name="Shape 37"/>
          <p:cNvSpPr/>
          <p:nvPr/>
        </p:nvSpPr>
        <p:spPr>
          <a:xfrm>
            <a:off x="8997696" y="3118104"/>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40" name="Shape 38"/>
          <p:cNvSpPr/>
          <p:nvPr/>
        </p:nvSpPr>
        <p:spPr>
          <a:xfrm>
            <a:off x="9217152" y="3300984"/>
            <a:ext cx="402336" cy="402336"/>
          </a:xfrm>
          <a:prstGeom prst="ellipse">
            <a:avLst/>
          </a:prstGeom>
          <a:solidFill>
            <a:srgbClr val="E0913A"/>
          </a:solidFill>
          <a:ln/>
        </p:spPr>
      </p:sp>
      <p:sp>
        <p:nvSpPr>
          <p:cNvPr id="41" name="Text 39"/>
          <p:cNvSpPr/>
          <p:nvPr/>
        </p:nvSpPr>
        <p:spPr>
          <a:xfrm>
            <a:off x="9217152"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a:t>
            </a:r>
            <a:endParaRPr lang="en-US" sz="1250" dirty="0"/>
          </a:p>
        </p:txBody>
      </p:sp>
      <p:sp>
        <p:nvSpPr>
          <p:cNvPr id="42" name="Text 40"/>
          <p:cNvSpPr/>
          <p:nvPr/>
        </p:nvSpPr>
        <p:spPr>
          <a:xfrm>
            <a:off x="9729216" y="3264408"/>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Courses and exams</a:t>
            </a:r>
            <a:endParaRPr lang="en-US" sz="1250" dirty="0"/>
          </a:p>
        </p:txBody>
      </p:sp>
      <p:sp>
        <p:nvSpPr>
          <p:cNvPr id="43" name="Text 41"/>
          <p:cNvSpPr/>
          <p:nvPr/>
        </p:nvSpPr>
        <p:spPr>
          <a:xfrm>
            <a:off x="9235440" y="3739896"/>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 lessons, the labs you type into, and the track exams.</a:t>
            </a:r>
            <a:endParaRPr lang="en-US" sz="980" dirty="0"/>
          </a:p>
        </p:txBody>
      </p:sp>
      <p:sp>
        <p:nvSpPr>
          <p:cNvPr id="44" name="Shape 42"/>
          <p:cNvSpPr/>
          <p:nvPr/>
        </p:nvSpPr>
        <p:spPr>
          <a:xfrm>
            <a:off x="548640" y="4636008"/>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45" name="Shape 43"/>
          <p:cNvSpPr/>
          <p:nvPr/>
        </p:nvSpPr>
        <p:spPr>
          <a:xfrm>
            <a:off x="768096" y="4818888"/>
            <a:ext cx="402336" cy="402336"/>
          </a:xfrm>
          <a:prstGeom prst="ellipse">
            <a:avLst/>
          </a:prstGeom>
          <a:solidFill>
            <a:srgbClr val="E0913A"/>
          </a:solidFill>
          <a:ln/>
        </p:spPr>
      </p:sp>
      <p:sp>
        <p:nvSpPr>
          <p:cNvPr id="46" name="Text 44"/>
          <p:cNvSpPr/>
          <p:nvPr/>
        </p:nvSpPr>
        <p:spPr>
          <a:xfrm>
            <a:off x="768096"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a:t>
            </a:r>
            <a:endParaRPr lang="en-US" sz="1250" dirty="0"/>
          </a:p>
        </p:txBody>
      </p:sp>
      <p:sp>
        <p:nvSpPr>
          <p:cNvPr id="47" name="Text 45"/>
          <p:cNvSpPr/>
          <p:nvPr/>
        </p:nvSpPr>
        <p:spPr>
          <a:xfrm>
            <a:off x="1280160" y="4782312"/>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Trace a packet</a:t>
            </a:r>
            <a:endParaRPr lang="en-US" sz="1250" dirty="0"/>
          </a:p>
        </p:txBody>
      </p:sp>
      <p:sp>
        <p:nvSpPr>
          <p:cNvPr id="48" name="Text 46"/>
          <p:cNvSpPr/>
          <p:nvPr/>
        </p:nvSpPr>
        <p:spPr>
          <a:xfrm>
            <a:off x="786384" y="5257800"/>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Send a packet through real routes and firewall rules.</a:t>
            </a:r>
            <a:endParaRPr lang="en-US" sz="980" dirty="0"/>
          </a:p>
        </p:txBody>
      </p:sp>
      <p:sp>
        <p:nvSpPr>
          <p:cNvPr id="49" name="Shape 47"/>
          <p:cNvSpPr/>
          <p:nvPr/>
        </p:nvSpPr>
        <p:spPr>
          <a:xfrm>
            <a:off x="3364992" y="4636008"/>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50" name="Shape 48"/>
          <p:cNvSpPr/>
          <p:nvPr/>
        </p:nvSpPr>
        <p:spPr>
          <a:xfrm>
            <a:off x="3584448" y="4818888"/>
            <a:ext cx="402336" cy="402336"/>
          </a:xfrm>
          <a:prstGeom prst="ellipse">
            <a:avLst/>
          </a:prstGeom>
          <a:solidFill>
            <a:srgbClr val="E0913A"/>
          </a:solidFill>
          <a:ln/>
        </p:spPr>
      </p:sp>
      <p:sp>
        <p:nvSpPr>
          <p:cNvPr id="51" name="Text 49"/>
          <p:cNvSpPr/>
          <p:nvPr/>
        </p:nvSpPr>
        <p:spPr>
          <a:xfrm>
            <a:off x="3584448"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t>
            </a:r>
            <a:endParaRPr lang="en-US" sz="1250" dirty="0"/>
          </a:p>
        </p:txBody>
      </p:sp>
      <p:sp>
        <p:nvSpPr>
          <p:cNvPr id="52" name="Text 50"/>
          <p:cNvSpPr/>
          <p:nvPr/>
        </p:nvSpPr>
        <p:spPr>
          <a:xfrm>
            <a:off x="4096512" y="4782312"/>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lab</a:t>
            </a:r>
            <a:endParaRPr lang="en-US" sz="1250" dirty="0"/>
          </a:p>
        </p:txBody>
      </p:sp>
      <p:sp>
        <p:nvSpPr>
          <p:cNvPr id="53" name="Text 51"/>
          <p:cNvSpPr/>
          <p:nvPr/>
        </p:nvSpPr>
        <p:spPr>
          <a:xfrm>
            <a:off x="3602736" y="5257800"/>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Mix real reagents. Every reaction from a table, never guessed.</a:t>
            </a:r>
            <a:endParaRPr lang="en-US" sz="980" dirty="0"/>
          </a:p>
        </p:txBody>
      </p:sp>
      <p:sp>
        <p:nvSpPr>
          <p:cNvPr id="54" name="Shape 52"/>
          <p:cNvSpPr/>
          <p:nvPr/>
        </p:nvSpPr>
        <p:spPr>
          <a:xfrm>
            <a:off x="6181344" y="4636008"/>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55" name="Shape 53"/>
          <p:cNvSpPr/>
          <p:nvPr/>
        </p:nvSpPr>
        <p:spPr>
          <a:xfrm>
            <a:off x="6400800" y="4818888"/>
            <a:ext cx="402336" cy="402336"/>
          </a:xfrm>
          <a:prstGeom prst="ellipse">
            <a:avLst/>
          </a:prstGeom>
          <a:solidFill>
            <a:srgbClr val="E0913A"/>
          </a:solidFill>
          <a:ln/>
        </p:spPr>
      </p:sp>
      <p:sp>
        <p:nvSpPr>
          <p:cNvPr id="56" name="Text 54"/>
          <p:cNvSpPr/>
          <p:nvPr/>
        </p:nvSpPr>
        <p:spPr>
          <a:xfrm>
            <a:off x="6400800"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
            </a:r>
            <a:endParaRPr lang="en-US" sz="1250" dirty="0"/>
          </a:p>
        </p:txBody>
      </p:sp>
      <p:sp>
        <p:nvSpPr>
          <p:cNvPr id="57" name="Text 55"/>
          <p:cNvSpPr/>
          <p:nvPr/>
        </p:nvSpPr>
        <p:spPr>
          <a:xfrm>
            <a:off x="6912864" y="4782312"/>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SQL board</a:t>
            </a:r>
            <a:endParaRPr lang="en-US" sz="1250" dirty="0"/>
          </a:p>
        </p:txBody>
      </p:sp>
      <p:sp>
        <p:nvSpPr>
          <p:cNvPr id="58" name="Text 56"/>
          <p:cNvSpPr/>
          <p:nvPr/>
        </p:nvSpPr>
        <p:spPr>
          <a:xfrm>
            <a:off x="6419088" y="5257800"/>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Write queries against a real database and see what comes back.</a:t>
            </a:r>
            <a:endParaRPr lang="en-US" sz="980" dirty="0"/>
          </a:p>
        </p:txBody>
      </p:sp>
      <p:sp>
        <p:nvSpPr>
          <p:cNvPr id="59" name="Shape 57"/>
          <p:cNvSpPr/>
          <p:nvPr/>
        </p:nvSpPr>
        <p:spPr>
          <a:xfrm>
            <a:off x="8997696" y="4636008"/>
            <a:ext cx="2615184"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60" name="Shape 58"/>
          <p:cNvSpPr/>
          <p:nvPr/>
        </p:nvSpPr>
        <p:spPr>
          <a:xfrm>
            <a:off x="9217152" y="4818888"/>
            <a:ext cx="402336" cy="402336"/>
          </a:xfrm>
          <a:prstGeom prst="ellipse">
            <a:avLst/>
          </a:prstGeom>
          <a:solidFill>
            <a:srgbClr val="E0913A"/>
          </a:solidFill>
          <a:ln/>
        </p:spPr>
      </p:sp>
      <p:sp>
        <p:nvSpPr>
          <p:cNvPr id="61" name="Text 59"/>
          <p:cNvSpPr/>
          <p:nvPr/>
        </p:nvSpPr>
        <p:spPr>
          <a:xfrm>
            <a:off x="9217152"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p>
        </p:txBody>
      </p:sp>
      <p:sp>
        <p:nvSpPr>
          <p:cNvPr id="62" name="Text 60"/>
          <p:cNvSpPr/>
          <p:nvPr/>
        </p:nvSpPr>
        <p:spPr>
          <a:xfrm>
            <a:off x="9729216" y="4782312"/>
            <a:ext cx="1700784"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Remote</a:t>
            </a:r>
            <a:endParaRPr lang="en-US" sz="1250" dirty="0"/>
          </a:p>
        </p:txBody>
      </p:sp>
      <p:sp>
        <p:nvSpPr>
          <p:cNvPr id="63" name="Text 61"/>
          <p:cNvSpPr/>
          <p:nvPr/>
        </p:nvSpPr>
        <p:spPr>
          <a:xfrm>
            <a:off x="9235440" y="5257800"/>
            <a:ext cx="2139696"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Drive the board from a phone and teach facing the room.</a:t>
            </a:r>
            <a:endParaRPr lang="en-US" sz="980" dirty="0"/>
          </a:p>
        </p:txBody>
      </p:sp>
      <p:sp>
        <p:nvSpPr>
          <p:cNvPr id="64" name="Text 62"/>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Any two of these open side by side on one board — the lesson on the left, the simulation on the right.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ON THE BOARD</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What a teacher does with it, mid-lesson</a:t>
            </a:r>
            <a:endParaRPr lang="en-US" sz="3300" dirty="0"/>
          </a:p>
        </p:txBody>
      </p:sp>
      <p:sp>
        <p:nvSpPr>
          <p:cNvPr id="4" name="Shape 2"/>
          <p:cNvSpPr/>
          <p:nvPr/>
        </p:nvSpPr>
        <p:spPr>
          <a:xfrm>
            <a:off x="548640" y="1600200"/>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280160" y="1746504"/>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Write anywhere on the screen</a:t>
            </a:r>
            <a:endParaRPr lang="en-US" sz="1250" dirty="0"/>
          </a:p>
        </p:txBody>
      </p:sp>
      <p:sp>
        <p:nvSpPr>
          <p:cNvPr id="8" name="Text 6"/>
          <p:cNvSpPr/>
          <p:nvPr/>
        </p:nvSpPr>
        <p:spPr>
          <a:xfrm>
            <a:off x="786384" y="2221992"/>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Pen or finger, over anything — a diagram, a simulation, a PDF. Not only in a canvas.</a:t>
            </a:r>
            <a:endParaRPr lang="en-US" sz="980" dirty="0"/>
          </a:p>
        </p:txBody>
      </p:sp>
      <p:sp>
        <p:nvSpPr>
          <p:cNvPr id="9" name="Shape 7"/>
          <p:cNvSpPr/>
          <p:nvPr/>
        </p:nvSpPr>
        <p:spPr>
          <a:xfrm>
            <a:off x="4303776" y="1600200"/>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4523232" y="1783080"/>
            <a:ext cx="402336" cy="402336"/>
          </a:xfrm>
          <a:prstGeom prst="ellipse">
            <a:avLst/>
          </a:prstGeom>
          <a:solidFill>
            <a:srgbClr val="E0913A"/>
          </a:solidFill>
          <a:ln/>
        </p:spPr>
      </p:sp>
      <p:sp>
        <p:nvSpPr>
          <p:cNvPr id="11" name="Text 9"/>
          <p:cNvSpPr/>
          <p:nvPr/>
        </p:nvSpPr>
        <p:spPr>
          <a:xfrm>
            <a:off x="4523232"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5035296" y="1746504"/>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Mark a line and ask</a:t>
            </a:r>
            <a:endParaRPr lang="en-US" sz="1250" dirty="0"/>
          </a:p>
        </p:txBody>
      </p:sp>
      <p:sp>
        <p:nvSpPr>
          <p:cNvPr id="13" name="Text 11"/>
          <p:cNvSpPr/>
          <p:nvPr/>
        </p:nvSpPr>
        <p:spPr>
          <a:xfrm>
            <a:off x="4541520" y="2221992"/>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Circle an equation: Copy, Paste, or Ask Axle. The answer opens in a window you can resize.</a:t>
            </a:r>
            <a:endParaRPr lang="en-US" sz="980" dirty="0"/>
          </a:p>
        </p:txBody>
      </p:sp>
      <p:sp>
        <p:nvSpPr>
          <p:cNvPr id="14" name="Shape 12"/>
          <p:cNvSpPr/>
          <p:nvPr/>
        </p:nvSpPr>
        <p:spPr>
          <a:xfrm>
            <a:off x="8058912" y="1600200"/>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8278368" y="1783080"/>
            <a:ext cx="402336" cy="402336"/>
          </a:xfrm>
          <a:prstGeom prst="ellipse">
            <a:avLst/>
          </a:prstGeom>
          <a:solidFill>
            <a:srgbClr val="E0913A"/>
          </a:solidFill>
          <a:ln/>
        </p:spPr>
      </p:sp>
      <p:sp>
        <p:nvSpPr>
          <p:cNvPr id="16" name="Text 14"/>
          <p:cNvSpPr/>
          <p:nvPr/>
        </p:nvSpPr>
        <p:spPr>
          <a:xfrm>
            <a:off x="8278368"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8790432" y="1746504"/>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Undo, redo, thickness, rub out</a:t>
            </a:r>
            <a:endParaRPr lang="en-US" sz="1250" dirty="0"/>
          </a:p>
        </p:txBody>
      </p:sp>
      <p:sp>
        <p:nvSpPr>
          <p:cNvPr id="18" name="Text 16"/>
          <p:cNvSpPr/>
          <p:nvPr/>
        </p:nvSpPr>
        <p:spPr>
          <a:xfrm>
            <a:off x="8296656" y="2221992"/>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 controls a person mid-sentence can hit without reading a menu.</a:t>
            </a:r>
            <a:endParaRPr lang="en-US" sz="980" dirty="0"/>
          </a:p>
        </p:txBody>
      </p:sp>
      <p:sp>
        <p:nvSpPr>
          <p:cNvPr id="19" name="Shape 17"/>
          <p:cNvSpPr/>
          <p:nvPr/>
        </p:nvSpPr>
        <p:spPr>
          <a:xfrm>
            <a:off x="548640" y="3118104"/>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768096" y="3300984"/>
            <a:ext cx="402336" cy="402336"/>
          </a:xfrm>
          <a:prstGeom prst="ellipse">
            <a:avLst/>
          </a:prstGeom>
          <a:solidFill>
            <a:srgbClr val="E0913A"/>
          </a:solidFill>
          <a:ln/>
        </p:spPr>
      </p:sp>
      <p:sp>
        <p:nvSpPr>
          <p:cNvPr id="21" name="Text 19"/>
          <p:cNvSpPr/>
          <p:nvPr/>
        </p:nvSpPr>
        <p:spPr>
          <a:xfrm>
            <a:off x="768096"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1280160" y="3264408"/>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Save the board as a picture</a:t>
            </a:r>
            <a:endParaRPr lang="en-US" sz="1250" dirty="0"/>
          </a:p>
        </p:txBody>
      </p:sp>
      <p:sp>
        <p:nvSpPr>
          <p:cNvPr id="23" name="Text 21"/>
          <p:cNvSpPr/>
          <p:nvPr/>
        </p:nvSpPr>
        <p:spPr>
          <a:xfrm>
            <a:off x="786384" y="3739896"/>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Or screenshot one space. It lands in the study material.</a:t>
            </a:r>
            <a:endParaRPr lang="en-US" sz="980" dirty="0"/>
          </a:p>
        </p:txBody>
      </p:sp>
      <p:sp>
        <p:nvSpPr>
          <p:cNvPr id="24" name="Shape 22"/>
          <p:cNvSpPr/>
          <p:nvPr/>
        </p:nvSpPr>
        <p:spPr>
          <a:xfrm>
            <a:off x="4303776" y="3118104"/>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4523232" y="3300984"/>
            <a:ext cx="402336" cy="402336"/>
          </a:xfrm>
          <a:prstGeom prst="ellipse">
            <a:avLst/>
          </a:prstGeom>
          <a:solidFill>
            <a:srgbClr val="E0913A"/>
          </a:solidFill>
          <a:ln/>
        </p:spPr>
      </p:sp>
      <p:sp>
        <p:nvSpPr>
          <p:cNvPr id="26" name="Text 24"/>
          <p:cNvSpPr/>
          <p:nvPr/>
        </p:nvSpPr>
        <p:spPr>
          <a:xfrm>
            <a:off x="4523232"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5035296" y="3264408"/>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Two spaces side by side</a:t>
            </a:r>
            <a:endParaRPr lang="en-US" sz="1250" dirty="0"/>
          </a:p>
        </p:txBody>
      </p:sp>
      <p:sp>
        <p:nvSpPr>
          <p:cNvPr id="28" name="Text 26"/>
          <p:cNvSpPr/>
          <p:nvPr/>
        </p:nvSpPr>
        <p:spPr>
          <a:xfrm>
            <a:off x="4541520" y="3739896"/>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 lesson on one half, the lab or the simulation on the other.</a:t>
            </a:r>
            <a:endParaRPr lang="en-US" sz="980" dirty="0"/>
          </a:p>
        </p:txBody>
      </p:sp>
      <p:sp>
        <p:nvSpPr>
          <p:cNvPr id="29" name="Shape 27"/>
          <p:cNvSpPr/>
          <p:nvPr/>
        </p:nvSpPr>
        <p:spPr>
          <a:xfrm>
            <a:off x="8058912" y="3118104"/>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8278368" y="3300984"/>
            <a:ext cx="402336" cy="402336"/>
          </a:xfrm>
          <a:prstGeom prst="ellipse">
            <a:avLst/>
          </a:prstGeom>
          <a:solidFill>
            <a:srgbClr val="E0913A"/>
          </a:solidFill>
          <a:ln/>
        </p:spPr>
      </p:sp>
      <p:sp>
        <p:nvSpPr>
          <p:cNvPr id="31" name="Text 29"/>
          <p:cNvSpPr/>
          <p:nvPr/>
        </p:nvSpPr>
        <p:spPr>
          <a:xfrm>
            <a:off x="8278368" y="33009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p:nvPr/>
        </p:nvSpPr>
        <p:spPr>
          <a:xfrm>
            <a:off x="8790432" y="3264408"/>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Say it instead of typing</a:t>
            </a:r>
            <a:endParaRPr lang="en-US" sz="1250" dirty="0"/>
          </a:p>
        </p:txBody>
      </p:sp>
      <p:sp>
        <p:nvSpPr>
          <p:cNvPr id="33" name="Text 31"/>
          <p:cNvSpPr/>
          <p:nvPr/>
        </p:nvSpPr>
        <p:spPr>
          <a:xfrm>
            <a:off x="8296656" y="3739896"/>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Speak the topic. Useful with chalk in the other hand.</a:t>
            </a:r>
            <a:endParaRPr lang="en-US" sz="980" dirty="0"/>
          </a:p>
        </p:txBody>
      </p:sp>
      <p:sp>
        <p:nvSpPr>
          <p:cNvPr id="34" name="Shape 32"/>
          <p:cNvSpPr/>
          <p:nvPr/>
        </p:nvSpPr>
        <p:spPr>
          <a:xfrm>
            <a:off x="548640" y="4636008"/>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35" name="Shape 33"/>
          <p:cNvSpPr/>
          <p:nvPr/>
        </p:nvSpPr>
        <p:spPr>
          <a:xfrm>
            <a:off x="768096" y="4818888"/>
            <a:ext cx="402336" cy="402336"/>
          </a:xfrm>
          <a:prstGeom prst="ellipse">
            <a:avLst/>
          </a:prstGeom>
          <a:solidFill>
            <a:srgbClr val="E0913A"/>
          </a:solidFill>
          <a:ln/>
        </p:spPr>
      </p:sp>
      <p:sp>
        <p:nvSpPr>
          <p:cNvPr id="36" name="Text 34"/>
          <p:cNvSpPr/>
          <p:nvPr/>
        </p:nvSpPr>
        <p:spPr>
          <a:xfrm>
            <a:off x="768096"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37" name="Text 35"/>
          <p:cNvSpPr/>
          <p:nvPr/>
        </p:nvSpPr>
        <p:spPr>
          <a:xfrm>
            <a:off x="1280160" y="4782312"/>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 PDF as-is, or as a lesson</a:t>
            </a:r>
            <a:endParaRPr lang="en-US" sz="1250" dirty="0"/>
          </a:p>
        </p:txBody>
      </p:sp>
      <p:sp>
        <p:nvSpPr>
          <p:cNvPr id="38" name="Text 36"/>
          <p:cNvSpPr/>
          <p:nvPr/>
        </p:nvSpPr>
        <p:spPr>
          <a:xfrm>
            <a:off x="786384" y="5257800"/>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Upload a chapter: show it exactly as it is, or have it written up and taught.</a:t>
            </a:r>
            <a:endParaRPr lang="en-US" sz="980" dirty="0"/>
          </a:p>
        </p:txBody>
      </p:sp>
      <p:sp>
        <p:nvSpPr>
          <p:cNvPr id="39" name="Shape 37"/>
          <p:cNvSpPr/>
          <p:nvPr/>
        </p:nvSpPr>
        <p:spPr>
          <a:xfrm>
            <a:off x="4303776" y="4636008"/>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40" name="Shape 38"/>
          <p:cNvSpPr/>
          <p:nvPr/>
        </p:nvSpPr>
        <p:spPr>
          <a:xfrm>
            <a:off x="4523232" y="4818888"/>
            <a:ext cx="402336" cy="402336"/>
          </a:xfrm>
          <a:prstGeom prst="ellipse">
            <a:avLst/>
          </a:prstGeom>
          <a:solidFill>
            <a:srgbClr val="E0913A"/>
          </a:solidFill>
          <a:ln/>
        </p:spPr>
      </p:sp>
      <p:sp>
        <p:nvSpPr>
          <p:cNvPr id="41" name="Text 39"/>
          <p:cNvSpPr/>
          <p:nvPr/>
        </p:nvSpPr>
        <p:spPr>
          <a:xfrm>
            <a:off x="4523232"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8</a:t>
            </a:r>
            <a:endParaRPr lang="en-US" sz="1250" dirty="0"/>
          </a:p>
        </p:txBody>
      </p:sp>
      <p:sp>
        <p:nvSpPr>
          <p:cNvPr id="42" name="Text 40"/>
          <p:cNvSpPr/>
          <p:nvPr/>
        </p:nvSpPr>
        <p:spPr>
          <a:xfrm>
            <a:off x="5035296" y="4782312"/>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Lines, not paragraphs</a:t>
            </a:r>
            <a:endParaRPr lang="en-US" sz="1250" dirty="0"/>
          </a:p>
        </p:txBody>
      </p:sp>
      <p:sp>
        <p:nvSpPr>
          <p:cNvPr id="43" name="Text 41"/>
          <p:cNvSpPr/>
          <p:nvPr/>
        </p:nvSpPr>
        <p:spPr>
          <a:xfrm>
            <a:off x="4541520" y="5257800"/>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Explanations come out line by line, so a room can read them from the back.</a:t>
            </a:r>
            <a:endParaRPr lang="en-US" sz="980" dirty="0"/>
          </a:p>
        </p:txBody>
      </p:sp>
      <p:sp>
        <p:nvSpPr>
          <p:cNvPr id="44" name="Shape 42"/>
          <p:cNvSpPr/>
          <p:nvPr/>
        </p:nvSpPr>
        <p:spPr>
          <a:xfrm>
            <a:off x="8058912" y="4636008"/>
            <a:ext cx="3553968" cy="1371600"/>
          </a:xfrm>
          <a:prstGeom prst="roundRect">
            <a:avLst>
              <a:gd name="adj" fmla="val 7333"/>
            </a:avLst>
          </a:prstGeom>
          <a:solidFill>
            <a:srgbClr val="E7EDE7"/>
          </a:solidFill>
          <a:ln/>
          <a:effectLst>
            <a:outerShdw sx="100000" sy="100000" kx="0" ky="0" algn="bl" rotWithShape="0" blurRad="127000" dist="25400" dir="5400000">
              <a:srgbClr val="10231E">
                <a:alpha val="16000"/>
              </a:srgbClr>
            </a:outerShdw>
          </a:effectLst>
        </p:spPr>
      </p:sp>
      <p:sp>
        <p:nvSpPr>
          <p:cNvPr id="45" name="Shape 43"/>
          <p:cNvSpPr/>
          <p:nvPr/>
        </p:nvSpPr>
        <p:spPr>
          <a:xfrm>
            <a:off x="8278368" y="4818888"/>
            <a:ext cx="402336" cy="402336"/>
          </a:xfrm>
          <a:prstGeom prst="ellipse">
            <a:avLst/>
          </a:prstGeom>
          <a:solidFill>
            <a:srgbClr val="E0913A"/>
          </a:solidFill>
          <a:ln/>
        </p:spPr>
      </p:sp>
      <p:sp>
        <p:nvSpPr>
          <p:cNvPr id="46" name="Text 44"/>
          <p:cNvSpPr/>
          <p:nvPr/>
        </p:nvSpPr>
        <p:spPr>
          <a:xfrm>
            <a:off x="8278368" y="48188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9</a:t>
            </a:r>
            <a:endParaRPr lang="en-US" sz="1250" dirty="0"/>
          </a:p>
        </p:txBody>
      </p:sp>
      <p:sp>
        <p:nvSpPr>
          <p:cNvPr id="47" name="Text 45"/>
          <p:cNvSpPr/>
          <p:nvPr/>
        </p:nvSpPr>
        <p:spPr>
          <a:xfrm>
            <a:off x="8790432" y="4782312"/>
            <a:ext cx="2639568"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Report an error in this</a:t>
            </a:r>
            <a:endParaRPr lang="en-US" sz="1250" dirty="0"/>
          </a:p>
        </p:txBody>
      </p:sp>
      <p:sp>
        <p:nvSpPr>
          <p:cNvPr id="48" name="Text 46"/>
          <p:cNvSpPr/>
          <p:nvPr/>
        </p:nvSpPr>
        <p:spPr>
          <a:xfrm>
            <a:off x="8296656" y="5257800"/>
            <a:ext cx="3078480" cy="64008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 button on the answer itself. A wrong thing on a board gets reported, not argued with.</a:t>
            </a:r>
            <a:endParaRPr lang="en-US" sz="980" dirty="0"/>
          </a:p>
        </p:txBody>
      </p:sp>
      <p:sp>
        <p:nvSpPr>
          <p:cNvPr id="49" name="Text 47"/>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Every one of these exists because a teacher cannot stop the lesson to work a screen out.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WHO DOES WHAT</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The faculty member</a:t>
            </a:r>
            <a:endParaRPr lang="en-US" sz="3300" dirty="0"/>
          </a:p>
        </p:txBody>
      </p:sp>
      <p:sp>
        <p:nvSpPr>
          <p:cNvPr id="4" name="Shape 2"/>
          <p:cNvSpPr/>
          <p:nvPr/>
        </p:nvSpPr>
        <p:spPr>
          <a:xfrm>
            <a:off x="548640" y="1600200"/>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856232"/>
            <a:ext cx="402336" cy="402336"/>
          </a:xfrm>
          <a:prstGeom prst="ellipse">
            <a:avLst/>
          </a:prstGeom>
          <a:solidFill>
            <a:srgbClr val="E0913A"/>
          </a:solidFill>
          <a:ln/>
        </p:spPr>
      </p:sp>
      <p:sp>
        <p:nvSpPr>
          <p:cNvPr id="6" name="Text 4"/>
          <p:cNvSpPr/>
          <p:nvPr/>
        </p:nvSpPr>
        <p:spPr>
          <a:xfrm>
            <a:off x="768096" y="1856232"/>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7" name="Text 5"/>
          <p:cNvSpPr/>
          <p:nvPr/>
        </p:nvSpPr>
        <p:spPr>
          <a:xfrm>
            <a:off x="1280160" y="1746504"/>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Their own classes, and only theirs</a:t>
            </a:r>
            <a:endParaRPr lang="en-US" sz="1300" dirty="0"/>
          </a:p>
        </p:txBody>
      </p:sp>
      <p:sp>
        <p:nvSpPr>
          <p:cNvPr id="8" name="Text 6"/>
          <p:cNvSpPr/>
          <p:nvPr/>
        </p:nvSpPr>
        <p:spPr>
          <a:xfrm>
            <a:off x="1280160" y="2075688"/>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They see the students they teach. Nobody else's.</a:t>
            </a:r>
            <a:endParaRPr lang="en-US" sz="1000" dirty="0"/>
          </a:p>
        </p:txBody>
      </p:sp>
      <p:sp>
        <p:nvSpPr>
          <p:cNvPr id="9" name="Shape 7"/>
          <p:cNvSpPr/>
          <p:nvPr/>
        </p:nvSpPr>
        <p:spPr>
          <a:xfrm>
            <a:off x="6181344" y="1600200"/>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6400800" y="1856232"/>
            <a:ext cx="402336" cy="402336"/>
          </a:xfrm>
          <a:prstGeom prst="ellipse">
            <a:avLst/>
          </a:prstGeom>
          <a:solidFill>
            <a:srgbClr val="E0913A"/>
          </a:solidFill>
          <a:ln/>
        </p:spPr>
      </p:sp>
      <p:sp>
        <p:nvSpPr>
          <p:cNvPr id="11" name="Text 9"/>
          <p:cNvSpPr/>
          <p:nvPr/>
        </p:nvSpPr>
        <p:spPr>
          <a:xfrm>
            <a:off x="6400800" y="1856232"/>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6912864" y="1746504"/>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Any class, several subjects</a:t>
            </a:r>
            <a:endParaRPr lang="en-US" sz="1300" dirty="0"/>
          </a:p>
        </p:txBody>
      </p:sp>
      <p:sp>
        <p:nvSpPr>
          <p:cNvPr id="13" name="Text 11"/>
          <p:cNvSpPr/>
          <p:nvPr/>
        </p:nvSpPr>
        <p:spPr>
          <a:xfrm>
            <a:off x="6912864" y="2075688"/>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One person can hold two classes and three subjects at once.</a:t>
            </a:r>
            <a:endParaRPr lang="en-US" sz="1000" dirty="0"/>
          </a:p>
        </p:txBody>
      </p:sp>
      <p:sp>
        <p:nvSpPr>
          <p:cNvPr id="14" name="Shape 12"/>
          <p:cNvSpPr/>
          <p:nvPr/>
        </p:nvSpPr>
        <p:spPr>
          <a:xfrm>
            <a:off x="548640" y="2734056"/>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768096" y="2990088"/>
            <a:ext cx="402336" cy="402336"/>
          </a:xfrm>
          <a:prstGeom prst="ellipse">
            <a:avLst/>
          </a:prstGeom>
          <a:solidFill>
            <a:srgbClr val="E0913A"/>
          </a:solidFill>
          <a:ln/>
        </p:spPr>
      </p:sp>
      <p:sp>
        <p:nvSpPr>
          <p:cNvPr id="16" name="Text 14"/>
          <p:cNvSpPr/>
          <p:nvPr/>
        </p:nvSpPr>
        <p:spPr>
          <a:xfrm>
            <a:off x="768096" y="29900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280160" y="2880360"/>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The register</a:t>
            </a:r>
            <a:endParaRPr lang="en-US" sz="1300" dirty="0"/>
          </a:p>
        </p:txBody>
      </p:sp>
      <p:sp>
        <p:nvSpPr>
          <p:cNvPr id="18" name="Text 16"/>
          <p:cNvSpPr/>
          <p:nvPr/>
        </p:nvSpPr>
        <p:spPr>
          <a:xfrm>
            <a:off x="1280160" y="3209544"/>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Roll numbers, search, edit a row, mark attendance.</a:t>
            </a:r>
            <a:endParaRPr lang="en-US" sz="1000" dirty="0"/>
          </a:p>
        </p:txBody>
      </p:sp>
      <p:sp>
        <p:nvSpPr>
          <p:cNvPr id="19" name="Shape 17"/>
          <p:cNvSpPr/>
          <p:nvPr/>
        </p:nvSpPr>
        <p:spPr>
          <a:xfrm>
            <a:off x="6181344" y="2734056"/>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6400800" y="2990088"/>
            <a:ext cx="402336" cy="402336"/>
          </a:xfrm>
          <a:prstGeom prst="ellipse">
            <a:avLst/>
          </a:prstGeom>
          <a:solidFill>
            <a:srgbClr val="E0913A"/>
          </a:solidFill>
          <a:ln/>
        </p:spPr>
      </p:sp>
      <p:sp>
        <p:nvSpPr>
          <p:cNvPr id="21" name="Text 19"/>
          <p:cNvSpPr/>
          <p:nvPr/>
        </p:nvSpPr>
        <p:spPr>
          <a:xfrm>
            <a:off x="6400800" y="29900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6912864" y="2880360"/>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Set and collect work</a:t>
            </a:r>
            <a:endParaRPr lang="en-US" sz="1300" dirty="0"/>
          </a:p>
        </p:txBody>
      </p:sp>
      <p:sp>
        <p:nvSpPr>
          <p:cNvPr id="23" name="Text 21"/>
          <p:cNvSpPr/>
          <p:nvPr/>
        </p:nvSpPr>
        <p:spPr>
          <a:xfrm>
            <a:off x="6912864" y="3209544"/>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Post work with a due date, see submissions, close it when done.</a:t>
            </a:r>
            <a:endParaRPr lang="en-US" sz="1000" dirty="0"/>
          </a:p>
        </p:txBody>
      </p:sp>
      <p:sp>
        <p:nvSpPr>
          <p:cNvPr id="24" name="Shape 22"/>
          <p:cNvSpPr/>
          <p:nvPr/>
        </p:nvSpPr>
        <p:spPr>
          <a:xfrm>
            <a:off x="548640" y="3867912"/>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4123944"/>
            <a:ext cx="402336" cy="402336"/>
          </a:xfrm>
          <a:prstGeom prst="ellipse">
            <a:avLst/>
          </a:prstGeom>
          <a:solidFill>
            <a:srgbClr val="E0913A"/>
          </a:solidFill>
          <a:ln/>
        </p:spPr>
      </p:sp>
      <p:sp>
        <p:nvSpPr>
          <p:cNvPr id="26" name="Text 24"/>
          <p:cNvSpPr/>
          <p:nvPr/>
        </p:nvSpPr>
        <p:spPr>
          <a:xfrm>
            <a:off x="768096" y="412394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280160" y="4014216"/>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Study material</a:t>
            </a:r>
            <a:endParaRPr lang="en-US" sz="1300" dirty="0"/>
          </a:p>
        </p:txBody>
      </p:sp>
      <p:sp>
        <p:nvSpPr>
          <p:cNvPr id="28" name="Text 26"/>
          <p:cNvSpPr/>
          <p:nvPr/>
        </p:nvSpPr>
        <p:spPr>
          <a:xfrm>
            <a:off x="1280160" y="4343400"/>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Upload chapters and slides or add links, kept per subject.</a:t>
            </a:r>
            <a:endParaRPr lang="en-US" sz="1000" dirty="0"/>
          </a:p>
        </p:txBody>
      </p:sp>
      <p:sp>
        <p:nvSpPr>
          <p:cNvPr id="29" name="Shape 27"/>
          <p:cNvSpPr/>
          <p:nvPr/>
        </p:nvSpPr>
        <p:spPr>
          <a:xfrm>
            <a:off x="6181344" y="3867912"/>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6400800" y="4123944"/>
            <a:ext cx="402336" cy="402336"/>
          </a:xfrm>
          <a:prstGeom prst="ellipse">
            <a:avLst/>
          </a:prstGeom>
          <a:solidFill>
            <a:srgbClr val="E0913A"/>
          </a:solidFill>
          <a:ln/>
        </p:spPr>
      </p:sp>
      <p:sp>
        <p:nvSpPr>
          <p:cNvPr id="31" name="Text 29"/>
          <p:cNvSpPr/>
          <p:nvPr/>
        </p:nvSpPr>
        <p:spPr>
          <a:xfrm>
            <a:off x="6400800" y="412394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32" name="Text 30"/>
          <p:cNvSpPr/>
          <p:nvPr/>
        </p:nvSpPr>
        <p:spPr>
          <a:xfrm>
            <a:off x="6912864" y="4014216"/>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Subject discussion</a:t>
            </a:r>
            <a:endParaRPr lang="en-US" sz="1300" dirty="0"/>
          </a:p>
        </p:txBody>
      </p:sp>
      <p:sp>
        <p:nvSpPr>
          <p:cNvPr id="33" name="Text 31"/>
          <p:cNvSpPr/>
          <p:nvPr/>
        </p:nvSpPr>
        <p:spPr>
          <a:xfrm>
            <a:off x="6912864" y="4343400"/>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A thread the class and the teacher share, per subject.</a:t>
            </a:r>
            <a:endParaRPr lang="en-US" sz="1000" dirty="0"/>
          </a:p>
        </p:txBody>
      </p:sp>
      <p:sp>
        <p:nvSpPr>
          <p:cNvPr id="34" name="Shape 32"/>
          <p:cNvSpPr/>
          <p:nvPr/>
        </p:nvSpPr>
        <p:spPr>
          <a:xfrm>
            <a:off x="548640" y="5001768"/>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35" name="Shape 33"/>
          <p:cNvSpPr/>
          <p:nvPr/>
        </p:nvSpPr>
        <p:spPr>
          <a:xfrm>
            <a:off x="768096" y="5257800"/>
            <a:ext cx="402336" cy="402336"/>
          </a:xfrm>
          <a:prstGeom prst="ellipse">
            <a:avLst/>
          </a:prstGeom>
          <a:solidFill>
            <a:srgbClr val="E0913A"/>
          </a:solidFill>
          <a:ln/>
        </p:spPr>
      </p:sp>
      <p:sp>
        <p:nvSpPr>
          <p:cNvPr id="36" name="Text 34"/>
          <p:cNvSpPr/>
          <p:nvPr/>
        </p:nvSpPr>
        <p:spPr>
          <a:xfrm>
            <a:off x="768096" y="525780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37" name="Text 35"/>
          <p:cNvSpPr/>
          <p:nvPr/>
        </p:nvSpPr>
        <p:spPr>
          <a:xfrm>
            <a:off x="1280160" y="5148072"/>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An inbox</a:t>
            </a:r>
            <a:endParaRPr lang="en-US" sz="1300" dirty="0"/>
          </a:p>
        </p:txBody>
      </p:sp>
      <p:sp>
        <p:nvSpPr>
          <p:cNvPr id="38" name="Text 36"/>
          <p:cNvSpPr/>
          <p:nvPr/>
        </p:nvSpPr>
        <p:spPr>
          <a:xfrm>
            <a:off x="1280160" y="5477256"/>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Questions from students across every class they teach, with the name.</a:t>
            </a:r>
            <a:endParaRPr lang="en-US" sz="1000" dirty="0"/>
          </a:p>
        </p:txBody>
      </p:sp>
      <p:sp>
        <p:nvSpPr>
          <p:cNvPr id="39" name="Shape 37"/>
          <p:cNvSpPr/>
          <p:nvPr/>
        </p:nvSpPr>
        <p:spPr>
          <a:xfrm>
            <a:off x="6181344" y="5001768"/>
            <a:ext cx="5431536" cy="987552"/>
          </a:xfrm>
          <a:prstGeom prst="roundRect">
            <a:avLst>
              <a:gd name="adj" fmla="val 10185"/>
            </a:avLst>
          </a:prstGeom>
          <a:solidFill>
            <a:srgbClr val="E7EDE7"/>
          </a:solidFill>
          <a:ln/>
          <a:effectLst>
            <a:outerShdw sx="100000" sy="100000" kx="0" ky="0" algn="bl" rotWithShape="0" blurRad="127000" dist="25400" dir="5400000">
              <a:srgbClr val="10231E">
                <a:alpha val="16000"/>
              </a:srgbClr>
            </a:outerShdw>
          </a:effectLst>
        </p:spPr>
      </p:sp>
      <p:sp>
        <p:nvSpPr>
          <p:cNvPr id="40" name="Shape 38"/>
          <p:cNvSpPr/>
          <p:nvPr/>
        </p:nvSpPr>
        <p:spPr>
          <a:xfrm>
            <a:off x="6400800" y="5257800"/>
            <a:ext cx="402336" cy="402336"/>
          </a:xfrm>
          <a:prstGeom prst="ellipse">
            <a:avLst/>
          </a:prstGeom>
          <a:solidFill>
            <a:srgbClr val="E0913A"/>
          </a:solidFill>
          <a:ln/>
        </p:spPr>
      </p:sp>
      <p:sp>
        <p:nvSpPr>
          <p:cNvPr id="41" name="Text 39"/>
          <p:cNvSpPr/>
          <p:nvPr/>
        </p:nvSpPr>
        <p:spPr>
          <a:xfrm>
            <a:off x="6400800" y="525780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42" name="Text 40"/>
          <p:cNvSpPr/>
          <p:nvPr/>
        </p:nvSpPr>
        <p:spPr>
          <a:xfrm>
            <a:off x="6912864" y="5148072"/>
            <a:ext cx="4517136" cy="292608"/>
          </a:xfrm>
          <a:prstGeom prst="rect">
            <a:avLst/>
          </a:prstGeom>
          <a:noFill/>
          <a:ln/>
        </p:spPr>
        <p:txBody>
          <a:bodyPr wrap="square" lIns="0" tIns="0" rIns="0" bIns="0" rtlCol="0" anchor="ctr"/>
          <a:lstStyle/>
          <a:p>
            <a:pPr indent="0" marL="0">
              <a:buNone/>
            </a:pPr>
            <a:r>
              <a:rPr lang="en-US" sz="1300" b="1" dirty="0">
                <a:solidFill>
                  <a:srgbClr val="16302B"/>
                </a:solidFill>
                <a:latin typeface="Calibri" pitchFamily="34" charset="0"/>
                <a:ea typeface="Calibri" pitchFamily="34" charset="-122"/>
                <a:cs typeface="Calibri" pitchFamily="34" charset="-120"/>
              </a:rPr>
              <a:t>Save from the board</a:t>
            </a:r>
            <a:endParaRPr lang="en-US" sz="1300" dirty="0"/>
          </a:p>
        </p:txBody>
      </p:sp>
      <p:sp>
        <p:nvSpPr>
          <p:cNvPr id="43" name="Text 41"/>
          <p:cNvSpPr/>
          <p:nvPr/>
        </p:nvSpPr>
        <p:spPr>
          <a:xfrm>
            <a:off x="6912864" y="5477256"/>
            <a:ext cx="4517136" cy="402336"/>
          </a:xfrm>
          <a:prstGeom prst="rect">
            <a:avLst/>
          </a:prstGeom>
          <a:noFill/>
          <a:ln/>
        </p:spPr>
        <p:txBody>
          <a:bodyPr wrap="square" lIns="0" tIns="0" rIns="0" bIns="0" rtlCol="0" anchor="ctr"/>
          <a:lstStyle/>
          <a:p>
            <a:pPr indent="0" marL="0">
              <a:lnSpc>
                <a:spcPts val="1250"/>
              </a:lnSpc>
              <a:buNone/>
            </a:pPr>
            <a:r>
              <a:rPr lang="en-US" sz="1000" dirty="0">
                <a:solidFill>
                  <a:srgbClr val="5C7268"/>
                </a:solidFill>
                <a:latin typeface="Calibri" pitchFamily="34" charset="0"/>
                <a:ea typeface="Calibri" pitchFamily="34" charset="-122"/>
                <a:cs typeface="Calibri" pitchFamily="34" charset="-120"/>
              </a:rPr>
              <a:t>Whatever is taught on the board files itself into that subject.</a:t>
            </a:r>
            <a:endParaRPr lang="en-US" sz="1000" dirty="0"/>
          </a:p>
        </p:txBody>
      </p:sp>
      <p:sp>
        <p:nvSpPr>
          <p:cNvPr id="44" name="Text 42"/>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The boundary is enforced on the server, not hidden in a menu — nobody is handed the whole institution to do their own job.</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TEACHING</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Three separate places, not one feed</a:t>
            </a:r>
            <a:endParaRPr lang="en-US" sz="3300" dirty="0"/>
          </a:p>
        </p:txBody>
      </p:sp>
      <p:sp>
        <p:nvSpPr>
          <p:cNvPr id="4" name="Shape 2"/>
          <p:cNvSpPr/>
          <p:nvPr/>
        </p:nvSpPr>
        <p:spPr>
          <a:xfrm>
            <a:off x="548640" y="1600200"/>
            <a:ext cx="3553968" cy="3200400"/>
          </a:xfrm>
          <a:prstGeom prst="roundRect">
            <a:avLst>
              <a:gd name="adj" fmla="val 3143"/>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804672" y="1837944"/>
            <a:ext cx="475488" cy="475488"/>
          </a:xfrm>
          <a:prstGeom prst="ellipse">
            <a:avLst/>
          </a:prstGeom>
          <a:solidFill>
            <a:srgbClr val="E0913A"/>
          </a:solidFill>
          <a:ln/>
        </p:spPr>
      </p:sp>
      <p:sp>
        <p:nvSpPr>
          <p:cNvPr id="6" name="Text 4"/>
          <p:cNvSpPr/>
          <p:nvPr/>
        </p:nvSpPr>
        <p:spPr>
          <a:xfrm>
            <a:off x="804672" y="18379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a:t>
            </a:r>
            <a:endParaRPr lang="en-US" sz="1600" dirty="0"/>
          </a:p>
        </p:txBody>
      </p:sp>
      <p:sp>
        <p:nvSpPr>
          <p:cNvPr id="7" name="Text 5"/>
          <p:cNvSpPr/>
          <p:nvPr/>
        </p:nvSpPr>
        <p:spPr>
          <a:xfrm>
            <a:off x="1408176" y="1837944"/>
            <a:ext cx="2493264" cy="475488"/>
          </a:xfrm>
          <a:prstGeom prst="rect">
            <a:avLst/>
          </a:prstGeom>
          <a:noFill/>
          <a:ln/>
        </p:spPr>
        <p:txBody>
          <a:bodyPr wrap="square" lIns="0" tIns="0" rIns="0" bIns="0" rtlCol="0" anchor="ctr"/>
          <a:lstStyle/>
          <a:p>
            <a:pPr indent="0" marL="0">
              <a:buNone/>
            </a:pPr>
            <a:r>
              <a:rPr lang="en-US" sz="1700" b="1" dirty="0">
                <a:solidFill>
                  <a:srgbClr val="16302B"/>
                </a:solidFill>
                <a:latin typeface="Cambria" pitchFamily="34" charset="0"/>
                <a:ea typeface="Cambria" pitchFamily="34" charset="-122"/>
                <a:cs typeface="Cambria" pitchFamily="34" charset="-120"/>
              </a:rPr>
              <a:t>Work set</a:t>
            </a:r>
            <a:endParaRPr lang="en-US" sz="1700" dirty="0"/>
          </a:p>
        </p:txBody>
      </p:sp>
      <p:sp>
        <p:nvSpPr>
          <p:cNvPr id="8" name="Text 6"/>
          <p:cNvSpPr/>
          <p:nvPr/>
        </p:nvSpPr>
        <p:spPr>
          <a:xfrm>
            <a:off x="841248" y="2514600"/>
            <a:ext cx="2968752" cy="2103120"/>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What was set, and when it is due</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Who has handed in and who has not</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Open or closed, and who closed it</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A thread under each piece of work</a:t>
            </a:r>
            <a:endParaRPr lang="en-US" sz="1100" dirty="0"/>
          </a:p>
        </p:txBody>
      </p:sp>
      <p:sp>
        <p:nvSpPr>
          <p:cNvPr id="9" name="Shape 7"/>
          <p:cNvSpPr/>
          <p:nvPr/>
        </p:nvSpPr>
        <p:spPr>
          <a:xfrm>
            <a:off x="4303776" y="1600200"/>
            <a:ext cx="3553968" cy="3200400"/>
          </a:xfrm>
          <a:prstGeom prst="roundRect">
            <a:avLst>
              <a:gd name="adj" fmla="val 3143"/>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4559808" y="1837944"/>
            <a:ext cx="475488" cy="475488"/>
          </a:xfrm>
          <a:prstGeom prst="ellipse">
            <a:avLst/>
          </a:prstGeom>
          <a:solidFill>
            <a:srgbClr val="E0913A"/>
          </a:solidFill>
          <a:ln/>
        </p:spPr>
      </p:sp>
      <p:sp>
        <p:nvSpPr>
          <p:cNvPr id="11" name="Text 9"/>
          <p:cNvSpPr/>
          <p:nvPr/>
        </p:nvSpPr>
        <p:spPr>
          <a:xfrm>
            <a:off x="4559808" y="18379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t>
            </a:r>
            <a:endParaRPr lang="en-US" sz="1600" dirty="0"/>
          </a:p>
        </p:txBody>
      </p:sp>
      <p:sp>
        <p:nvSpPr>
          <p:cNvPr id="12" name="Text 10"/>
          <p:cNvSpPr/>
          <p:nvPr/>
        </p:nvSpPr>
        <p:spPr>
          <a:xfrm>
            <a:off x="5163312" y="1837944"/>
            <a:ext cx="2493264" cy="475488"/>
          </a:xfrm>
          <a:prstGeom prst="rect">
            <a:avLst/>
          </a:prstGeom>
          <a:noFill/>
          <a:ln/>
        </p:spPr>
        <p:txBody>
          <a:bodyPr wrap="square" lIns="0" tIns="0" rIns="0" bIns="0" rtlCol="0" anchor="ctr"/>
          <a:lstStyle/>
          <a:p>
            <a:pPr indent="0" marL="0">
              <a:buNone/>
            </a:pPr>
            <a:r>
              <a:rPr lang="en-US" sz="1700" b="1" dirty="0">
                <a:solidFill>
                  <a:srgbClr val="16302B"/>
                </a:solidFill>
                <a:latin typeface="Cambria" pitchFamily="34" charset="0"/>
                <a:ea typeface="Cambria" pitchFamily="34" charset="-122"/>
                <a:cs typeface="Cambria" pitchFamily="34" charset="-120"/>
              </a:rPr>
              <a:t>Study material</a:t>
            </a:r>
            <a:endParaRPr lang="en-US" sz="1700" dirty="0"/>
          </a:p>
        </p:txBody>
      </p:sp>
      <p:sp>
        <p:nvSpPr>
          <p:cNvPr id="13" name="Text 11"/>
          <p:cNvSpPr/>
          <p:nvPr/>
        </p:nvSpPr>
        <p:spPr>
          <a:xfrm>
            <a:off x="4596384" y="2514600"/>
            <a:ext cx="2968752" cy="2103120"/>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Chapters, slides, notes, links</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Anything saved from the board</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Kept per subject</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There when it is needed again</a:t>
            </a:r>
            <a:endParaRPr lang="en-US" sz="1100" dirty="0"/>
          </a:p>
        </p:txBody>
      </p:sp>
      <p:sp>
        <p:nvSpPr>
          <p:cNvPr id="14" name="Shape 12"/>
          <p:cNvSpPr/>
          <p:nvPr/>
        </p:nvSpPr>
        <p:spPr>
          <a:xfrm>
            <a:off x="8058912" y="1600200"/>
            <a:ext cx="3553968" cy="3200400"/>
          </a:xfrm>
          <a:prstGeom prst="roundRect">
            <a:avLst>
              <a:gd name="adj" fmla="val 3143"/>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8314944" y="1837944"/>
            <a:ext cx="475488" cy="475488"/>
          </a:xfrm>
          <a:prstGeom prst="ellipse">
            <a:avLst/>
          </a:prstGeom>
          <a:solidFill>
            <a:srgbClr val="E0913A"/>
          </a:solidFill>
          <a:ln/>
        </p:spPr>
      </p:sp>
      <p:sp>
        <p:nvSpPr>
          <p:cNvPr id="16" name="Text 14"/>
          <p:cNvSpPr/>
          <p:nvPr/>
        </p:nvSpPr>
        <p:spPr>
          <a:xfrm>
            <a:off x="8314944" y="183794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7" name="Text 15"/>
          <p:cNvSpPr/>
          <p:nvPr/>
        </p:nvSpPr>
        <p:spPr>
          <a:xfrm>
            <a:off x="8918448" y="1837944"/>
            <a:ext cx="2493264" cy="475488"/>
          </a:xfrm>
          <a:prstGeom prst="rect">
            <a:avLst/>
          </a:prstGeom>
          <a:noFill/>
          <a:ln/>
        </p:spPr>
        <p:txBody>
          <a:bodyPr wrap="square" lIns="0" tIns="0" rIns="0" bIns="0" rtlCol="0" anchor="ctr"/>
          <a:lstStyle/>
          <a:p>
            <a:pPr indent="0" marL="0">
              <a:buNone/>
            </a:pPr>
            <a:r>
              <a:rPr lang="en-US" sz="1700" b="1" dirty="0">
                <a:solidFill>
                  <a:srgbClr val="16302B"/>
                </a:solidFill>
                <a:latin typeface="Cambria" pitchFamily="34" charset="0"/>
                <a:ea typeface="Cambria" pitchFamily="34" charset="-122"/>
                <a:cs typeface="Cambria" pitchFamily="34" charset="-120"/>
              </a:rPr>
              <a:t>Subject discussion</a:t>
            </a:r>
            <a:endParaRPr lang="en-US" sz="1700" dirty="0"/>
          </a:p>
        </p:txBody>
      </p:sp>
      <p:sp>
        <p:nvSpPr>
          <p:cNvPr id="18" name="Text 16"/>
          <p:cNvSpPr/>
          <p:nvPr/>
        </p:nvSpPr>
        <p:spPr>
          <a:xfrm>
            <a:off x="8351520" y="2514600"/>
            <a:ext cx="2968752" cy="2103120"/>
          </a:xfrm>
          <a:prstGeom prst="rect">
            <a:avLst/>
          </a:prstGeom>
          <a:noFill/>
          <a:ln/>
        </p:spPr>
        <p:txBody>
          <a:bodyPr wrap="square" lIns="0" tIns="0" rIns="0" bIns="0" rtlCol="0" anchor="ctr"/>
          <a:lstStyle/>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The subject's own thread</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Students ask, students answer</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The subject teacher is in it</a:t>
            </a:r>
            <a:endParaRPr lang="en-US" sz="1100" dirty="0"/>
          </a:p>
          <a:p>
            <a:pPr marL="342900" indent="-342900">
              <a:lnSpc>
                <a:spcPts val="1400"/>
              </a:lnSpc>
              <a:spcAft>
                <a:spcPts val="700"/>
              </a:spcAft>
              <a:buSzPct val="100000"/>
              <a:buChar char="•"/>
            </a:pPr>
            <a:r>
              <a:rPr lang="en-US" sz="1100" dirty="0">
                <a:solidFill>
                  <a:srgbClr val="5C7268"/>
                </a:solidFill>
                <a:latin typeface="Calibri" pitchFamily="34" charset="0"/>
                <a:ea typeface="Calibri" pitchFamily="34" charset="-122"/>
                <a:cs typeface="Calibri" pitchFamily="34" charset="-120"/>
              </a:rPr>
              <a:t>Not a general noticeboard</a:t>
            </a:r>
            <a:endParaRPr lang="en-US" sz="1100" dirty="0"/>
          </a:p>
        </p:txBody>
      </p:sp>
      <p:sp>
        <p:nvSpPr>
          <p:cNvPr id="19" name="Shape 17"/>
          <p:cNvSpPr/>
          <p:nvPr/>
        </p:nvSpPr>
        <p:spPr>
          <a:xfrm>
            <a:off x="548640" y="5029200"/>
            <a:ext cx="11064240" cy="914400"/>
          </a:xfrm>
          <a:prstGeom prst="roundRect">
            <a:avLst>
              <a:gd name="adj" fmla="val 11000"/>
            </a:avLst>
          </a:prstGeom>
          <a:solidFill>
            <a:srgbClr val="F6E3C7"/>
          </a:solidFill>
          <a:ln/>
          <a:effectLst>
            <a:outerShdw sx="100000" sy="100000" kx="0" ky="0" algn="bl" rotWithShape="0" blurRad="127000" dist="25400" dir="5400000">
              <a:srgbClr val="10231E">
                <a:alpha val="16000"/>
              </a:srgbClr>
            </a:outerShdw>
          </a:effectLst>
        </p:spPr>
      </p:sp>
      <p:sp>
        <p:nvSpPr>
          <p:cNvPr id="20" name="Shape 18"/>
          <p:cNvSpPr/>
          <p:nvPr/>
        </p:nvSpPr>
        <p:spPr>
          <a:xfrm>
            <a:off x="822960" y="5248656"/>
            <a:ext cx="420624" cy="420624"/>
          </a:xfrm>
          <a:prstGeom prst="ellipse">
            <a:avLst/>
          </a:prstGeom>
          <a:solidFill>
            <a:srgbClr val="E0913A"/>
          </a:solidFill>
          <a:ln/>
        </p:spPr>
      </p:sp>
      <p:sp>
        <p:nvSpPr>
          <p:cNvPr id="21" name="Text 19"/>
          <p:cNvSpPr/>
          <p:nvPr/>
        </p:nvSpPr>
        <p:spPr>
          <a:xfrm>
            <a:off x="822960" y="5248656"/>
            <a:ext cx="420624"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389888" y="5138928"/>
            <a:ext cx="9966960" cy="274320"/>
          </a:xfrm>
          <a:prstGeom prst="rect">
            <a:avLst/>
          </a:prstGeom>
          <a:noFill/>
          <a:ln/>
        </p:spPr>
        <p:txBody>
          <a:bodyPr wrap="square" lIns="0" tIns="0" rIns="0" bIns="0" rtlCol="0" anchor="ctr"/>
          <a:lstStyle/>
          <a:p>
            <a:pPr indent="0" marL="0">
              <a:buNone/>
            </a:pPr>
            <a:r>
              <a:rPr lang="en-US" sz="1300" b="1" dirty="0">
                <a:solidFill>
                  <a:srgbClr val="7A4E12"/>
                </a:solidFill>
                <a:latin typeface="Calibri" pitchFamily="34" charset="0"/>
                <a:ea typeface="Calibri" pitchFamily="34" charset="-122"/>
                <a:cs typeface="Calibri" pitchFamily="34" charset="-120"/>
              </a:rPr>
              <a:t>Why it is not one feed</a:t>
            </a:r>
            <a:endParaRPr lang="en-US" sz="1300" dirty="0"/>
          </a:p>
        </p:txBody>
      </p:sp>
      <p:sp>
        <p:nvSpPr>
          <p:cNvPr id="23" name="Text 21"/>
          <p:cNvSpPr/>
          <p:nvPr/>
        </p:nvSpPr>
        <p:spPr>
          <a:xfrm>
            <a:off x="1389888" y="5449824"/>
            <a:ext cx="9966960" cy="384048"/>
          </a:xfrm>
          <a:prstGeom prst="rect">
            <a:avLst/>
          </a:prstGeom>
          <a:noFill/>
          <a:ln/>
        </p:spPr>
        <p:txBody>
          <a:bodyPr wrap="square" lIns="0" tIns="0" rIns="0" bIns="0" rtlCol="0" anchor="ctr"/>
          <a:lstStyle/>
          <a:p>
            <a:pPr indent="0" marL="0">
              <a:lnSpc>
                <a:spcPts val="1250"/>
              </a:lnSpc>
              <a:buNone/>
            </a:pPr>
            <a:r>
              <a:rPr lang="en-US" sz="1000" dirty="0">
                <a:solidFill>
                  <a:srgbClr val="7A4E12"/>
                </a:solidFill>
                <a:latin typeface="Calibri" pitchFamily="34" charset="0"/>
                <a:ea typeface="Calibri" pitchFamily="34" charset="-122"/>
                <a:cs typeface="Calibri" pitchFamily="34" charset="-120"/>
              </a:rPr>
              <a:t>Homework, the chapter needed again in March, and a question asked on Tuesday have different lifetimes. Merge them and the one that matters is the one scrolled past.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WHO DOES WHAT</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The student</a:t>
            </a:r>
            <a:endParaRPr lang="en-US" sz="3300" dirty="0"/>
          </a:p>
        </p:txBody>
      </p:sp>
      <p:sp>
        <p:nvSpPr>
          <p:cNvPr id="4" name="Shape 2"/>
          <p:cNvSpPr/>
          <p:nvPr/>
        </p:nvSpPr>
        <p:spPr>
          <a:xfrm>
            <a:off x="548640" y="1600200"/>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280160"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Sign in with a code, or an account</a:t>
            </a:r>
            <a:endParaRPr lang="en-US" sz="1250" dirty="0"/>
          </a:p>
        </p:txBody>
      </p:sp>
      <p:sp>
        <p:nvSpPr>
          <p:cNvPr id="8" name="Text 6"/>
          <p:cNvSpPr/>
          <p:nvPr/>
        </p:nvSpPr>
        <p:spPr>
          <a:xfrm>
            <a:off x="786384" y="2221992"/>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Tap a name on the register with the class code, or use an ordinary email account. Both reach the same place.</a:t>
            </a:r>
            <a:endParaRPr lang="en-US" sz="980" dirty="0"/>
          </a:p>
        </p:txBody>
      </p:sp>
      <p:sp>
        <p:nvSpPr>
          <p:cNvPr id="9" name="Shape 7"/>
          <p:cNvSpPr/>
          <p:nvPr/>
        </p:nvSpPr>
        <p:spPr>
          <a:xfrm>
            <a:off x="6181344" y="1600200"/>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6400800" y="1783080"/>
            <a:ext cx="402336" cy="402336"/>
          </a:xfrm>
          <a:prstGeom prst="ellipse">
            <a:avLst/>
          </a:prstGeom>
          <a:solidFill>
            <a:srgbClr val="E0913A"/>
          </a:solidFill>
          <a:ln/>
        </p:spPr>
      </p:sp>
      <p:sp>
        <p:nvSpPr>
          <p:cNvPr id="11" name="Text 9"/>
          <p:cNvSpPr/>
          <p:nvPr/>
        </p:nvSpPr>
        <p:spPr>
          <a:xfrm>
            <a:off x="6400800"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6912864"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Their classes and subjects</a:t>
            </a:r>
            <a:endParaRPr lang="en-US" sz="1250" dirty="0"/>
          </a:p>
        </p:txBody>
      </p:sp>
      <p:sp>
        <p:nvSpPr>
          <p:cNvPr id="13" name="Text 11"/>
          <p:cNvSpPr/>
          <p:nvPr/>
        </p:nvSpPr>
        <p:spPr>
          <a:xfrm>
            <a:off x="6419088" y="2221992"/>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Each subject shows who teaches it and everything that lecturer posted.</a:t>
            </a:r>
            <a:endParaRPr lang="en-US" sz="980" dirty="0"/>
          </a:p>
        </p:txBody>
      </p:sp>
      <p:sp>
        <p:nvSpPr>
          <p:cNvPr id="14" name="Shape 12"/>
          <p:cNvSpPr/>
          <p:nvPr/>
        </p:nvSpPr>
        <p:spPr>
          <a:xfrm>
            <a:off x="548640" y="2935224"/>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768096" y="3118104"/>
            <a:ext cx="402336" cy="402336"/>
          </a:xfrm>
          <a:prstGeom prst="ellipse">
            <a:avLst/>
          </a:prstGeom>
          <a:solidFill>
            <a:srgbClr val="E0913A"/>
          </a:solidFill>
          <a:ln/>
        </p:spPr>
      </p:sp>
      <p:sp>
        <p:nvSpPr>
          <p:cNvPr id="16" name="Text 14"/>
          <p:cNvSpPr/>
          <p:nvPr/>
        </p:nvSpPr>
        <p:spPr>
          <a:xfrm>
            <a:off x="768096" y="311810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1280160" y="3081528"/>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Work to hand in</a:t>
            </a:r>
            <a:endParaRPr lang="en-US" sz="1250" dirty="0"/>
          </a:p>
        </p:txBody>
      </p:sp>
      <p:sp>
        <p:nvSpPr>
          <p:cNvPr id="18" name="Text 16"/>
          <p:cNvSpPr/>
          <p:nvPr/>
        </p:nvSpPr>
        <p:spPr>
          <a:xfrm>
            <a:off x="786384" y="3557016"/>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What is due, what is closed, and handing it in.</a:t>
            </a:r>
            <a:endParaRPr lang="en-US" sz="980" dirty="0"/>
          </a:p>
        </p:txBody>
      </p:sp>
      <p:sp>
        <p:nvSpPr>
          <p:cNvPr id="19" name="Shape 17"/>
          <p:cNvSpPr/>
          <p:nvPr/>
        </p:nvSpPr>
        <p:spPr>
          <a:xfrm>
            <a:off x="6181344" y="2935224"/>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6400800" y="3118104"/>
            <a:ext cx="402336" cy="402336"/>
          </a:xfrm>
          <a:prstGeom prst="ellipse">
            <a:avLst/>
          </a:prstGeom>
          <a:solidFill>
            <a:srgbClr val="E0913A"/>
          </a:solidFill>
          <a:ln/>
        </p:spPr>
      </p:sp>
      <p:sp>
        <p:nvSpPr>
          <p:cNvPr id="21" name="Text 19"/>
          <p:cNvSpPr/>
          <p:nvPr/>
        </p:nvSpPr>
        <p:spPr>
          <a:xfrm>
            <a:off x="6400800" y="311810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6912864" y="3081528"/>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Ask in the right place</a:t>
            </a:r>
            <a:endParaRPr lang="en-US" sz="1250" dirty="0"/>
          </a:p>
        </p:txBody>
      </p:sp>
      <p:sp>
        <p:nvSpPr>
          <p:cNvPr id="23" name="Text 21"/>
          <p:cNvSpPr/>
          <p:nvPr/>
        </p:nvSpPr>
        <p:spPr>
          <a:xfrm>
            <a:off x="6419088" y="3557016"/>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Under the work, in the subject thread, or straight to that subject's lecturer.</a:t>
            </a:r>
            <a:endParaRPr lang="en-US" sz="980" dirty="0"/>
          </a:p>
        </p:txBody>
      </p:sp>
      <p:sp>
        <p:nvSpPr>
          <p:cNvPr id="24" name="Shape 22"/>
          <p:cNvSpPr/>
          <p:nvPr/>
        </p:nvSpPr>
        <p:spPr>
          <a:xfrm>
            <a:off x="548640" y="4270248"/>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4453128"/>
            <a:ext cx="402336" cy="402336"/>
          </a:xfrm>
          <a:prstGeom prst="ellipse">
            <a:avLst/>
          </a:prstGeom>
          <a:solidFill>
            <a:srgbClr val="E0913A"/>
          </a:solidFill>
          <a:ln/>
        </p:spPr>
      </p:sp>
      <p:sp>
        <p:nvSpPr>
          <p:cNvPr id="26" name="Text 24"/>
          <p:cNvSpPr/>
          <p:nvPr/>
        </p:nvSpPr>
        <p:spPr>
          <a:xfrm>
            <a:off x="768096" y="445312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1280160" y="4416552"/>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board's tools on their own laptop</a:t>
            </a:r>
            <a:endParaRPr lang="en-US" sz="1250" dirty="0"/>
          </a:p>
        </p:txBody>
      </p:sp>
      <p:sp>
        <p:nvSpPr>
          <p:cNvPr id="28" name="Text 26"/>
          <p:cNvSpPr/>
          <p:nvPr/>
        </p:nvSpPr>
        <p:spPr>
          <a:xfrm>
            <a:off x="786384" y="4892040"/>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Ask Axle at their own level, the sandboxes, the 3D structures, scan a problem.</a:t>
            </a:r>
            <a:endParaRPr lang="en-US" sz="980" dirty="0"/>
          </a:p>
        </p:txBody>
      </p:sp>
      <p:sp>
        <p:nvSpPr>
          <p:cNvPr id="29" name="Shape 27"/>
          <p:cNvSpPr/>
          <p:nvPr/>
        </p:nvSpPr>
        <p:spPr>
          <a:xfrm>
            <a:off x="6181344" y="4270248"/>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6400800" y="4453128"/>
            <a:ext cx="402336" cy="402336"/>
          </a:xfrm>
          <a:prstGeom prst="ellipse">
            <a:avLst/>
          </a:prstGeom>
          <a:solidFill>
            <a:srgbClr val="E0913A"/>
          </a:solidFill>
          <a:ln/>
        </p:spPr>
      </p:sp>
      <p:sp>
        <p:nvSpPr>
          <p:cNvPr id="31" name="Text 29"/>
          <p:cNvSpPr/>
          <p:nvPr/>
        </p:nvSpPr>
        <p:spPr>
          <a:xfrm>
            <a:off x="6400800" y="445312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p:nvPr/>
        </p:nvSpPr>
        <p:spPr>
          <a:xfrm>
            <a:off x="6912864" y="4416552"/>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job board, once they are 18</a:t>
            </a:r>
            <a:endParaRPr lang="en-US" sz="1250" dirty="0"/>
          </a:p>
        </p:txBody>
      </p:sp>
      <p:sp>
        <p:nvSpPr>
          <p:cNvPr id="33" name="Text 31"/>
          <p:cNvSpPr/>
          <p:nvPr/>
        </p:nvSpPr>
        <p:spPr>
          <a:xfrm>
            <a:off x="6419088" y="4892040"/>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Real openings from Indian employers, resume matching, and what an ATS sees. Off until they ask for it.</a:t>
            </a:r>
            <a:endParaRPr lang="en-US" sz="980" dirty="0"/>
          </a:p>
        </p:txBody>
      </p:sp>
      <p:sp>
        <p:nvSpPr>
          <p:cNvPr id="34" name="Text 32"/>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The same account carries them from first year to first application. Nothing is re-entered at the end of it.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WHO DOES WHAT</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The department office</a:t>
            </a:r>
            <a:endParaRPr lang="en-US" sz="3300" dirty="0"/>
          </a:p>
        </p:txBody>
      </p:sp>
      <p:sp>
        <p:nvSpPr>
          <p:cNvPr id="4" name="Shape 2"/>
          <p:cNvSpPr/>
          <p:nvPr/>
        </p:nvSpPr>
        <p:spPr>
          <a:xfrm>
            <a:off x="548640" y="160020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t>
            </a:r>
            <a:endParaRPr lang="en-US" sz="1250" dirty="0"/>
          </a:p>
        </p:txBody>
      </p:sp>
      <p:sp>
        <p:nvSpPr>
          <p:cNvPr id="7" name="Text 5"/>
          <p:cNvSpPr/>
          <p:nvPr/>
        </p:nvSpPr>
        <p:spPr>
          <a:xfrm>
            <a:off x="1280160"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Classes and sections</a:t>
            </a:r>
            <a:endParaRPr lang="en-US" sz="1250" dirty="0"/>
          </a:p>
        </p:txBody>
      </p:sp>
      <p:sp>
        <p:nvSpPr>
          <p:cNvPr id="8" name="Text 6"/>
          <p:cNvSpPr/>
          <p:nvPr/>
        </p:nvSpPr>
        <p:spPr>
          <a:xfrm>
            <a:off x="786384" y="222199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Create each one, with a join code that can be rotated if it leaks.</a:t>
            </a:r>
            <a:endParaRPr lang="en-US" sz="1000" dirty="0"/>
          </a:p>
        </p:txBody>
      </p:sp>
      <p:sp>
        <p:nvSpPr>
          <p:cNvPr id="9" name="Shape 7"/>
          <p:cNvSpPr/>
          <p:nvPr/>
        </p:nvSpPr>
        <p:spPr>
          <a:xfrm>
            <a:off x="6181344" y="160020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6400800" y="1783080"/>
            <a:ext cx="402336" cy="402336"/>
          </a:xfrm>
          <a:prstGeom prst="ellipse">
            <a:avLst/>
          </a:prstGeom>
          <a:solidFill>
            <a:srgbClr val="E0913A"/>
          </a:solidFill>
          <a:ln/>
        </p:spPr>
      </p:sp>
      <p:sp>
        <p:nvSpPr>
          <p:cNvPr id="11" name="Text 9"/>
          <p:cNvSpPr/>
          <p:nvPr/>
        </p:nvSpPr>
        <p:spPr>
          <a:xfrm>
            <a:off x="6400800"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t>
            </a:r>
            <a:endParaRPr lang="en-US" sz="1250" dirty="0"/>
          </a:p>
        </p:txBody>
      </p:sp>
      <p:sp>
        <p:nvSpPr>
          <p:cNvPr id="12" name="Text 10"/>
          <p:cNvSpPr/>
          <p:nvPr/>
        </p:nvSpPr>
        <p:spPr>
          <a:xfrm>
            <a:off x="6912864"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Faculty</a:t>
            </a:r>
            <a:endParaRPr lang="en-US" sz="1250" dirty="0"/>
          </a:p>
        </p:txBody>
      </p:sp>
      <p:sp>
        <p:nvSpPr>
          <p:cNvPr id="13" name="Text 11"/>
          <p:cNvSpPr/>
          <p:nvPr/>
        </p:nvSpPr>
        <p:spPr>
          <a:xfrm>
            <a:off x="6419088" y="222199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Add staff once at institution level, then pick them inside a class.</a:t>
            </a:r>
            <a:endParaRPr lang="en-US" sz="1000" dirty="0"/>
          </a:p>
        </p:txBody>
      </p:sp>
      <p:sp>
        <p:nvSpPr>
          <p:cNvPr id="14" name="Shape 12"/>
          <p:cNvSpPr/>
          <p:nvPr/>
        </p:nvSpPr>
        <p:spPr>
          <a:xfrm>
            <a:off x="548640" y="269748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768096" y="2880360"/>
            <a:ext cx="402336" cy="402336"/>
          </a:xfrm>
          <a:prstGeom prst="ellipse">
            <a:avLst/>
          </a:prstGeom>
          <a:solidFill>
            <a:srgbClr val="E0913A"/>
          </a:solidFill>
          <a:ln/>
        </p:spPr>
      </p:sp>
      <p:sp>
        <p:nvSpPr>
          <p:cNvPr id="16" name="Text 14"/>
          <p:cNvSpPr/>
          <p:nvPr/>
        </p:nvSpPr>
        <p:spPr>
          <a:xfrm>
            <a:off x="768096" y="288036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t>
            </a:r>
            <a:endParaRPr lang="en-US" sz="1250" dirty="0"/>
          </a:p>
        </p:txBody>
      </p:sp>
      <p:sp>
        <p:nvSpPr>
          <p:cNvPr id="17" name="Text 15"/>
          <p:cNvSpPr/>
          <p:nvPr/>
        </p:nvSpPr>
        <p:spPr>
          <a:xfrm>
            <a:off x="1280160" y="284378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Subjects</a:t>
            </a:r>
            <a:endParaRPr lang="en-US" sz="1250" dirty="0"/>
          </a:p>
        </p:txBody>
      </p:sp>
      <p:sp>
        <p:nvSpPr>
          <p:cNvPr id="18" name="Text 16"/>
          <p:cNvSpPr/>
          <p:nvPr/>
        </p:nvSpPr>
        <p:spPr>
          <a:xfrm>
            <a:off x="786384" y="331927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Assign staff to a subject. One lecturer, many classes, many subjects.</a:t>
            </a:r>
            <a:endParaRPr lang="en-US" sz="1000" dirty="0"/>
          </a:p>
        </p:txBody>
      </p:sp>
      <p:sp>
        <p:nvSpPr>
          <p:cNvPr id="19" name="Shape 17"/>
          <p:cNvSpPr/>
          <p:nvPr/>
        </p:nvSpPr>
        <p:spPr>
          <a:xfrm>
            <a:off x="6181344" y="269748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6400800" y="2880360"/>
            <a:ext cx="402336" cy="402336"/>
          </a:xfrm>
          <a:prstGeom prst="ellipse">
            <a:avLst/>
          </a:prstGeom>
          <a:solidFill>
            <a:srgbClr val="E0913A"/>
          </a:solidFill>
          <a:ln/>
        </p:spPr>
      </p:sp>
      <p:sp>
        <p:nvSpPr>
          <p:cNvPr id="21" name="Text 19"/>
          <p:cNvSpPr/>
          <p:nvPr/>
        </p:nvSpPr>
        <p:spPr>
          <a:xfrm>
            <a:off x="6400800" y="288036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a:t>
            </a:r>
            <a:endParaRPr lang="en-US" sz="1250" dirty="0"/>
          </a:p>
        </p:txBody>
      </p:sp>
      <p:sp>
        <p:nvSpPr>
          <p:cNvPr id="22" name="Text 20"/>
          <p:cNvSpPr/>
          <p:nvPr/>
        </p:nvSpPr>
        <p:spPr>
          <a:xfrm>
            <a:off x="6912864" y="284378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Students</a:t>
            </a:r>
            <a:endParaRPr lang="en-US" sz="1250" dirty="0"/>
          </a:p>
        </p:txBody>
      </p:sp>
      <p:sp>
        <p:nvSpPr>
          <p:cNvPr id="23" name="Text 21"/>
          <p:cNvSpPr/>
          <p:nvPr/>
        </p:nvSpPr>
        <p:spPr>
          <a:xfrm>
            <a:off x="6419088" y="331927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Add the roll, or let students join with the code and appear on the register.</a:t>
            </a:r>
            <a:endParaRPr lang="en-US" sz="1000" dirty="0"/>
          </a:p>
        </p:txBody>
      </p:sp>
      <p:sp>
        <p:nvSpPr>
          <p:cNvPr id="24" name="Shape 22"/>
          <p:cNvSpPr/>
          <p:nvPr/>
        </p:nvSpPr>
        <p:spPr>
          <a:xfrm>
            <a:off x="548640" y="379476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3977640"/>
            <a:ext cx="402336" cy="402336"/>
          </a:xfrm>
          <a:prstGeom prst="ellipse">
            <a:avLst/>
          </a:prstGeom>
          <a:solidFill>
            <a:srgbClr val="E0913A"/>
          </a:solidFill>
          <a:ln/>
        </p:spPr>
      </p:sp>
      <p:sp>
        <p:nvSpPr>
          <p:cNvPr id="26" name="Text 24"/>
          <p:cNvSpPr/>
          <p:nvPr/>
        </p:nvSpPr>
        <p:spPr>
          <a:xfrm>
            <a:off x="768096" y="397764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a:t>
            </a:r>
            <a:endParaRPr lang="en-US" sz="1250" dirty="0"/>
          </a:p>
        </p:txBody>
      </p:sp>
      <p:sp>
        <p:nvSpPr>
          <p:cNvPr id="27" name="Text 25"/>
          <p:cNvSpPr/>
          <p:nvPr/>
        </p:nvSpPr>
        <p:spPr>
          <a:xfrm>
            <a:off x="1280160" y="394106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Notices</a:t>
            </a:r>
            <a:endParaRPr lang="en-US" sz="1250" dirty="0"/>
          </a:p>
        </p:txBody>
      </p:sp>
      <p:sp>
        <p:nvSpPr>
          <p:cNvPr id="28" name="Text 26"/>
          <p:cNvSpPr/>
          <p:nvPr/>
        </p:nvSpPr>
        <p:spPr>
          <a:xfrm>
            <a:off x="786384" y="441655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Post to the department, one class, or staff only — with a file attached.</a:t>
            </a:r>
            <a:endParaRPr lang="en-US" sz="1000" dirty="0"/>
          </a:p>
        </p:txBody>
      </p:sp>
      <p:sp>
        <p:nvSpPr>
          <p:cNvPr id="29" name="Shape 27"/>
          <p:cNvSpPr/>
          <p:nvPr/>
        </p:nvSpPr>
        <p:spPr>
          <a:xfrm>
            <a:off x="6181344" y="379476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6400800" y="3977640"/>
            <a:ext cx="402336" cy="402336"/>
          </a:xfrm>
          <a:prstGeom prst="ellipse">
            <a:avLst/>
          </a:prstGeom>
          <a:solidFill>
            <a:srgbClr val="E0913A"/>
          </a:solidFill>
          <a:ln/>
        </p:spPr>
      </p:sp>
      <p:sp>
        <p:nvSpPr>
          <p:cNvPr id="31" name="Text 29"/>
          <p:cNvSpPr/>
          <p:nvPr/>
        </p:nvSpPr>
        <p:spPr>
          <a:xfrm>
            <a:off x="6400800" y="397764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32" name="Text 30"/>
          <p:cNvSpPr/>
          <p:nvPr/>
        </p:nvSpPr>
        <p:spPr>
          <a:xfrm>
            <a:off x="6912864" y="394106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Attendance</a:t>
            </a:r>
            <a:endParaRPr lang="en-US" sz="1250" dirty="0"/>
          </a:p>
        </p:txBody>
      </p:sp>
      <p:sp>
        <p:nvSpPr>
          <p:cNvPr id="33" name="Text 31"/>
          <p:cNvSpPr/>
          <p:nvPr/>
        </p:nvSpPr>
        <p:spPr>
          <a:xfrm>
            <a:off x="6419088" y="441655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Marked per class, held per institution.</a:t>
            </a:r>
            <a:endParaRPr lang="en-US" sz="1000" dirty="0"/>
          </a:p>
        </p:txBody>
      </p:sp>
      <p:sp>
        <p:nvSpPr>
          <p:cNvPr id="34" name="Shape 32"/>
          <p:cNvSpPr/>
          <p:nvPr/>
        </p:nvSpPr>
        <p:spPr>
          <a:xfrm>
            <a:off x="548640" y="489204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35" name="Shape 33"/>
          <p:cNvSpPr/>
          <p:nvPr/>
        </p:nvSpPr>
        <p:spPr>
          <a:xfrm>
            <a:off x="768096" y="5074920"/>
            <a:ext cx="402336" cy="402336"/>
          </a:xfrm>
          <a:prstGeom prst="ellipse">
            <a:avLst/>
          </a:prstGeom>
          <a:solidFill>
            <a:srgbClr val="E0913A"/>
          </a:solidFill>
          <a:ln/>
        </p:spPr>
      </p:sp>
      <p:sp>
        <p:nvSpPr>
          <p:cNvPr id="36" name="Text 34"/>
          <p:cNvSpPr/>
          <p:nvPr/>
        </p:nvSpPr>
        <p:spPr>
          <a:xfrm>
            <a:off x="768096" y="507492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t>
            </a:r>
            <a:endParaRPr lang="en-US" sz="1250" dirty="0"/>
          </a:p>
        </p:txBody>
      </p:sp>
      <p:sp>
        <p:nvSpPr>
          <p:cNvPr id="37" name="Text 35"/>
          <p:cNvSpPr/>
          <p:nvPr/>
        </p:nvSpPr>
        <p:spPr>
          <a:xfrm>
            <a:off x="1280160" y="503834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Fees</a:t>
            </a:r>
            <a:endParaRPr lang="en-US" sz="1250" dirty="0"/>
          </a:p>
        </p:txBody>
      </p:sp>
      <p:sp>
        <p:nvSpPr>
          <p:cNvPr id="38" name="Text 36"/>
          <p:cNvSpPr/>
          <p:nvPr/>
        </p:nvSpPr>
        <p:spPr>
          <a:xfrm>
            <a:off x="786384" y="551383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A plan across a class, invoices per student, and who is overdue.</a:t>
            </a:r>
            <a:endParaRPr lang="en-US" sz="1000" dirty="0"/>
          </a:p>
        </p:txBody>
      </p:sp>
      <p:sp>
        <p:nvSpPr>
          <p:cNvPr id="39" name="Shape 37"/>
          <p:cNvSpPr/>
          <p:nvPr/>
        </p:nvSpPr>
        <p:spPr>
          <a:xfrm>
            <a:off x="6181344" y="4892040"/>
            <a:ext cx="5431536" cy="1005840"/>
          </a:xfrm>
          <a:prstGeom prst="roundRect">
            <a:avLst>
              <a:gd name="adj" fmla="val 10000"/>
            </a:avLst>
          </a:prstGeom>
          <a:solidFill>
            <a:srgbClr val="E7EDE7"/>
          </a:solidFill>
          <a:ln/>
          <a:effectLst>
            <a:outerShdw sx="100000" sy="100000" kx="0" ky="0" algn="bl" rotWithShape="0" blurRad="127000" dist="25400" dir="5400000">
              <a:srgbClr val="10231E">
                <a:alpha val="16000"/>
              </a:srgbClr>
            </a:outerShdw>
          </a:effectLst>
        </p:spPr>
      </p:sp>
      <p:sp>
        <p:nvSpPr>
          <p:cNvPr id="40" name="Shape 38"/>
          <p:cNvSpPr/>
          <p:nvPr/>
        </p:nvSpPr>
        <p:spPr>
          <a:xfrm>
            <a:off x="6400800" y="5074920"/>
            <a:ext cx="402336" cy="402336"/>
          </a:xfrm>
          <a:prstGeom prst="ellipse">
            <a:avLst/>
          </a:prstGeom>
          <a:solidFill>
            <a:srgbClr val="E0913A"/>
          </a:solidFill>
          <a:ln/>
        </p:spPr>
      </p:sp>
      <p:sp>
        <p:nvSpPr>
          <p:cNvPr id="41" name="Text 39"/>
          <p:cNvSpPr/>
          <p:nvPr/>
        </p:nvSpPr>
        <p:spPr>
          <a:xfrm>
            <a:off x="6400800" y="507492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a:t>
            </a:r>
            <a:endParaRPr lang="en-US" sz="1250" dirty="0"/>
          </a:p>
        </p:txBody>
      </p:sp>
      <p:sp>
        <p:nvSpPr>
          <p:cNvPr id="42" name="Text 40"/>
          <p:cNvSpPr/>
          <p:nvPr/>
        </p:nvSpPr>
        <p:spPr>
          <a:xfrm>
            <a:off x="6912864" y="503834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department, seen whole</a:t>
            </a:r>
            <a:endParaRPr lang="en-US" sz="1250" dirty="0"/>
          </a:p>
        </p:txBody>
      </p:sp>
      <p:sp>
        <p:nvSpPr>
          <p:cNvPr id="43" name="Text 41"/>
          <p:cNvSpPr/>
          <p:nvPr/>
        </p:nvSpPr>
        <p:spPr>
          <a:xfrm>
            <a:off x="6419088" y="5513832"/>
            <a:ext cx="4956048" cy="274320"/>
          </a:xfrm>
          <a:prstGeom prst="rect">
            <a:avLst/>
          </a:prstGeom>
          <a:noFill/>
          <a:ln/>
        </p:spPr>
        <p:txBody>
          <a:bodyPr wrap="square" lIns="0" tIns="0" rIns="0" bIns="0" rtlCol="0" anchor="ctr"/>
          <a:lstStyle/>
          <a:p>
            <a:pPr indent="0" marL="0">
              <a:lnSpc>
                <a:spcPts val="1300"/>
              </a:lnSpc>
              <a:buNone/>
            </a:pPr>
            <a:r>
              <a:rPr lang="en-US" sz="1000" dirty="0">
                <a:solidFill>
                  <a:srgbClr val="5C7268"/>
                </a:solidFill>
                <a:latin typeface="Calibri" pitchFamily="34" charset="0"/>
                <a:ea typeface="Calibri" pitchFamily="34" charset="-122"/>
                <a:cs typeface="Calibri" pitchFamily="34" charset="-120"/>
              </a:rPr>
              <a:t>Money outstanding, requests waiting, and what falls due next.</a:t>
            </a:r>
            <a:endParaRPr lang="en-US" sz="1000" dirty="0"/>
          </a:p>
        </p:txBody>
      </p:sp>
      <p:sp>
        <p:nvSpPr>
          <p:cNvPr id="44" name="Text 42"/>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We create the institution and its first administrator. Everything after that is yours to run — nobody rings us to add a teacher in June.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302B"/>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THE AI HELPER</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F2F5F1"/>
                </a:solidFill>
                <a:latin typeface="Cambria" pitchFamily="34" charset="0"/>
                <a:ea typeface="Cambria" pitchFamily="34" charset="-122"/>
                <a:cs typeface="Cambria" pitchFamily="34" charset="-120"/>
              </a:rPr>
              <a:t>Three things it stands on</a:t>
            </a:r>
            <a:endParaRPr lang="en-US" sz="3300" dirty="0"/>
          </a:p>
        </p:txBody>
      </p:sp>
      <p:sp>
        <p:nvSpPr>
          <p:cNvPr id="4" name="Shape 2"/>
          <p:cNvSpPr/>
          <p:nvPr/>
        </p:nvSpPr>
        <p:spPr>
          <a:xfrm>
            <a:off x="548640" y="1600200"/>
            <a:ext cx="3553968" cy="2743200"/>
          </a:xfrm>
          <a:prstGeom prst="roundRect">
            <a:avLst>
              <a:gd name="adj" fmla="val 3667"/>
            </a:avLst>
          </a:prstGeom>
          <a:solidFill>
            <a:srgbClr val="24473D"/>
          </a:solidFill>
          <a:ln/>
          <a:effectLst>
            <a:outerShdw sx="100000" sy="100000" kx="0" ky="0" algn="bl" rotWithShape="0" blurRad="127000" dist="25400" dir="5400000">
              <a:srgbClr val="10231E">
                <a:alpha val="16000"/>
              </a:srgbClr>
            </a:outerShdw>
          </a:effectLst>
        </p:spPr>
      </p:sp>
      <p:sp>
        <p:nvSpPr>
          <p:cNvPr id="5" name="Shape 3"/>
          <p:cNvSpPr/>
          <p:nvPr/>
        </p:nvSpPr>
        <p:spPr>
          <a:xfrm>
            <a:off x="804672" y="1819656"/>
            <a:ext cx="457200" cy="457200"/>
          </a:xfrm>
          <a:prstGeom prst="ellipse">
            <a:avLst/>
          </a:prstGeom>
          <a:solidFill>
            <a:srgbClr val="E0913A"/>
          </a:solidFill>
          <a:ln/>
        </p:spPr>
      </p:sp>
      <p:sp>
        <p:nvSpPr>
          <p:cNvPr id="6" name="Text 4"/>
          <p:cNvSpPr/>
          <p:nvPr/>
        </p:nvSpPr>
        <p:spPr>
          <a:xfrm>
            <a:off x="804672" y="1819656"/>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804672" y="2386584"/>
            <a:ext cx="3041904" cy="329184"/>
          </a:xfrm>
          <a:prstGeom prst="rect">
            <a:avLst/>
          </a:prstGeom>
          <a:noFill/>
          <a:ln/>
        </p:spPr>
        <p:txBody>
          <a:bodyPr wrap="square" lIns="0" tIns="0" rIns="0" bIns="0" rtlCol="0" anchor="ctr"/>
          <a:lstStyle/>
          <a:p>
            <a:pPr indent="0" marL="0">
              <a:buNone/>
            </a:pPr>
            <a:r>
              <a:rPr lang="en-US" sz="1400" b="1" dirty="0">
                <a:solidFill>
                  <a:srgbClr val="E0913A"/>
                </a:solidFill>
                <a:latin typeface="Calibri" pitchFamily="34" charset="0"/>
                <a:ea typeface="Calibri" pitchFamily="34" charset="-122"/>
                <a:cs typeface="Calibri" pitchFamily="34" charset="-120"/>
              </a:rPr>
              <a:t>A searched corpus</a:t>
            </a:r>
            <a:endParaRPr lang="en-US" sz="1400" dirty="0"/>
          </a:p>
        </p:txBody>
      </p:sp>
      <p:sp>
        <p:nvSpPr>
          <p:cNvPr id="8" name="Text 6"/>
          <p:cNvSpPr/>
          <p:nvPr/>
        </p:nvSpPr>
        <p:spPr>
          <a:xfrm>
            <a:off x="804672" y="2770632"/>
            <a:ext cx="3041904" cy="1426464"/>
          </a:xfrm>
          <a:prstGeom prst="rect">
            <a:avLst/>
          </a:prstGeom>
          <a:noFill/>
          <a:ln/>
        </p:spPr>
        <p:txBody>
          <a:bodyPr wrap="square" lIns="0" tIns="0" rIns="0" bIns="0" rtlCol="0" anchor="ctr"/>
          <a:lstStyle/>
          <a:p>
            <a:pPr indent="0" marL="0">
              <a:lnSpc>
                <a:spcPts val="1350"/>
              </a:lnSpc>
              <a:buNone/>
            </a:pPr>
            <a:r>
              <a:rPr lang="en-US" sz="1050" dirty="0">
                <a:solidFill>
                  <a:srgbClr val="B4C8BC"/>
                </a:solidFill>
                <a:latin typeface="Calibri" pitchFamily="34" charset="0"/>
                <a:ea typeface="Calibri" pitchFamily="34" charset="-122"/>
                <a:cs typeface="Calibri" pitchFamily="34" charset="-120"/>
              </a:rPr>
              <a:t>NCERT Class 6 to 12 and our own computing and data curriculum. Where these reach, the passages are searched on our server and go in with the question — written against the source, not out of memory.</a:t>
            </a:r>
            <a:endParaRPr lang="en-US" sz="1050" dirty="0"/>
          </a:p>
        </p:txBody>
      </p:sp>
      <p:sp>
        <p:nvSpPr>
          <p:cNvPr id="9" name="Shape 7"/>
          <p:cNvSpPr/>
          <p:nvPr/>
        </p:nvSpPr>
        <p:spPr>
          <a:xfrm>
            <a:off x="4303776" y="1600200"/>
            <a:ext cx="3553968" cy="2743200"/>
          </a:xfrm>
          <a:prstGeom prst="roundRect">
            <a:avLst>
              <a:gd name="adj" fmla="val 3667"/>
            </a:avLst>
          </a:prstGeom>
          <a:solidFill>
            <a:srgbClr val="24473D"/>
          </a:solidFill>
          <a:ln/>
          <a:effectLst>
            <a:outerShdw sx="100000" sy="100000" kx="0" ky="0" algn="bl" rotWithShape="0" blurRad="127000" dist="25400" dir="5400000">
              <a:srgbClr val="10231E">
                <a:alpha val="16000"/>
              </a:srgbClr>
            </a:outerShdw>
          </a:effectLst>
        </p:spPr>
      </p:sp>
      <p:sp>
        <p:nvSpPr>
          <p:cNvPr id="10" name="Shape 8"/>
          <p:cNvSpPr/>
          <p:nvPr/>
        </p:nvSpPr>
        <p:spPr>
          <a:xfrm>
            <a:off x="4559808" y="1819656"/>
            <a:ext cx="457200" cy="457200"/>
          </a:xfrm>
          <a:prstGeom prst="ellipse">
            <a:avLst/>
          </a:prstGeom>
          <a:solidFill>
            <a:srgbClr val="E0913A"/>
          </a:solidFill>
          <a:ln/>
        </p:spPr>
      </p:sp>
      <p:sp>
        <p:nvSpPr>
          <p:cNvPr id="11" name="Text 9"/>
          <p:cNvSpPr/>
          <p:nvPr/>
        </p:nvSpPr>
        <p:spPr>
          <a:xfrm>
            <a:off x="4559808" y="1819656"/>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4559808" y="2386584"/>
            <a:ext cx="3041904" cy="329184"/>
          </a:xfrm>
          <a:prstGeom prst="rect">
            <a:avLst/>
          </a:prstGeom>
          <a:noFill/>
          <a:ln/>
        </p:spPr>
        <p:txBody>
          <a:bodyPr wrap="square" lIns="0" tIns="0" rIns="0" bIns="0" rtlCol="0" anchor="ctr"/>
          <a:lstStyle/>
          <a:p>
            <a:pPr indent="0" marL="0">
              <a:buNone/>
            </a:pPr>
            <a:r>
              <a:rPr lang="en-US" sz="1400" b="1" dirty="0">
                <a:solidFill>
                  <a:srgbClr val="E0913A"/>
                </a:solidFill>
                <a:latin typeface="Calibri" pitchFamily="34" charset="0"/>
                <a:ea typeface="Calibri" pitchFamily="34" charset="-122"/>
                <a:cs typeface="Calibri" pitchFamily="34" charset="-120"/>
              </a:rPr>
              <a:t>Your own material</a:t>
            </a:r>
            <a:endParaRPr lang="en-US" sz="1400" dirty="0"/>
          </a:p>
        </p:txBody>
      </p:sp>
      <p:sp>
        <p:nvSpPr>
          <p:cNvPr id="13" name="Text 11"/>
          <p:cNvSpPr/>
          <p:nvPr/>
        </p:nvSpPr>
        <p:spPr>
          <a:xfrm>
            <a:off x="4559808" y="2770632"/>
            <a:ext cx="3041904" cy="1426464"/>
          </a:xfrm>
          <a:prstGeom prst="rect">
            <a:avLst/>
          </a:prstGeom>
          <a:noFill/>
          <a:ln/>
        </p:spPr>
        <p:txBody>
          <a:bodyPr wrap="square" lIns="0" tIns="0" rIns="0" bIns="0" rtlCol="0" anchor="ctr"/>
          <a:lstStyle/>
          <a:p>
            <a:pPr indent="0" marL="0">
              <a:lnSpc>
                <a:spcPts val="1350"/>
              </a:lnSpc>
              <a:buNone/>
            </a:pPr>
            <a:r>
              <a:rPr lang="en-US" sz="1050" dirty="0">
                <a:solidFill>
                  <a:srgbClr val="B4C8BC"/>
                </a:solidFill>
                <a:latin typeface="Calibri" pitchFamily="34" charset="0"/>
                <a:ea typeface="Calibri" pitchFamily="34" charset="-122"/>
                <a:cs typeface="Calibri" pitchFamily="34" charset="-120"/>
              </a:rPr>
              <a:t>The lecturer's PDF, uploaded and either shown as it is or written up as a lesson. This is what covers a syllabus no public corpus does, and it is already built.</a:t>
            </a:r>
            <a:endParaRPr lang="en-US" sz="1050" dirty="0"/>
          </a:p>
        </p:txBody>
      </p:sp>
      <p:sp>
        <p:nvSpPr>
          <p:cNvPr id="14" name="Shape 12"/>
          <p:cNvSpPr/>
          <p:nvPr/>
        </p:nvSpPr>
        <p:spPr>
          <a:xfrm>
            <a:off x="8058912" y="1600200"/>
            <a:ext cx="3553968" cy="2743200"/>
          </a:xfrm>
          <a:prstGeom prst="roundRect">
            <a:avLst>
              <a:gd name="adj" fmla="val 3667"/>
            </a:avLst>
          </a:prstGeom>
          <a:solidFill>
            <a:srgbClr val="24473D"/>
          </a:solidFill>
          <a:ln/>
          <a:effectLst>
            <a:outerShdw sx="100000" sy="100000" kx="0" ky="0" algn="bl" rotWithShape="0" blurRad="127000" dist="25400" dir="5400000">
              <a:srgbClr val="10231E">
                <a:alpha val="16000"/>
              </a:srgbClr>
            </a:outerShdw>
          </a:effectLst>
        </p:spPr>
      </p:sp>
      <p:sp>
        <p:nvSpPr>
          <p:cNvPr id="15" name="Shape 13"/>
          <p:cNvSpPr/>
          <p:nvPr/>
        </p:nvSpPr>
        <p:spPr>
          <a:xfrm>
            <a:off x="8314944" y="1819656"/>
            <a:ext cx="457200" cy="457200"/>
          </a:xfrm>
          <a:prstGeom prst="ellipse">
            <a:avLst/>
          </a:prstGeom>
          <a:solidFill>
            <a:srgbClr val="E0913A"/>
          </a:solidFill>
          <a:ln/>
        </p:spPr>
      </p:sp>
      <p:sp>
        <p:nvSpPr>
          <p:cNvPr id="16" name="Text 14"/>
          <p:cNvSpPr/>
          <p:nvPr/>
        </p:nvSpPr>
        <p:spPr>
          <a:xfrm>
            <a:off x="8314944" y="1819656"/>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8314944" y="2386584"/>
            <a:ext cx="3041904" cy="329184"/>
          </a:xfrm>
          <a:prstGeom prst="rect">
            <a:avLst/>
          </a:prstGeom>
          <a:noFill/>
          <a:ln/>
        </p:spPr>
        <p:txBody>
          <a:bodyPr wrap="square" lIns="0" tIns="0" rIns="0" bIns="0" rtlCol="0" anchor="ctr"/>
          <a:lstStyle/>
          <a:p>
            <a:pPr indent="0" marL="0">
              <a:buNone/>
            </a:pPr>
            <a:r>
              <a:rPr lang="en-US" sz="1400" b="1" dirty="0">
                <a:solidFill>
                  <a:srgbClr val="E0913A"/>
                </a:solidFill>
                <a:latin typeface="Calibri" pitchFamily="34" charset="0"/>
                <a:ea typeface="Calibri" pitchFamily="34" charset="-122"/>
                <a:cs typeface="Calibri" pitchFamily="34" charset="-120"/>
              </a:rPr>
              <a:t>The open catalogues</a:t>
            </a:r>
            <a:endParaRPr lang="en-US" sz="1400" dirty="0"/>
          </a:p>
        </p:txBody>
      </p:sp>
      <p:sp>
        <p:nvSpPr>
          <p:cNvPr id="18" name="Text 16"/>
          <p:cNvSpPr/>
          <p:nvPr/>
        </p:nvSpPr>
        <p:spPr>
          <a:xfrm>
            <a:off x="8314944" y="2770632"/>
            <a:ext cx="3041904" cy="1426464"/>
          </a:xfrm>
          <a:prstGeom prst="rect">
            <a:avLst/>
          </a:prstGeom>
          <a:noFill/>
          <a:ln/>
        </p:spPr>
        <p:txBody>
          <a:bodyPr wrap="square" lIns="0" tIns="0" rIns="0" bIns="0" rtlCol="0" anchor="ctr"/>
          <a:lstStyle/>
          <a:p>
            <a:pPr indent="0" marL="0">
              <a:lnSpc>
                <a:spcPts val="1350"/>
              </a:lnSpc>
              <a:buNone/>
            </a:pPr>
            <a:r>
              <a:rPr lang="en-US" sz="1050" dirty="0">
                <a:solidFill>
                  <a:srgbClr val="B4C8BC"/>
                </a:solidFill>
                <a:latin typeface="Calibri" pitchFamily="34" charset="0"/>
                <a:ea typeface="Calibri" pitchFamily="34" charset="-122"/>
                <a:cs typeface="Calibri" pitchFamily="34" charset="-120"/>
              </a:rPr>
              <a:t>PhET, the Protein Data Bank, PubChem, Wikimedia, NASA. Every picture and structure arrives with its source and its licence attached.</a:t>
            </a:r>
            <a:endParaRPr lang="en-US" sz="1050" dirty="0"/>
          </a:p>
        </p:txBody>
      </p:sp>
      <p:sp>
        <p:nvSpPr>
          <p:cNvPr id="19" name="Shape 17"/>
          <p:cNvSpPr/>
          <p:nvPr/>
        </p:nvSpPr>
        <p:spPr>
          <a:xfrm>
            <a:off x="548640" y="4590288"/>
            <a:ext cx="11064240" cy="1170432"/>
          </a:xfrm>
          <a:prstGeom prst="roundRect">
            <a:avLst>
              <a:gd name="adj" fmla="val 8594"/>
            </a:avLst>
          </a:prstGeom>
          <a:solidFill>
            <a:srgbClr val="24473D"/>
          </a:solidFill>
          <a:ln/>
          <a:effectLst>
            <a:outerShdw sx="100000" sy="100000" kx="0" ky="0" algn="bl" rotWithShape="0" blurRad="127000" dist="25400" dir="5400000">
              <a:srgbClr val="10231E">
                <a:alpha val="16000"/>
              </a:srgbClr>
            </a:outerShdw>
          </a:effectLst>
        </p:spPr>
      </p:sp>
      <p:sp>
        <p:nvSpPr>
          <p:cNvPr id="20" name="Text 18"/>
          <p:cNvSpPr/>
          <p:nvPr/>
        </p:nvSpPr>
        <p:spPr>
          <a:xfrm>
            <a:off x="841248" y="4736592"/>
            <a:ext cx="10515600" cy="274320"/>
          </a:xfrm>
          <a:prstGeom prst="rect">
            <a:avLst/>
          </a:prstGeom>
          <a:noFill/>
          <a:ln/>
        </p:spPr>
        <p:txBody>
          <a:bodyPr wrap="square" lIns="0" tIns="0" rIns="0" bIns="0" rtlCol="0" anchor="ctr"/>
          <a:lstStyle/>
          <a:p>
            <a:pPr indent="0" marL="0">
              <a:buNone/>
            </a:pPr>
            <a:r>
              <a:rPr lang="en-US" sz="1250" b="1" dirty="0">
                <a:solidFill>
                  <a:srgbClr val="E0913A"/>
                </a:solidFill>
                <a:latin typeface="Calibri" pitchFamily="34" charset="0"/>
                <a:ea typeface="Calibri" pitchFamily="34" charset="-122"/>
                <a:cs typeface="Calibri" pitchFamily="34" charset="-120"/>
              </a:rPr>
              <a:t>What we are not claiming</a:t>
            </a:r>
            <a:endParaRPr lang="en-US" sz="1250" dirty="0"/>
          </a:p>
        </p:txBody>
      </p:sp>
      <p:sp>
        <p:nvSpPr>
          <p:cNvPr id="21" name="Text 19"/>
          <p:cNvSpPr/>
          <p:nvPr/>
        </p:nvSpPr>
        <p:spPr>
          <a:xfrm>
            <a:off x="841248" y="5029200"/>
            <a:ext cx="10515600" cy="603504"/>
          </a:xfrm>
          <a:prstGeom prst="rect">
            <a:avLst/>
          </a:prstGeom>
          <a:noFill/>
          <a:ln/>
        </p:spPr>
        <p:txBody>
          <a:bodyPr wrap="square" lIns="0" tIns="0" rIns="0" bIns="0" rtlCol="0" anchor="ctr"/>
          <a:lstStyle/>
          <a:p>
            <a:pPr indent="0" marL="0">
              <a:lnSpc>
                <a:spcPts val="1350"/>
              </a:lnSpc>
              <a:buNone/>
            </a:pPr>
            <a:r>
              <a:rPr lang="en-US" sz="1050" dirty="0">
                <a:solidFill>
                  <a:srgbClr val="B4C8BC"/>
                </a:solidFill>
                <a:latin typeface="Calibri" pitchFamily="34" charset="0"/>
                <a:ea typeface="Calibri" pitchFamily="34" charset="-122"/>
                <a:cs typeface="Calibri" pitchFamily="34" charset="-120"/>
              </a:rPr>
              <a:t>There is no B.Tech textbook corpus in there today. Degree-level explanations are written at the level you set, against your material and the catalogues. NPTEL and MIT OpenCourseWare are next, and we would rather say that here than have you find it in week one.</a:t>
            </a:r>
            <a:endParaRPr lang="en-US" sz="1050" dirty="0"/>
          </a:p>
        </p:txBody>
      </p:sp>
      <p:sp>
        <p:nvSpPr>
          <p:cNvPr id="22" name="Text 20"/>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8FA89B"/>
                </a:solidFill>
                <a:latin typeface="Calibri" pitchFamily="34" charset="0"/>
                <a:ea typeface="Calibri" pitchFamily="34" charset="-122"/>
                <a:cs typeface="Calibri" pitchFamily="34" charset="-120"/>
              </a:rPr>
              <a:t>What a student searched or asked is stored scoped to their own institution, and never used to source anybody else's answer.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SOURCES, AND THEIR LICENCES</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Where the answers come from</a:t>
            </a:r>
            <a:endParaRPr lang="en-US" sz="3300" dirty="0"/>
          </a:p>
        </p:txBody>
      </p:sp>
      <p:sp>
        <p:nvSpPr>
          <p:cNvPr id="4" name="Shape 2"/>
          <p:cNvSpPr/>
          <p:nvPr/>
        </p:nvSpPr>
        <p:spPr>
          <a:xfrm>
            <a:off x="548640" y="1600200"/>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280160"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NCERT</a:t>
            </a:r>
            <a:endParaRPr lang="en-US" sz="1250" dirty="0"/>
          </a:p>
        </p:txBody>
      </p:sp>
      <p:sp>
        <p:nvSpPr>
          <p:cNvPr id="8" name="Text 6"/>
          <p:cNvSpPr/>
          <p:nvPr/>
        </p:nvSpPr>
        <p:spPr>
          <a:xfrm>
            <a:off x="786384" y="2221992"/>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Class 6 to 12 Science, Maths, Physics, Chemistry and Biology.</a:t>
            </a:r>
            <a:endParaRPr lang="en-US" sz="980" dirty="0"/>
          </a:p>
        </p:txBody>
      </p:sp>
      <p:sp>
        <p:nvSpPr>
          <p:cNvPr id="9" name="Shape 7"/>
          <p:cNvSpPr/>
          <p:nvPr/>
        </p:nvSpPr>
        <p:spPr>
          <a:xfrm>
            <a:off x="6181344" y="1600200"/>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6400800" y="1783080"/>
            <a:ext cx="402336" cy="402336"/>
          </a:xfrm>
          <a:prstGeom prst="ellipse">
            <a:avLst/>
          </a:prstGeom>
          <a:solidFill>
            <a:srgbClr val="E0913A"/>
          </a:solidFill>
          <a:ln/>
        </p:spPr>
      </p:sp>
      <p:sp>
        <p:nvSpPr>
          <p:cNvPr id="11" name="Text 9"/>
          <p:cNvSpPr/>
          <p:nvPr/>
        </p:nvSpPr>
        <p:spPr>
          <a:xfrm>
            <a:off x="6400800"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6912864"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PhET, University of Colorado</a:t>
            </a:r>
            <a:endParaRPr lang="en-US" sz="1250" dirty="0"/>
          </a:p>
        </p:txBody>
      </p:sp>
      <p:sp>
        <p:nvSpPr>
          <p:cNvPr id="13" name="Text 11"/>
          <p:cNvSpPr/>
          <p:nvPr/>
        </p:nvSpPr>
        <p:spPr>
          <a:xfrm>
            <a:off x="6419088" y="2221992"/>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 interactive simulations, free and open.</a:t>
            </a:r>
            <a:endParaRPr lang="en-US" sz="980" dirty="0"/>
          </a:p>
        </p:txBody>
      </p:sp>
      <p:sp>
        <p:nvSpPr>
          <p:cNvPr id="14" name="Shape 12"/>
          <p:cNvSpPr/>
          <p:nvPr/>
        </p:nvSpPr>
        <p:spPr>
          <a:xfrm>
            <a:off x="548640" y="2660904"/>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768096" y="2843784"/>
            <a:ext cx="402336" cy="402336"/>
          </a:xfrm>
          <a:prstGeom prst="ellipse">
            <a:avLst/>
          </a:prstGeom>
          <a:solidFill>
            <a:srgbClr val="E0913A"/>
          </a:solidFill>
          <a:ln/>
        </p:spPr>
      </p:sp>
      <p:sp>
        <p:nvSpPr>
          <p:cNvPr id="16" name="Text 14"/>
          <p:cNvSpPr/>
          <p:nvPr/>
        </p:nvSpPr>
        <p:spPr>
          <a:xfrm>
            <a:off x="768096" y="28437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1280160" y="2807208"/>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RCSB Protein Data Bank</a:t>
            </a:r>
            <a:endParaRPr lang="en-US" sz="1250" dirty="0"/>
          </a:p>
        </p:txBody>
      </p:sp>
      <p:sp>
        <p:nvSpPr>
          <p:cNvPr id="18" name="Text 16"/>
          <p:cNvSpPr/>
          <p:nvPr/>
        </p:nvSpPr>
        <p:spPr>
          <a:xfrm>
            <a:off x="786384" y="3282696"/>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Real protein and molecular structures, measured.</a:t>
            </a:r>
            <a:endParaRPr lang="en-US" sz="980" dirty="0"/>
          </a:p>
        </p:txBody>
      </p:sp>
      <p:sp>
        <p:nvSpPr>
          <p:cNvPr id="19" name="Shape 17"/>
          <p:cNvSpPr/>
          <p:nvPr/>
        </p:nvSpPr>
        <p:spPr>
          <a:xfrm>
            <a:off x="6181344" y="2660904"/>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6400800" y="2843784"/>
            <a:ext cx="402336" cy="402336"/>
          </a:xfrm>
          <a:prstGeom prst="ellipse">
            <a:avLst/>
          </a:prstGeom>
          <a:solidFill>
            <a:srgbClr val="E0913A"/>
          </a:solidFill>
          <a:ln/>
        </p:spPr>
      </p:sp>
      <p:sp>
        <p:nvSpPr>
          <p:cNvPr id="21" name="Text 19"/>
          <p:cNvSpPr/>
          <p:nvPr/>
        </p:nvSpPr>
        <p:spPr>
          <a:xfrm>
            <a:off x="6400800" y="284378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6912864" y="2807208"/>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PubChem</a:t>
            </a:r>
            <a:endParaRPr lang="en-US" sz="1250" dirty="0"/>
          </a:p>
        </p:txBody>
      </p:sp>
      <p:sp>
        <p:nvSpPr>
          <p:cNvPr id="23" name="Text 21"/>
          <p:cNvSpPr/>
          <p:nvPr/>
        </p:nvSpPr>
        <p:spPr>
          <a:xfrm>
            <a:off x="6419088" y="3282696"/>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Chemical structures and properties, from the NIH.</a:t>
            </a:r>
            <a:endParaRPr lang="en-US" sz="980" dirty="0"/>
          </a:p>
        </p:txBody>
      </p:sp>
      <p:sp>
        <p:nvSpPr>
          <p:cNvPr id="24" name="Shape 22"/>
          <p:cNvSpPr/>
          <p:nvPr/>
        </p:nvSpPr>
        <p:spPr>
          <a:xfrm>
            <a:off x="548640" y="3721608"/>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3904488"/>
            <a:ext cx="402336" cy="402336"/>
          </a:xfrm>
          <a:prstGeom prst="ellipse">
            <a:avLst/>
          </a:prstGeom>
          <a:solidFill>
            <a:srgbClr val="E0913A"/>
          </a:solidFill>
          <a:ln/>
        </p:spPr>
      </p:sp>
      <p:sp>
        <p:nvSpPr>
          <p:cNvPr id="26" name="Text 24"/>
          <p:cNvSpPr/>
          <p:nvPr/>
        </p:nvSpPr>
        <p:spPr>
          <a:xfrm>
            <a:off x="768096" y="39044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1280160" y="3867912"/>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Wikimedia Commons</a:t>
            </a:r>
            <a:endParaRPr lang="en-US" sz="1250" dirty="0"/>
          </a:p>
        </p:txBody>
      </p:sp>
      <p:sp>
        <p:nvSpPr>
          <p:cNvPr id="28" name="Text 26"/>
          <p:cNvSpPr/>
          <p:nvPr/>
        </p:nvSpPr>
        <p:spPr>
          <a:xfrm>
            <a:off x="786384" y="4343400"/>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Photographs and diagrams, each with its licence shown.</a:t>
            </a:r>
            <a:endParaRPr lang="en-US" sz="980" dirty="0"/>
          </a:p>
        </p:txBody>
      </p:sp>
      <p:sp>
        <p:nvSpPr>
          <p:cNvPr id="29" name="Shape 27"/>
          <p:cNvSpPr/>
          <p:nvPr/>
        </p:nvSpPr>
        <p:spPr>
          <a:xfrm>
            <a:off x="6181344" y="3721608"/>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6400800" y="3904488"/>
            <a:ext cx="402336" cy="402336"/>
          </a:xfrm>
          <a:prstGeom prst="ellipse">
            <a:avLst/>
          </a:prstGeom>
          <a:solidFill>
            <a:srgbClr val="E0913A"/>
          </a:solidFill>
          <a:ln/>
        </p:spPr>
      </p:sp>
      <p:sp>
        <p:nvSpPr>
          <p:cNvPr id="31" name="Text 29"/>
          <p:cNvSpPr/>
          <p:nvPr/>
        </p:nvSpPr>
        <p:spPr>
          <a:xfrm>
            <a:off x="6400800" y="390448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p:nvPr/>
        </p:nvSpPr>
        <p:spPr>
          <a:xfrm>
            <a:off x="6912864" y="3867912"/>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NASA image library</a:t>
            </a:r>
            <a:endParaRPr lang="en-US" sz="1250" dirty="0"/>
          </a:p>
        </p:txBody>
      </p:sp>
      <p:sp>
        <p:nvSpPr>
          <p:cNvPr id="33" name="Text 31"/>
          <p:cNvSpPr/>
          <p:nvPr/>
        </p:nvSpPr>
        <p:spPr>
          <a:xfrm>
            <a:off x="6419088" y="4343400"/>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Astronomy and earth imagery, public domain.</a:t>
            </a:r>
            <a:endParaRPr lang="en-US" sz="980" dirty="0"/>
          </a:p>
        </p:txBody>
      </p:sp>
      <p:sp>
        <p:nvSpPr>
          <p:cNvPr id="34" name="Shape 32"/>
          <p:cNvSpPr/>
          <p:nvPr/>
        </p:nvSpPr>
        <p:spPr>
          <a:xfrm>
            <a:off x="548640" y="4782312"/>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35" name="Shape 33"/>
          <p:cNvSpPr/>
          <p:nvPr/>
        </p:nvSpPr>
        <p:spPr>
          <a:xfrm>
            <a:off x="768096" y="4965192"/>
            <a:ext cx="402336" cy="402336"/>
          </a:xfrm>
          <a:prstGeom prst="ellipse">
            <a:avLst/>
          </a:prstGeom>
          <a:solidFill>
            <a:srgbClr val="E0913A"/>
          </a:solidFill>
          <a:ln/>
        </p:spPr>
      </p:sp>
      <p:sp>
        <p:nvSpPr>
          <p:cNvPr id="36" name="Text 34"/>
          <p:cNvSpPr/>
          <p:nvPr/>
        </p:nvSpPr>
        <p:spPr>
          <a:xfrm>
            <a:off x="768096" y="4965192"/>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7</a:t>
            </a:r>
            <a:endParaRPr lang="en-US" sz="1250" dirty="0"/>
          </a:p>
        </p:txBody>
      </p:sp>
      <p:sp>
        <p:nvSpPr>
          <p:cNvPr id="37" name="Text 35"/>
          <p:cNvSpPr/>
          <p:nvPr/>
        </p:nvSpPr>
        <p:spPr>
          <a:xfrm>
            <a:off x="1280160" y="4928616"/>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Craxlearn measured tables</a:t>
            </a:r>
            <a:endParaRPr lang="en-US" sz="1250" dirty="0"/>
          </a:p>
        </p:txBody>
      </p:sp>
      <p:sp>
        <p:nvSpPr>
          <p:cNvPr id="38" name="Text 36"/>
          <p:cNvSpPr/>
          <p:nvPr/>
        </p:nvSpPr>
        <p:spPr>
          <a:xfrm>
            <a:off x="786384" y="5404104"/>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 reaction and property tables the lab runs on — never guessed.</a:t>
            </a:r>
            <a:endParaRPr lang="en-US" sz="980" dirty="0"/>
          </a:p>
        </p:txBody>
      </p:sp>
      <p:sp>
        <p:nvSpPr>
          <p:cNvPr id="39" name="Shape 37"/>
          <p:cNvSpPr/>
          <p:nvPr/>
        </p:nvSpPr>
        <p:spPr>
          <a:xfrm>
            <a:off x="6181344" y="4782312"/>
            <a:ext cx="5431536" cy="969264"/>
          </a:xfrm>
          <a:prstGeom prst="roundRect">
            <a:avLst>
              <a:gd name="adj" fmla="val 10377"/>
            </a:avLst>
          </a:prstGeom>
          <a:solidFill>
            <a:srgbClr val="E7EDE7"/>
          </a:solidFill>
          <a:ln/>
          <a:effectLst>
            <a:outerShdw sx="100000" sy="100000" kx="0" ky="0" algn="bl" rotWithShape="0" blurRad="127000" dist="25400" dir="5400000">
              <a:srgbClr val="10231E">
                <a:alpha val="16000"/>
              </a:srgbClr>
            </a:outerShdw>
          </a:effectLst>
        </p:spPr>
      </p:sp>
      <p:sp>
        <p:nvSpPr>
          <p:cNvPr id="40" name="Shape 38"/>
          <p:cNvSpPr/>
          <p:nvPr/>
        </p:nvSpPr>
        <p:spPr>
          <a:xfrm>
            <a:off x="6400800" y="4965192"/>
            <a:ext cx="402336" cy="402336"/>
          </a:xfrm>
          <a:prstGeom prst="ellipse">
            <a:avLst/>
          </a:prstGeom>
          <a:solidFill>
            <a:srgbClr val="E0913A"/>
          </a:solidFill>
          <a:ln/>
        </p:spPr>
      </p:sp>
      <p:sp>
        <p:nvSpPr>
          <p:cNvPr id="41" name="Text 39"/>
          <p:cNvSpPr/>
          <p:nvPr/>
        </p:nvSpPr>
        <p:spPr>
          <a:xfrm>
            <a:off x="6400800" y="4965192"/>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8</a:t>
            </a:r>
            <a:endParaRPr lang="en-US" sz="1250" dirty="0"/>
          </a:p>
        </p:txBody>
      </p:sp>
      <p:sp>
        <p:nvSpPr>
          <p:cNvPr id="42" name="Text 40"/>
          <p:cNvSpPr/>
          <p:nvPr/>
        </p:nvSpPr>
        <p:spPr>
          <a:xfrm>
            <a:off x="6912864" y="4928616"/>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Our own curriculum</a:t>
            </a:r>
            <a:endParaRPr lang="en-US" sz="1250" dirty="0"/>
          </a:p>
        </p:txBody>
      </p:sp>
      <p:sp>
        <p:nvSpPr>
          <p:cNvPr id="43" name="Text 41"/>
          <p:cNvSpPr/>
          <p:nvPr/>
        </p:nvSpPr>
        <p:spPr>
          <a:xfrm>
            <a:off x="6419088" y="5404104"/>
            <a:ext cx="4956048" cy="23774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82 lessons of computing and data, written here.</a:t>
            </a:r>
            <a:endParaRPr lang="en-US" sz="980" dirty="0"/>
          </a:p>
        </p:txBody>
      </p:sp>
      <p:sp>
        <p:nvSpPr>
          <p:cNvPr id="44" name="Shape 42"/>
          <p:cNvSpPr/>
          <p:nvPr/>
        </p:nvSpPr>
        <p:spPr>
          <a:xfrm>
            <a:off x="548640" y="5852160"/>
            <a:ext cx="11064240" cy="548640"/>
          </a:xfrm>
          <a:prstGeom prst="roundRect">
            <a:avLst>
              <a:gd name="adj" fmla="val 18333"/>
            </a:avLst>
          </a:prstGeom>
          <a:solidFill>
            <a:srgbClr val="F6E3C7"/>
          </a:solidFill>
          <a:ln/>
          <a:effectLst>
            <a:outerShdw sx="100000" sy="100000" kx="0" ky="0" algn="bl" rotWithShape="0" blurRad="127000" dist="25400" dir="5400000">
              <a:srgbClr val="10231E">
                <a:alpha val="16000"/>
              </a:srgbClr>
            </a:outerShdw>
          </a:effectLst>
        </p:spPr>
      </p:sp>
      <p:sp>
        <p:nvSpPr>
          <p:cNvPr id="45" name="Text 43"/>
          <p:cNvSpPr/>
          <p:nvPr/>
        </p:nvSpPr>
        <p:spPr>
          <a:xfrm>
            <a:off x="822960" y="5961888"/>
            <a:ext cx="10515600" cy="329184"/>
          </a:xfrm>
          <a:prstGeom prst="rect">
            <a:avLst/>
          </a:prstGeom>
          <a:noFill/>
          <a:ln/>
        </p:spPr>
        <p:txBody>
          <a:bodyPr wrap="square" lIns="0" tIns="0" rIns="0" bIns="0" rtlCol="0" anchor="ctr"/>
          <a:lstStyle/>
          <a:p>
            <a:pPr indent="0" marL="0">
              <a:lnSpc>
                <a:spcPts val="1350"/>
              </a:lnSpc>
              <a:buNone/>
            </a:pPr>
            <a:r>
              <a:rPr lang="en-US" sz="1100" b="1" dirty="0">
                <a:solidFill>
                  <a:srgbClr val="7A4E12"/>
                </a:solidFill>
                <a:latin typeface="Calibri" pitchFamily="34" charset="0"/>
                <a:ea typeface="Calibri" pitchFamily="34" charset="-122"/>
                <a:cs typeface="Calibri" pitchFamily="34" charset="-120"/>
              </a:rPr>
              <a:t>The full list, with licences, is public at craxle.com/api/craxlearn/sources — no account needed.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WHY AN INSTITUTION BUYS THIS</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The placement half</a:t>
            </a:r>
            <a:endParaRPr lang="en-US" sz="3300" dirty="0"/>
          </a:p>
        </p:txBody>
      </p:sp>
      <p:sp>
        <p:nvSpPr>
          <p:cNvPr id="4" name="Shape 2"/>
          <p:cNvSpPr/>
          <p:nvPr/>
        </p:nvSpPr>
        <p:spPr>
          <a:xfrm>
            <a:off x="548640" y="1600200"/>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280160"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Real openings, from India</a:t>
            </a:r>
            <a:endParaRPr lang="en-US" sz="1250" dirty="0"/>
          </a:p>
        </p:txBody>
      </p:sp>
      <p:sp>
        <p:nvSpPr>
          <p:cNvPr id="8" name="Text 6"/>
          <p:cNvSpPr/>
          <p:nvPr/>
        </p:nvSpPr>
        <p:spPr>
          <a:xfrm>
            <a:off x="786384" y="2221992"/>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Fetched from employers' own public hiring systems. Nothing scraped from job aggregators, and nothing outside India.</a:t>
            </a:r>
            <a:endParaRPr lang="en-US" sz="980" dirty="0"/>
          </a:p>
        </p:txBody>
      </p:sp>
      <p:sp>
        <p:nvSpPr>
          <p:cNvPr id="9" name="Shape 7"/>
          <p:cNvSpPr/>
          <p:nvPr/>
        </p:nvSpPr>
        <p:spPr>
          <a:xfrm>
            <a:off x="6181344" y="1600200"/>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6400800" y="1783080"/>
            <a:ext cx="402336" cy="402336"/>
          </a:xfrm>
          <a:prstGeom prst="ellipse">
            <a:avLst/>
          </a:prstGeom>
          <a:solidFill>
            <a:srgbClr val="E0913A"/>
          </a:solidFill>
          <a:ln/>
        </p:spPr>
      </p:sp>
      <p:sp>
        <p:nvSpPr>
          <p:cNvPr id="11" name="Text 9"/>
          <p:cNvSpPr/>
          <p:nvPr/>
        </p:nvSpPr>
        <p:spPr>
          <a:xfrm>
            <a:off x="6400800"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6912864"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Matching, free for every student</a:t>
            </a:r>
            <a:endParaRPr lang="en-US" sz="1250" dirty="0"/>
          </a:p>
        </p:txBody>
      </p:sp>
      <p:sp>
        <p:nvSpPr>
          <p:cNvPr id="13" name="Text 11"/>
          <p:cNvSpPr/>
          <p:nvPr/>
        </p:nvSpPr>
        <p:spPr>
          <a:xfrm>
            <a:off x="6419088" y="2221992"/>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Paste a CV and see it ranked against real openings. Deterministic scoring, no per-student cost.</a:t>
            </a:r>
            <a:endParaRPr lang="en-US" sz="980" dirty="0"/>
          </a:p>
        </p:txBody>
      </p:sp>
      <p:sp>
        <p:nvSpPr>
          <p:cNvPr id="14" name="Shape 12"/>
          <p:cNvSpPr/>
          <p:nvPr/>
        </p:nvSpPr>
        <p:spPr>
          <a:xfrm>
            <a:off x="548640" y="2935224"/>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768096" y="3118104"/>
            <a:ext cx="402336" cy="402336"/>
          </a:xfrm>
          <a:prstGeom prst="ellipse">
            <a:avLst/>
          </a:prstGeom>
          <a:solidFill>
            <a:srgbClr val="E0913A"/>
          </a:solidFill>
          <a:ln/>
        </p:spPr>
      </p:sp>
      <p:sp>
        <p:nvSpPr>
          <p:cNvPr id="16" name="Text 14"/>
          <p:cNvSpPr/>
          <p:nvPr/>
        </p:nvSpPr>
        <p:spPr>
          <a:xfrm>
            <a:off x="768096" y="311810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1280160" y="3081528"/>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What an ATS sees</a:t>
            </a:r>
            <a:endParaRPr lang="en-US" sz="1250" dirty="0"/>
          </a:p>
        </p:txBody>
      </p:sp>
      <p:sp>
        <p:nvSpPr>
          <p:cNvPr id="18" name="Text 16"/>
          <p:cNvSpPr/>
          <p:nvPr/>
        </p:nvSpPr>
        <p:spPr>
          <a:xfrm>
            <a:off x="786384" y="3557016"/>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 CV as a screening system reads it, and the gaps named as gaps.</a:t>
            </a:r>
            <a:endParaRPr lang="en-US" sz="980" dirty="0"/>
          </a:p>
        </p:txBody>
      </p:sp>
      <p:sp>
        <p:nvSpPr>
          <p:cNvPr id="19" name="Shape 17"/>
          <p:cNvSpPr/>
          <p:nvPr/>
        </p:nvSpPr>
        <p:spPr>
          <a:xfrm>
            <a:off x="6181344" y="2935224"/>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6400800" y="3118104"/>
            <a:ext cx="402336" cy="402336"/>
          </a:xfrm>
          <a:prstGeom prst="ellipse">
            <a:avLst/>
          </a:prstGeom>
          <a:solidFill>
            <a:srgbClr val="E0913A"/>
          </a:solidFill>
          <a:ln/>
        </p:spPr>
      </p:sp>
      <p:sp>
        <p:nvSpPr>
          <p:cNvPr id="21" name="Text 19"/>
          <p:cNvSpPr/>
          <p:nvPr/>
        </p:nvSpPr>
        <p:spPr>
          <a:xfrm>
            <a:off x="6400800" y="3118104"/>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6912864" y="3081528"/>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 tracker and apply kits</a:t>
            </a:r>
            <a:endParaRPr lang="en-US" sz="1250" dirty="0"/>
          </a:p>
        </p:txBody>
      </p:sp>
      <p:sp>
        <p:nvSpPr>
          <p:cNvPr id="23" name="Text 21"/>
          <p:cNvSpPr/>
          <p:nvPr/>
        </p:nvSpPr>
        <p:spPr>
          <a:xfrm>
            <a:off x="6419088" y="3557016"/>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Saved and applied roles, and material prepared per application.</a:t>
            </a:r>
            <a:endParaRPr lang="en-US" sz="980" dirty="0"/>
          </a:p>
        </p:txBody>
      </p:sp>
      <p:sp>
        <p:nvSpPr>
          <p:cNvPr id="24" name="Shape 22"/>
          <p:cNvSpPr/>
          <p:nvPr/>
        </p:nvSpPr>
        <p:spPr>
          <a:xfrm>
            <a:off x="548640" y="4270248"/>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4453128"/>
            <a:ext cx="402336" cy="402336"/>
          </a:xfrm>
          <a:prstGeom prst="ellipse">
            <a:avLst/>
          </a:prstGeom>
          <a:solidFill>
            <a:srgbClr val="E0913A"/>
          </a:solidFill>
          <a:ln/>
        </p:spPr>
      </p:sp>
      <p:sp>
        <p:nvSpPr>
          <p:cNvPr id="26" name="Text 24"/>
          <p:cNvSpPr/>
          <p:nvPr/>
        </p:nvSpPr>
        <p:spPr>
          <a:xfrm>
            <a:off x="768096" y="445312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1280160" y="4416552"/>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Autofill in the browser</a:t>
            </a:r>
            <a:endParaRPr lang="en-US" sz="1250" dirty="0"/>
          </a:p>
        </p:txBody>
      </p:sp>
      <p:sp>
        <p:nvSpPr>
          <p:cNvPr id="28" name="Text 26"/>
          <p:cNvSpPr/>
          <p:nvPr/>
        </p:nvSpPr>
        <p:spPr>
          <a:xfrm>
            <a:off x="786384" y="4892040"/>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An extension that fills the employer's own form from the student's stored profile.</a:t>
            </a:r>
            <a:endParaRPr lang="en-US" sz="980" dirty="0"/>
          </a:p>
        </p:txBody>
      </p:sp>
      <p:sp>
        <p:nvSpPr>
          <p:cNvPr id="29" name="Shape 27"/>
          <p:cNvSpPr/>
          <p:nvPr/>
        </p:nvSpPr>
        <p:spPr>
          <a:xfrm>
            <a:off x="6181344" y="4270248"/>
            <a:ext cx="5431536" cy="1188720"/>
          </a:xfrm>
          <a:prstGeom prst="roundRect">
            <a:avLst>
              <a:gd name="adj" fmla="val 8462"/>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6400800" y="4453128"/>
            <a:ext cx="402336" cy="402336"/>
          </a:xfrm>
          <a:prstGeom prst="ellipse">
            <a:avLst/>
          </a:prstGeom>
          <a:solidFill>
            <a:srgbClr val="E0913A"/>
          </a:solidFill>
          <a:ln/>
        </p:spPr>
      </p:sp>
      <p:sp>
        <p:nvSpPr>
          <p:cNvPr id="31" name="Text 29"/>
          <p:cNvSpPr/>
          <p:nvPr/>
        </p:nvSpPr>
        <p:spPr>
          <a:xfrm>
            <a:off x="6400800" y="4453128"/>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p:nvPr/>
        </p:nvSpPr>
        <p:spPr>
          <a:xfrm>
            <a:off x="6912864" y="4416552"/>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Age-gated, and off by default</a:t>
            </a:r>
            <a:endParaRPr lang="en-US" sz="1250" dirty="0"/>
          </a:p>
        </p:txBody>
      </p:sp>
      <p:sp>
        <p:nvSpPr>
          <p:cNvPr id="33" name="Text 31"/>
          <p:cNvSpPr/>
          <p:nvPr/>
        </p:nvSpPr>
        <p:spPr>
          <a:xfrm>
            <a:off x="6419088" y="4892040"/>
            <a:ext cx="4956048" cy="457200"/>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It opens once a student states a date of birth making them 18. Being visible to employers stays off until they turn it on.</a:t>
            </a:r>
            <a:endParaRPr lang="en-US" sz="980" dirty="0"/>
          </a:p>
        </p:txBody>
      </p:sp>
      <p:sp>
        <p:nvSpPr>
          <p:cNvPr id="34" name="Text 32"/>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The placement cell gets the half a teaching product never has, on accounts the students already hold.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WHAT AN ENGINEERING COLLEGE HAS TO ANSWER FOR</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Privacy, under the DPDP Act 2023</a:t>
            </a:r>
            <a:endParaRPr lang="en-US" sz="3300" dirty="0"/>
          </a:p>
        </p:txBody>
      </p:sp>
      <p:sp>
        <p:nvSpPr>
          <p:cNvPr id="4" name="Shape 2"/>
          <p:cNvSpPr/>
          <p:nvPr/>
        </p:nvSpPr>
        <p:spPr>
          <a:xfrm>
            <a:off x="548640" y="1600200"/>
            <a:ext cx="5431536" cy="1243584"/>
          </a:xfrm>
          <a:prstGeom prst="roundRect">
            <a:avLst>
              <a:gd name="adj" fmla="val 8088"/>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02336" cy="402336"/>
          </a:xfrm>
          <a:prstGeom prst="ellipse">
            <a:avLst/>
          </a:prstGeom>
          <a:solidFill>
            <a:srgbClr val="E0913A"/>
          </a:solidFill>
          <a:ln/>
        </p:spPr>
      </p:sp>
      <p:sp>
        <p:nvSpPr>
          <p:cNvPr id="6" name="Text 4"/>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1280160"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Adults consent for themselves</a:t>
            </a:r>
            <a:endParaRPr lang="en-US" sz="1250" dirty="0"/>
          </a:p>
        </p:txBody>
      </p:sp>
      <p:sp>
        <p:nvSpPr>
          <p:cNvPr id="8" name="Text 6"/>
          <p:cNvSpPr/>
          <p:nvPr/>
        </p:nvSpPr>
        <p:spPr>
          <a:xfrm>
            <a:off x="786384" y="2221992"/>
            <a:ext cx="4956048" cy="51206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Over 18 the student is the data principal. No institutional consent is needed and none is faked.</a:t>
            </a:r>
            <a:endParaRPr lang="en-US" sz="980" dirty="0"/>
          </a:p>
        </p:txBody>
      </p:sp>
      <p:sp>
        <p:nvSpPr>
          <p:cNvPr id="9" name="Shape 7"/>
          <p:cNvSpPr/>
          <p:nvPr/>
        </p:nvSpPr>
        <p:spPr>
          <a:xfrm>
            <a:off x="6181344" y="1600200"/>
            <a:ext cx="5431536" cy="1243584"/>
          </a:xfrm>
          <a:prstGeom prst="roundRect">
            <a:avLst>
              <a:gd name="adj" fmla="val 8088"/>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6400800" y="1783080"/>
            <a:ext cx="402336" cy="402336"/>
          </a:xfrm>
          <a:prstGeom prst="ellipse">
            <a:avLst/>
          </a:prstGeom>
          <a:solidFill>
            <a:srgbClr val="E0913A"/>
          </a:solidFill>
          <a:ln/>
        </p:spPr>
      </p:sp>
      <p:sp>
        <p:nvSpPr>
          <p:cNvPr id="11" name="Text 9"/>
          <p:cNvSpPr/>
          <p:nvPr/>
        </p:nvSpPr>
        <p:spPr>
          <a:xfrm>
            <a:off x="6400800" y="17830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6912864" y="17465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Under-18s are still children</a:t>
            </a:r>
            <a:endParaRPr lang="en-US" sz="1250" dirty="0"/>
          </a:p>
        </p:txBody>
      </p:sp>
      <p:sp>
        <p:nvSpPr>
          <p:cNvPr id="13" name="Text 11"/>
          <p:cNvSpPr/>
          <p:nvPr/>
        </p:nvSpPr>
        <p:spPr>
          <a:xfrm>
            <a:off x="6419088" y="2221992"/>
            <a:ext cx="4956048" cy="51206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A first-year who is 17 is treated as a child under the Act until their stated date of birth says otherwise.</a:t>
            </a:r>
            <a:endParaRPr lang="en-US" sz="980" dirty="0"/>
          </a:p>
        </p:txBody>
      </p:sp>
      <p:sp>
        <p:nvSpPr>
          <p:cNvPr id="14" name="Shape 12"/>
          <p:cNvSpPr/>
          <p:nvPr/>
        </p:nvSpPr>
        <p:spPr>
          <a:xfrm>
            <a:off x="548640" y="2971800"/>
            <a:ext cx="5431536" cy="1243584"/>
          </a:xfrm>
          <a:prstGeom prst="roundRect">
            <a:avLst>
              <a:gd name="adj" fmla="val 8088"/>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768096" y="3154680"/>
            <a:ext cx="402336" cy="402336"/>
          </a:xfrm>
          <a:prstGeom prst="ellipse">
            <a:avLst/>
          </a:prstGeom>
          <a:solidFill>
            <a:srgbClr val="E0913A"/>
          </a:solidFill>
          <a:ln/>
        </p:spPr>
      </p:sp>
      <p:sp>
        <p:nvSpPr>
          <p:cNvPr id="16" name="Text 14"/>
          <p:cNvSpPr/>
          <p:nvPr/>
        </p:nvSpPr>
        <p:spPr>
          <a:xfrm>
            <a:off x="768096" y="31546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1280160" y="31181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No advertising. None.</a:t>
            </a:r>
            <a:endParaRPr lang="en-US" sz="1250" dirty="0"/>
          </a:p>
        </p:txBody>
      </p:sp>
      <p:sp>
        <p:nvSpPr>
          <p:cNvPr id="18" name="Text 16"/>
          <p:cNvSpPr/>
          <p:nvPr/>
        </p:nvSpPr>
        <p:spPr>
          <a:xfrm>
            <a:off x="786384" y="3593592"/>
            <a:ext cx="4956048" cy="51206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No ad network, no behavioural profiling, no third-party analytics anywhere in the product, for anybody of any age.</a:t>
            </a:r>
            <a:endParaRPr lang="en-US" sz="980" dirty="0"/>
          </a:p>
        </p:txBody>
      </p:sp>
      <p:sp>
        <p:nvSpPr>
          <p:cNvPr id="19" name="Shape 17"/>
          <p:cNvSpPr/>
          <p:nvPr/>
        </p:nvSpPr>
        <p:spPr>
          <a:xfrm>
            <a:off x="6181344" y="2971800"/>
            <a:ext cx="5431536" cy="1243584"/>
          </a:xfrm>
          <a:prstGeom prst="roundRect">
            <a:avLst>
              <a:gd name="adj" fmla="val 8088"/>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6400800" y="3154680"/>
            <a:ext cx="402336" cy="402336"/>
          </a:xfrm>
          <a:prstGeom prst="ellipse">
            <a:avLst/>
          </a:prstGeom>
          <a:solidFill>
            <a:srgbClr val="E0913A"/>
          </a:solidFill>
          <a:ln/>
        </p:spPr>
      </p:sp>
      <p:sp>
        <p:nvSpPr>
          <p:cNvPr id="21" name="Text 19"/>
          <p:cNvSpPr/>
          <p:nvPr/>
        </p:nvSpPr>
        <p:spPr>
          <a:xfrm>
            <a:off x="6400800" y="31546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6912864" y="31181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job board is age-gated</a:t>
            </a:r>
            <a:endParaRPr lang="en-US" sz="1250" dirty="0"/>
          </a:p>
        </p:txBody>
      </p:sp>
      <p:sp>
        <p:nvSpPr>
          <p:cNvPr id="23" name="Text 21"/>
          <p:cNvSpPr/>
          <p:nvPr/>
        </p:nvSpPr>
        <p:spPr>
          <a:xfrm>
            <a:off x="6419088" y="3593592"/>
            <a:ext cx="4956048" cy="51206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It opens only once a student states a date of birth that makes them 18. Nothing is sold to anyone inside a lecture.</a:t>
            </a:r>
            <a:endParaRPr lang="en-US" sz="980" dirty="0"/>
          </a:p>
        </p:txBody>
      </p:sp>
      <p:sp>
        <p:nvSpPr>
          <p:cNvPr id="24" name="Shape 22"/>
          <p:cNvSpPr/>
          <p:nvPr/>
        </p:nvSpPr>
        <p:spPr>
          <a:xfrm>
            <a:off x="548640" y="4343400"/>
            <a:ext cx="5431536" cy="1243584"/>
          </a:xfrm>
          <a:prstGeom prst="roundRect">
            <a:avLst>
              <a:gd name="adj" fmla="val 8088"/>
            </a:avLst>
          </a:prstGeom>
          <a:solidFill>
            <a:srgbClr val="E7EDE7"/>
          </a:solidFill>
          <a:ln/>
          <a:effectLst>
            <a:outerShdw sx="100000" sy="100000" kx="0" ky="0" algn="bl" rotWithShape="0" blurRad="127000" dist="25400" dir="5400000">
              <a:srgbClr val="10231E">
                <a:alpha val="16000"/>
              </a:srgbClr>
            </a:outerShdw>
          </a:effectLst>
        </p:spPr>
      </p:sp>
      <p:sp>
        <p:nvSpPr>
          <p:cNvPr id="25" name="Shape 23"/>
          <p:cNvSpPr/>
          <p:nvPr/>
        </p:nvSpPr>
        <p:spPr>
          <a:xfrm>
            <a:off x="768096" y="4526280"/>
            <a:ext cx="402336" cy="402336"/>
          </a:xfrm>
          <a:prstGeom prst="ellipse">
            <a:avLst/>
          </a:prstGeom>
          <a:solidFill>
            <a:srgbClr val="E0913A"/>
          </a:solidFill>
          <a:ln/>
        </p:spPr>
      </p:sp>
      <p:sp>
        <p:nvSpPr>
          <p:cNvPr id="26" name="Text 24"/>
          <p:cNvSpPr/>
          <p:nvPr/>
        </p:nvSpPr>
        <p:spPr>
          <a:xfrm>
            <a:off x="768096" y="45262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27" name="Text 25"/>
          <p:cNvSpPr/>
          <p:nvPr/>
        </p:nvSpPr>
        <p:spPr>
          <a:xfrm>
            <a:off x="1280160" y="44897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A student can delete their history</a:t>
            </a:r>
            <a:endParaRPr lang="en-US" sz="1250" dirty="0"/>
          </a:p>
        </p:txBody>
      </p:sp>
      <p:sp>
        <p:nvSpPr>
          <p:cNvPr id="28" name="Text 26"/>
          <p:cNvSpPr/>
          <p:nvPr/>
        </p:nvSpPr>
        <p:spPr>
          <a:xfrm>
            <a:off x="786384" y="4965192"/>
            <a:ext cx="4956048" cy="51206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There is a button for it. It is theirs.</a:t>
            </a:r>
            <a:endParaRPr lang="en-US" sz="980" dirty="0"/>
          </a:p>
        </p:txBody>
      </p:sp>
      <p:sp>
        <p:nvSpPr>
          <p:cNvPr id="29" name="Shape 27"/>
          <p:cNvSpPr/>
          <p:nvPr/>
        </p:nvSpPr>
        <p:spPr>
          <a:xfrm>
            <a:off x="6181344" y="4343400"/>
            <a:ext cx="5431536" cy="1243584"/>
          </a:xfrm>
          <a:prstGeom prst="roundRect">
            <a:avLst>
              <a:gd name="adj" fmla="val 8088"/>
            </a:avLst>
          </a:prstGeom>
          <a:solidFill>
            <a:srgbClr val="E7EDE7"/>
          </a:solidFill>
          <a:ln/>
          <a:effectLst>
            <a:outerShdw sx="100000" sy="100000" kx="0" ky="0" algn="bl" rotWithShape="0" blurRad="127000" dist="25400" dir="5400000">
              <a:srgbClr val="10231E">
                <a:alpha val="16000"/>
              </a:srgbClr>
            </a:outerShdw>
          </a:effectLst>
        </p:spPr>
      </p:sp>
      <p:sp>
        <p:nvSpPr>
          <p:cNvPr id="30" name="Shape 28"/>
          <p:cNvSpPr/>
          <p:nvPr/>
        </p:nvSpPr>
        <p:spPr>
          <a:xfrm>
            <a:off x="6400800" y="4526280"/>
            <a:ext cx="402336" cy="402336"/>
          </a:xfrm>
          <a:prstGeom prst="ellipse">
            <a:avLst/>
          </a:prstGeom>
          <a:solidFill>
            <a:srgbClr val="E0913A"/>
          </a:solidFill>
          <a:ln/>
        </p:spPr>
      </p:sp>
      <p:sp>
        <p:nvSpPr>
          <p:cNvPr id="31" name="Text 29"/>
          <p:cNvSpPr/>
          <p:nvPr/>
        </p:nvSpPr>
        <p:spPr>
          <a:xfrm>
            <a:off x="6400800" y="4526280"/>
            <a:ext cx="40233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2" name="Text 30"/>
          <p:cNvSpPr/>
          <p:nvPr/>
        </p:nvSpPr>
        <p:spPr>
          <a:xfrm>
            <a:off x="6912864" y="4489704"/>
            <a:ext cx="4517136" cy="292608"/>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Resumes go where the student sends them</a:t>
            </a:r>
            <a:endParaRPr lang="en-US" sz="1250" dirty="0"/>
          </a:p>
        </p:txBody>
      </p:sp>
      <p:sp>
        <p:nvSpPr>
          <p:cNvPr id="33" name="Text 31"/>
          <p:cNvSpPr/>
          <p:nvPr/>
        </p:nvSpPr>
        <p:spPr>
          <a:xfrm>
            <a:off x="6419088" y="4965192"/>
            <a:ext cx="4956048" cy="512064"/>
          </a:xfrm>
          <a:prstGeom prst="rect">
            <a:avLst/>
          </a:prstGeom>
          <a:noFill/>
          <a:ln/>
        </p:spPr>
        <p:txBody>
          <a:bodyPr wrap="square" lIns="0" tIns="0" rIns="0" bIns="0" rtlCol="0" anchor="ctr"/>
          <a:lstStyle/>
          <a:p>
            <a:pPr indent="0" marL="0">
              <a:lnSpc>
                <a:spcPts val="1300"/>
              </a:lnSpc>
              <a:buNone/>
            </a:pPr>
            <a:r>
              <a:rPr lang="en-US" sz="980" dirty="0">
                <a:solidFill>
                  <a:srgbClr val="5C7268"/>
                </a:solidFill>
                <a:latin typeface="Calibri" pitchFamily="34" charset="0"/>
                <a:ea typeface="Calibri" pitchFamily="34" charset="-122"/>
                <a:cs typeface="Calibri" pitchFamily="34" charset="-120"/>
              </a:rPr>
              <a:t>Being visible to employers is off by default and stays off until the student turns it on.</a:t>
            </a:r>
            <a:endParaRPr lang="en-US" sz="980" dirty="0"/>
          </a:p>
        </p:txBody>
      </p:sp>
      <p:sp>
        <p:nvSpPr>
          <p:cNvPr id="34" name="Text 32"/>
          <p:cNvSpPr/>
          <p:nvPr/>
        </p:nvSpPr>
        <p:spPr>
          <a:xfrm>
            <a:off x="548640" y="6089904"/>
            <a:ext cx="11064240" cy="274320"/>
          </a:xfrm>
          <a:prstGeom prst="rect">
            <a:avLst/>
          </a:prstGeom>
          <a:noFill/>
          <a:ln/>
        </p:spPr>
        <p:txBody>
          <a:bodyPr wrap="square" lIns="0" tIns="0" rIns="0" bIns="0" rtlCol="0" anchor="ctr"/>
          <a:lstStyle/>
          <a:p>
            <a:pPr indent="0" marL="0">
              <a:buNone/>
            </a:pPr>
            <a:r>
              <a:rPr lang="en-US" sz="1100" i="1" dirty="0">
                <a:solidFill>
                  <a:srgbClr val="5C7268"/>
                </a:solidFill>
                <a:latin typeface="Calibri" pitchFamily="34" charset="0"/>
                <a:ea typeface="Calibri" pitchFamily="34" charset="-122"/>
                <a:cs typeface="Calibri" pitchFamily="34" charset="-120"/>
              </a:rPr>
              <a:t>The policy is written for India first and names the Act. It is at craxle.com/privacy, in plain language, before anybody signs anything.</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5F1"/>
        </a:solidFill>
      </p:bgPr>
    </p:bg>
    <p:spTree>
      <p:nvGrpSpPr>
        <p:cNvPr id="1" name=""/>
        <p:cNvGrpSpPr/>
        <p:nvPr/>
      </p:nvGrpSpPr>
      <p:grpSpPr>
        <a:xfrm>
          <a:off x="0" y="0"/>
          <a:ext cx="0" cy="0"/>
          <a:chOff x="0" y="0"/>
          <a:chExt cx="0" cy="0"/>
        </a:xfrm>
      </p:grpSpPr>
      <p:sp>
        <p:nvSpPr>
          <p:cNvPr id="2" name="Text 0"/>
          <p:cNvSpPr/>
          <p:nvPr/>
        </p:nvSpPr>
        <p:spPr>
          <a:xfrm>
            <a:off x="566928" y="457200"/>
            <a:ext cx="10058400" cy="256032"/>
          </a:xfrm>
          <a:prstGeom prst="rect">
            <a:avLst/>
          </a:prstGeom>
          <a:noFill/>
          <a:ln/>
        </p:spPr>
        <p:txBody>
          <a:bodyPr wrap="square" lIns="0" tIns="0" rIns="0" bIns="0" rtlCol="0" anchor="ctr"/>
          <a:lstStyle/>
          <a:p>
            <a:pPr indent="0" marL="0">
              <a:buNone/>
            </a:pPr>
            <a:r>
              <a:rPr lang="en-US" sz="1200" b="1" spc="200" kern="0" dirty="0">
                <a:solidFill>
                  <a:srgbClr val="E0913A"/>
                </a:solidFill>
                <a:latin typeface="Calibri" pitchFamily="34" charset="0"/>
                <a:ea typeface="Calibri" pitchFamily="34" charset="-122"/>
                <a:cs typeface="Calibri" pitchFamily="34" charset="-120"/>
              </a:rPr>
              <a:t>GETTING GOING</a:t>
            </a:r>
            <a:endParaRPr lang="en-US" sz="1200" dirty="0"/>
          </a:p>
        </p:txBody>
      </p:sp>
      <p:sp>
        <p:nvSpPr>
          <p:cNvPr id="3" name="Text 1"/>
          <p:cNvSpPr/>
          <p:nvPr/>
        </p:nvSpPr>
        <p:spPr>
          <a:xfrm>
            <a:off x="548640" y="749808"/>
            <a:ext cx="11064240" cy="713232"/>
          </a:xfrm>
          <a:prstGeom prst="rect">
            <a:avLst/>
          </a:prstGeom>
          <a:noFill/>
          <a:ln/>
        </p:spPr>
        <p:txBody>
          <a:bodyPr wrap="square" lIns="0" tIns="0" rIns="0" bIns="0" rtlCol="0" anchor="ctr"/>
          <a:lstStyle/>
          <a:p>
            <a:pPr indent="0" marL="0">
              <a:buNone/>
            </a:pPr>
            <a:r>
              <a:rPr lang="en-US" sz="3300" b="1" dirty="0">
                <a:solidFill>
                  <a:srgbClr val="16302B"/>
                </a:solidFill>
                <a:latin typeface="Cambria" pitchFamily="34" charset="0"/>
                <a:ea typeface="Cambria" pitchFamily="34" charset="-122"/>
                <a:cs typeface="Cambria" pitchFamily="34" charset="-120"/>
              </a:rPr>
              <a:t>What it takes to start</a:t>
            </a:r>
            <a:endParaRPr lang="en-US" sz="3300" dirty="0"/>
          </a:p>
        </p:txBody>
      </p:sp>
      <p:sp>
        <p:nvSpPr>
          <p:cNvPr id="4" name="Shape 2"/>
          <p:cNvSpPr/>
          <p:nvPr/>
        </p:nvSpPr>
        <p:spPr>
          <a:xfrm>
            <a:off x="548640" y="1600200"/>
            <a:ext cx="2615184" cy="1737360"/>
          </a:xfrm>
          <a:prstGeom prst="roundRect">
            <a:avLst>
              <a:gd name="adj" fmla="val 5789"/>
            </a:avLst>
          </a:prstGeom>
          <a:solidFill>
            <a:srgbClr val="E7EDE7"/>
          </a:solidFill>
          <a:ln/>
          <a:effectLst>
            <a:outerShdw sx="100000" sy="100000" kx="0" ky="0" algn="bl" rotWithShape="0" blurRad="127000" dist="25400" dir="5400000">
              <a:srgbClr val="10231E">
                <a:alpha val="16000"/>
              </a:srgbClr>
            </a:outerShdw>
          </a:effectLst>
        </p:spPr>
      </p:sp>
      <p:sp>
        <p:nvSpPr>
          <p:cNvPr id="5" name="Shape 3"/>
          <p:cNvSpPr/>
          <p:nvPr/>
        </p:nvSpPr>
        <p:spPr>
          <a:xfrm>
            <a:off x="768096" y="1783080"/>
            <a:ext cx="438912" cy="438912"/>
          </a:xfrm>
          <a:prstGeom prst="ellipse">
            <a:avLst/>
          </a:prstGeom>
          <a:solidFill>
            <a:srgbClr val="E0913A"/>
          </a:solidFill>
          <a:ln/>
        </p:spPr>
      </p:sp>
      <p:sp>
        <p:nvSpPr>
          <p:cNvPr id="6" name="Text 4"/>
          <p:cNvSpPr/>
          <p:nvPr/>
        </p:nvSpPr>
        <p:spPr>
          <a:xfrm>
            <a:off x="768096" y="1783080"/>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7" name="Text 5"/>
          <p:cNvSpPr/>
          <p:nvPr/>
        </p:nvSpPr>
        <p:spPr>
          <a:xfrm>
            <a:off x="768096" y="2331720"/>
            <a:ext cx="2176272" cy="310896"/>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You give us the name</a:t>
            </a:r>
            <a:endParaRPr lang="en-US" sz="1250" dirty="0"/>
          </a:p>
        </p:txBody>
      </p:sp>
      <p:sp>
        <p:nvSpPr>
          <p:cNvPr id="8" name="Text 6"/>
          <p:cNvSpPr/>
          <p:nvPr/>
        </p:nvSpPr>
        <p:spPr>
          <a:xfrm>
            <a:off x="768096" y="2660904"/>
            <a:ext cx="2176272" cy="566928"/>
          </a:xfrm>
          <a:prstGeom prst="rect">
            <a:avLst/>
          </a:prstGeom>
          <a:noFill/>
          <a:ln/>
        </p:spPr>
        <p:txBody>
          <a:bodyPr wrap="square" lIns="0" tIns="0" rIns="0" bIns="0" rtlCol="0" anchor="ctr"/>
          <a:lstStyle/>
          <a:p>
            <a:pPr indent="0" marL="0">
              <a:lnSpc>
                <a:spcPts val="1200"/>
              </a:lnSpc>
              <a:buNone/>
            </a:pPr>
            <a:r>
              <a:rPr lang="en-US" sz="980" dirty="0">
                <a:solidFill>
                  <a:srgbClr val="5C7268"/>
                </a:solidFill>
                <a:latin typeface="Calibri" pitchFamily="34" charset="0"/>
                <a:ea typeface="Calibri" pitchFamily="34" charset="-122"/>
                <a:cs typeface="Calibri" pitchFamily="34" charset="-120"/>
              </a:rPr>
              <a:t>We create the institution and its first administrator account. One call.</a:t>
            </a:r>
            <a:endParaRPr lang="en-US" sz="980" dirty="0"/>
          </a:p>
        </p:txBody>
      </p:sp>
      <p:sp>
        <p:nvSpPr>
          <p:cNvPr id="9" name="Shape 7"/>
          <p:cNvSpPr/>
          <p:nvPr/>
        </p:nvSpPr>
        <p:spPr>
          <a:xfrm>
            <a:off x="3364992" y="1600200"/>
            <a:ext cx="2615184" cy="1737360"/>
          </a:xfrm>
          <a:prstGeom prst="roundRect">
            <a:avLst>
              <a:gd name="adj" fmla="val 5789"/>
            </a:avLst>
          </a:prstGeom>
          <a:solidFill>
            <a:srgbClr val="E7EDE7"/>
          </a:solidFill>
          <a:ln/>
          <a:effectLst>
            <a:outerShdw sx="100000" sy="100000" kx="0" ky="0" algn="bl" rotWithShape="0" blurRad="127000" dist="25400" dir="5400000">
              <a:srgbClr val="10231E">
                <a:alpha val="16000"/>
              </a:srgbClr>
            </a:outerShdw>
          </a:effectLst>
        </p:spPr>
      </p:sp>
      <p:sp>
        <p:nvSpPr>
          <p:cNvPr id="10" name="Shape 8"/>
          <p:cNvSpPr/>
          <p:nvPr/>
        </p:nvSpPr>
        <p:spPr>
          <a:xfrm>
            <a:off x="3584448" y="1783080"/>
            <a:ext cx="438912" cy="438912"/>
          </a:xfrm>
          <a:prstGeom prst="ellipse">
            <a:avLst/>
          </a:prstGeom>
          <a:solidFill>
            <a:srgbClr val="E0913A"/>
          </a:solidFill>
          <a:ln/>
        </p:spPr>
      </p:sp>
      <p:sp>
        <p:nvSpPr>
          <p:cNvPr id="11" name="Text 9"/>
          <p:cNvSpPr/>
          <p:nvPr/>
        </p:nvSpPr>
        <p:spPr>
          <a:xfrm>
            <a:off x="3584448" y="1783080"/>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3584448" y="2331720"/>
            <a:ext cx="2176272" cy="310896"/>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office sets up</a:t>
            </a:r>
            <a:endParaRPr lang="en-US" sz="1250" dirty="0"/>
          </a:p>
        </p:txBody>
      </p:sp>
      <p:sp>
        <p:nvSpPr>
          <p:cNvPr id="13" name="Text 11"/>
          <p:cNvSpPr/>
          <p:nvPr/>
        </p:nvSpPr>
        <p:spPr>
          <a:xfrm>
            <a:off x="3584448" y="2660904"/>
            <a:ext cx="2176272" cy="566928"/>
          </a:xfrm>
          <a:prstGeom prst="rect">
            <a:avLst/>
          </a:prstGeom>
          <a:noFill/>
          <a:ln/>
        </p:spPr>
        <p:txBody>
          <a:bodyPr wrap="square" lIns="0" tIns="0" rIns="0" bIns="0" rtlCol="0" anchor="ctr"/>
          <a:lstStyle/>
          <a:p>
            <a:pPr indent="0" marL="0">
              <a:lnSpc>
                <a:spcPts val="1200"/>
              </a:lnSpc>
              <a:buNone/>
            </a:pPr>
            <a:r>
              <a:rPr lang="en-US" sz="980" dirty="0">
                <a:solidFill>
                  <a:srgbClr val="5C7268"/>
                </a:solidFill>
                <a:latin typeface="Calibri" pitchFamily="34" charset="0"/>
                <a:ea typeface="Calibri" pitchFamily="34" charset="-122"/>
                <a:cs typeface="Calibri" pitchFamily="34" charset="-120"/>
              </a:rPr>
              <a:t>Classes, staff, subjects. An afternoon, once.</a:t>
            </a:r>
            <a:endParaRPr lang="en-US" sz="980" dirty="0"/>
          </a:p>
        </p:txBody>
      </p:sp>
      <p:sp>
        <p:nvSpPr>
          <p:cNvPr id="14" name="Shape 12"/>
          <p:cNvSpPr/>
          <p:nvPr/>
        </p:nvSpPr>
        <p:spPr>
          <a:xfrm>
            <a:off x="6181344" y="1600200"/>
            <a:ext cx="2615184" cy="1737360"/>
          </a:xfrm>
          <a:prstGeom prst="roundRect">
            <a:avLst>
              <a:gd name="adj" fmla="val 5789"/>
            </a:avLst>
          </a:prstGeom>
          <a:solidFill>
            <a:srgbClr val="E7EDE7"/>
          </a:solidFill>
          <a:ln/>
          <a:effectLst>
            <a:outerShdw sx="100000" sy="100000" kx="0" ky="0" algn="bl" rotWithShape="0" blurRad="127000" dist="25400" dir="5400000">
              <a:srgbClr val="10231E">
                <a:alpha val="16000"/>
              </a:srgbClr>
            </a:outerShdw>
          </a:effectLst>
        </p:spPr>
      </p:sp>
      <p:sp>
        <p:nvSpPr>
          <p:cNvPr id="15" name="Shape 13"/>
          <p:cNvSpPr/>
          <p:nvPr/>
        </p:nvSpPr>
        <p:spPr>
          <a:xfrm>
            <a:off x="6400800" y="1783080"/>
            <a:ext cx="438912" cy="438912"/>
          </a:xfrm>
          <a:prstGeom prst="ellipse">
            <a:avLst/>
          </a:prstGeom>
          <a:solidFill>
            <a:srgbClr val="E0913A"/>
          </a:solidFill>
          <a:ln/>
        </p:spPr>
      </p:sp>
      <p:sp>
        <p:nvSpPr>
          <p:cNvPr id="16" name="Text 14"/>
          <p:cNvSpPr/>
          <p:nvPr/>
        </p:nvSpPr>
        <p:spPr>
          <a:xfrm>
            <a:off x="6400800" y="1783080"/>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7" name="Text 15"/>
          <p:cNvSpPr/>
          <p:nvPr/>
        </p:nvSpPr>
        <p:spPr>
          <a:xfrm>
            <a:off x="6400800" y="2331720"/>
            <a:ext cx="2176272" cy="310896"/>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Codes go out</a:t>
            </a:r>
            <a:endParaRPr lang="en-US" sz="1250" dirty="0"/>
          </a:p>
        </p:txBody>
      </p:sp>
      <p:sp>
        <p:nvSpPr>
          <p:cNvPr id="18" name="Text 16"/>
          <p:cNvSpPr/>
          <p:nvPr/>
        </p:nvSpPr>
        <p:spPr>
          <a:xfrm>
            <a:off x="6400800" y="2660904"/>
            <a:ext cx="2176272" cy="566928"/>
          </a:xfrm>
          <a:prstGeom prst="rect">
            <a:avLst/>
          </a:prstGeom>
          <a:noFill/>
          <a:ln/>
        </p:spPr>
        <p:txBody>
          <a:bodyPr wrap="square" lIns="0" tIns="0" rIns="0" bIns="0" rtlCol="0" anchor="ctr"/>
          <a:lstStyle/>
          <a:p>
            <a:pPr indent="0" marL="0">
              <a:lnSpc>
                <a:spcPts val="1200"/>
              </a:lnSpc>
              <a:buNone/>
            </a:pPr>
            <a:r>
              <a:rPr lang="en-US" sz="980" dirty="0">
                <a:solidFill>
                  <a:srgbClr val="5C7268"/>
                </a:solidFill>
                <a:latin typeface="Calibri" pitchFamily="34" charset="0"/>
                <a:ea typeface="Calibri" pitchFamily="34" charset="-122"/>
                <a:cs typeface="Calibri" pitchFamily="34" charset="-120"/>
              </a:rPr>
              <a:t>One code per class for students, one per subject for whoever teaches it.</a:t>
            </a:r>
            <a:endParaRPr lang="en-US" sz="980" dirty="0"/>
          </a:p>
        </p:txBody>
      </p:sp>
      <p:sp>
        <p:nvSpPr>
          <p:cNvPr id="19" name="Shape 17"/>
          <p:cNvSpPr/>
          <p:nvPr/>
        </p:nvSpPr>
        <p:spPr>
          <a:xfrm>
            <a:off x="8997696" y="1600200"/>
            <a:ext cx="2615184" cy="1737360"/>
          </a:xfrm>
          <a:prstGeom prst="roundRect">
            <a:avLst>
              <a:gd name="adj" fmla="val 5789"/>
            </a:avLst>
          </a:prstGeom>
          <a:solidFill>
            <a:srgbClr val="E7EDE7"/>
          </a:solidFill>
          <a:ln/>
          <a:effectLst>
            <a:outerShdw sx="100000" sy="100000" kx="0" ky="0" algn="bl" rotWithShape="0" blurRad="127000" dist="25400" dir="5400000">
              <a:srgbClr val="10231E">
                <a:alpha val="16000"/>
              </a:srgbClr>
            </a:outerShdw>
          </a:effectLst>
        </p:spPr>
      </p:sp>
      <p:sp>
        <p:nvSpPr>
          <p:cNvPr id="20" name="Shape 18"/>
          <p:cNvSpPr/>
          <p:nvPr/>
        </p:nvSpPr>
        <p:spPr>
          <a:xfrm>
            <a:off x="9217152" y="1783080"/>
            <a:ext cx="438912" cy="438912"/>
          </a:xfrm>
          <a:prstGeom prst="ellipse">
            <a:avLst/>
          </a:prstGeom>
          <a:solidFill>
            <a:srgbClr val="E0913A"/>
          </a:solidFill>
          <a:ln/>
        </p:spPr>
      </p:sp>
      <p:sp>
        <p:nvSpPr>
          <p:cNvPr id="21" name="Text 19"/>
          <p:cNvSpPr/>
          <p:nvPr/>
        </p:nvSpPr>
        <p:spPr>
          <a:xfrm>
            <a:off x="9217152" y="1783080"/>
            <a:ext cx="438912"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2" name="Text 20"/>
          <p:cNvSpPr/>
          <p:nvPr/>
        </p:nvSpPr>
        <p:spPr>
          <a:xfrm>
            <a:off x="9217152" y="2331720"/>
            <a:ext cx="2176272" cy="310896"/>
          </a:xfrm>
          <a:prstGeom prst="rect">
            <a:avLst/>
          </a:prstGeom>
          <a:noFill/>
          <a:ln/>
        </p:spPr>
        <p:txBody>
          <a:bodyPr wrap="square" lIns="0" tIns="0" rIns="0" bIns="0" rtlCol="0" anchor="ctr"/>
          <a:lstStyle/>
          <a:p>
            <a:pPr indent="0" marL="0">
              <a:buNone/>
            </a:pPr>
            <a:r>
              <a:rPr lang="en-US" sz="1250" b="1" dirty="0">
                <a:solidFill>
                  <a:srgbClr val="16302B"/>
                </a:solidFill>
                <a:latin typeface="Calibri" pitchFamily="34" charset="0"/>
                <a:ea typeface="Calibri" pitchFamily="34" charset="-122"/>
                <a:cs typeface="Calibri" pitchFamily="34" charset="-120"/>
              </a:rPr>
              <a:t>The board goes on</a:t>
            </a:r>
            <a:endParaRPr lang="en-US" sz="1250" dirty="0"/>
          </a:p>
        </p:txBody>
      </p:sp>
      <p:sp>
        <p:nvSpPr>
          <p:cNvPr id="23" name="Text 21"/>
          <p:cNvSpPr/>
          <p:nvPr/>
        </p:nvSpPr>
        <p:spPr>
          <a:xfrm>
            <a:off x="9217152" y="2660904"/>
            <a:ext cx="2176272" cy="566928"/>
          </a:xfrm>
          <a:prstGeom prst="rect">
            <a:avLst/>
          </a:prstGeom>
          <a:noFill/>
          <a:ln/>
        </p:spPr>
        <p:txBody>
          <a:bodyPr wrap="square" lIns="0" tIns="0" rIns="0" bIns="0" rtlCol="0" anchor="ctr"/>
          <a:lstStyle/>
          <a:p>
            <a:pPr indent="0" marL="0">
              <a:lnSpc>
                <a:spcPts val="1200"/>
              </a:lnSpc>
              <a:buNone/>
            </a:pPr>
            <a:r>
              <a:rPr lang="en-US" sz="980" dirty="0">
                <a:solidFill>
                  <a:srgbClr val="5C7268"/>
                </a:solidFill>
                <a:latin typeface="Calibri" pitchFamily="34" charset="0"/>
                <a:ea typeface="Calibri" pitchFamily="34" charset="-122"/>
                <a:cs typeface="Calibri" pitchFamily="34" charset="-120"/>
              </a:rPr>
              <a:t>Open the address on the panel and install it.</a:t>
            </a:r>
            <a:endParaRPr lang="en-US" sz="980" dirty="0"/>
          </a:p>
        </p:txBody>
      </p:sp>
      <p:sp>
        <p:nvSpPr>
          <p:cNvPr id="24" name="Shape 22"/>
          <p:cNvSpPr/>
          <p:nvPr/>
        </p:nvSpPr>
        <p:spPr>
          <a:xfrm>
            <a:off x="548640" y="3602736"/>
            <a:ext cx="5431536" cy="2194560"/>
          </a:xfrm>
          <a:prstGeom prst="roundRect">
            <a:avLst>
              <a:gd name="adj" fmla="val 4583"/>
            </a:avLst>
          </a:prstGeom>
          <a:solidFill>
            <a:srgbClr val="16302B"/>
          </a:solidFill>
          <a:ln/>
          <a:effectLst>
            <a:outerShdw sx="100000" sy="100000" kx="0" ky="0" algn="bl" rotWithShape="0" blurRad="127000" dist="25400" dir="5400000">
              <a:srgbClr val="10231E">
                <a:alpha val="16000"/>
              </a:srgbClr>
            </a:outerShdw>
          </a:effectLst>
        </p:spPr>
      </p:sp>
      <p:sp>
        <p:nvSpPr>
          <p:cNvPr id="25" name="Shape 23"/>
          <p:cNvSpPr/>
          <p:nvPr/>
        </p:nvSpPr>
        <p:spPr>
          <a:xfrm>
            <a:off x="822960" y="3840480"/>
            <a:ext cx="457200" cy="457200"/>
          </a:xfrm>
          <a:prstGeom prst="ellipse">
            <a:avLst/>
          </a:prstGeom>
          <a:solidFill>
            <a:srgbClr val="E0913A"/>
          </a:solidFill>
          <a:ln/>
        </p:spPr>
      </p:sp>
      <p:sp>
        <p:nvSpPr>
          <p:cNvPr id="26" name="Text 24"/>
          <p:cNvSpPr/>
          <p:nvPr/>
        </p:nvSpPr>
        <p:spPr>
          <a:xfrm>
            <a:off x="822960" y="3840480"/>
            <a:ext cx="45720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426464" y="3822192"/>
            <a:ext cx="4297680" cy="384048"/>
          </a:xfrm>
          <a:prstGeom prst="rect">
            <a:avLst/>
          </a:prstGeom>
          <a:noFill/>
          <a:ln/>
        </p:spPr>
        <p:txBody>
          <a:bodyPr wrap="square" lIns="0" tIns="0" rIns="0" bIns="0" rtlCol="0" anchor="ctr"/>
          <a:lstStyle/>
          <a:p>
            <a:pPr indent="0" marL="0">
              <a:buNone/>
            </a:pPr>
            <a:r>
              <a:rPr lang="en-US" sz="1700" b="1" dirty="0">
                <a:solidFill>
                  <a:srgbClr val="F2F5F1"/>
                </a:solidFill>
                <a:latin typeface="Cambria" pitchFamily="34" charset="0"/>
                <a:ea typeface="Cambria" pitchFamily="34" charset="-122"/>
                <a:cs typeface="Cambria" pitchFamily="34" charset="-120"/>
              </a:rPr>
              <a:t>The college pays. Nobody else.</a:t>
            </a:r>
            <a:endParaRPr lang="en-US" sz="1700" dirty="0"/>
          </a:p>
        </p:txBody>
      </p:sp>
      <p:sp>
        <p:nvSpPr>
          <p:cNvPr id="28" name="Text 26"/>
          <p:cNvSpPr/>
          <p:nvPr/>
        </p:nvSpPr>
        <p:spPr>
          <a:xfrm>
            <a:off x="822960" y="4370832"/>
            <a:ext cx="4882896" cy="1243584"/>
          </a:xfrm>
          <a:prstGeom prst="rect">
            <a:avLst/>
          </a:prstGeom>
          <a:noFill/>
          <a:ln/>
        </p:spPr>
        <p:txBody>
          <a:bodyPr wrap="square" lIns="0" tIns="0" rIns="0" bIns="0" rtlCol="0" anchor="ctr"/>
          <a:lstStyle/>
          <a:p>
            <a:pPr indent="0" marL="0">
              <a:lnSpc>
                <a:spcPts val="1500"/>
              </a:lnSpc>
              <a:buNone/>
            </a:pPr>
            <a:r>
              <a:rPr lang="en-US" sz="1100" dirty="0">
                <a:solidFill>
                  <a:srgbClr val="C7D6CD"/>
                </a:solidFill>
                <a:latin typeface="Calibri" pitchFamily="34" charset="0"/>
                <a:ea typeface="Calibri" pitchFamily="34" charset="-122"/>
                <a:cs typeface="Calibri" pitchFamily="34" charset="-120"/>
              </a:rPr>
              <a:t>One fee from the institution, covering teaching and the placement tooling for every enrolled student. No per-student charge at the gate, and no card asked of a student inside a lecture.</a:t>
            </a:r>
            <a:endParaRPr lang="en-US" sz="1100" dirty="0"/>
          </a:p>
        </p:txBody>
      </p:sp>
      <p:sp>
        <p:nvSpPr>
          <p:cNvPr id="29" name="Shape 27"/>
          <p:cNvSpPr/>
          <p:nvPr/>
        </p:nvSpPr>
        <p:spPr>
          <a:xfrm>
            <a:off x="6181344" y="3602736"/>
            <a:ext cx="5431536" cy="2194560"/>
          </a:xfrm>
          <a:prstGeom prst="roundRect">
            <a:avLst>
              <a:gd name="adj" fmla="val 4583"/>
            </a:avLst>
          </a:prstGeom>
          <a:solidFill>
            <a:srgbClr val="F6E3C7"/>
          </a:solidFill>
          <a:ln/>
          <a:effectLst>
            <a:outerShdw sx="100000" sy="100000" kx="0" ky="0" algn="bl" rotWithShape="0" blurRad="127000" dist="25400" dir="5400000">
              <a:srgbClr val="10231E">
                <a:alpha val="16000"/>
              </a:srgbClr>
            </a:outerShdw>
          </a:effectLst>
        </p:spPr>
      </p:sp>
      <p:sp>
        <p:nvSpPr>
          <p:cNvPr id="30" name="Text 28"/>
          <p:cNvSpPr/>
          <p:nvPr/>
        </p:nvSpPr>
        <p:spPr>
          <a:xfrm>
            <a:off x="6455664" y="3803904"/>
            <a:ext cx="4846320" cy="310896"/>
          </a:xfrm>
          <a:prstGeom prst="rect">
            <a:avLst/>
          </a:prstGeom>
          <a:noFill/>
          <a:ln/>
        </p:spPr>
        <p:txBody>
          <a:bodyPr wrap="square" lIns="0" tIns="0" rIns="0" bIns="0" rtlCol="0" anchor="ctr"/>
          <a:lstStyle/>
          <a:p>
            <a:pPr indent="0" marL="0">
              <a:buNone/>
            </a:pPr>
            <a:r>
              <a:rPr lang="en-US" sz="1700" b="1" dirty="0">
                <a:solidFill>
                  <a:srgbClr val="7A4E12"/>
                </a:solidFill>
                <a:latin typeface="Cambria" pitchFamily="34" charset="0"/>
                <a:ea typeface="Cambria" pitchFamily="34" charset="-122"/>
                <a:cs typeface="Cambria" pitchFamily="34" charset="-120"/>
              </a:rPr>
              <a:t>No new hardware</a:t>
            </a:r>
            <a:endParaRPr lang="en-US" sz="1700" dirty="0"/>
          </a:p>
        </p:txBody>
      </p:sp>
      <p:sp>
        <p:nvSpPr>
          <p:cNvPr id="31" name="Text 29"/>
          <p:cNvSpPr/>
          <p:nvPr/>
        </p:nvSpPr>
        <p:spPr>
          <a:xfrm>
            <a:off x="6492240" y="4261104"/>
            <a:ext cx="4809744" cy="1371600"/>
          </a:xfrm>
          <a:prstGeom prst="rect">
            <a:avLst/>
          </a:prstGeom>
          <a:noFill/>
          <a:ln/>
        </p:spPr>
        <p:txBody>
          <a:bodyPr wrap="square" lIns="0" tIns="0" rIns="0" bIns="0" rtlCol="0" anchor="ctr"/>
          <a:lstStyle/>
          <a:p>
            <a:pPr marL="342900" indent="-342900">
              <a:lnSpc>
                <a:spcPts val="1300"/>
              </a:lnSpc>
              <a:spcAft>
                <a:spcPts val="500"/>
              </a:spcAft>
              <a:buSzPct val="100000"/>
              <a:buChar char="•"/>
            </a:pPr>
            <a:r>
              <a:rPr lang="en-US" sz="1050" dirty="0">
                <a:solidFill>
                  <a:srgbClr val="7A4E12"/>
                </a:solidFill>
                <a:latin typeface="Calibri" pitchFamily="34" charset="0"/>
                <a:ea typeface="Calibri" pitchFamily="34" charset="-122"/>
                <a:cs typeface="Calibri" pitchFamily="34" charset="-120"/>
              </a:rPr>
              <a:t>Runs on the panel already in the room</a:t>
            </a:r>
            <a:endParaRPr lang="en-US" sz="1050" dirty="0"/>
          </a:p>
          <a:p>
            <a:pPr marL="342900" indent="-342900">
              <a:lnSpc>
                <a:spcPts val="1300"/>
              </a:lnSpc>
              <a:spcAft>
                <a:spcPts val="500"/>
              </a:spcAft>
              <a:buSzPct val="100000"/>
              <a:buChar char="•"/>
            </a:pPr>
            <a:r>
              <a:rPr lang="en-US" sz="1050" dirty="0">
                <a:solidFill>
                  <a:srgbClr val="7A4E12"/>
                </a:solidFill>
                <a:latin typeface="Calibri" pitchFamily="34" charset="0"/>
                <a:ea typeface="Calibri" pitchFamily="34" charset="-122"/>
                <a:cs typeface="Calibri" pitchFamily="34" charset="-120"/>
              </a:rPr>
              <a:t>Runs on a laptop, tablet or phone for anyone without one</a:t>
            </a:r>
            <a:endParaRPr lang="en-US" sz="1050" dirty="0"/>
          </a:p>
          <a:p>
            <a:pPr marL="342900" indent="-342900">
              <a:lnSpc>
                <a:spcPts val="1300"/>
              </a:lnSpc>
              <a:spcAft>
                <a:spcPts val="500"/>
              </a:spcAft>
              <a:buSzPct val="100000"/>
              <a:buChar char="•"/>
            </a:pPr>
            <a:r>
              <a:rPr lang="en-US" sz="1050" dirty="0">
                <a:solidFill>
                  <a:srgbClr val="7A4E12"/>
                </a:solidFill>
                <a:latin typeface="Calibri" pitchFamily="34" charset="0"/>
                <a:ea typeface="Calibri" pitchFamily="34" charset="-122"/>
                <a:cs typeface="Calibri" pitchFamily="34" charset="-120"/>
              </a:rPr>
              <a:t>Nothing to install on your PCs</a:t>
            </a:r>
            <a:endParaRPr lang="en-US" sz="1050" dirty="0"/>
          </a:p>
          <a:p>
            <a:pPr marL="342900" indent="-342900">
              <a:lnSpc>
                <a:spcPts val="1300"/>
              </a:lnSpc>
              <a:spcAft>
                <a:spcPts val="500"/>
              </a:spcAft>
              <a:buSzPct val="100000"/>
              <a:buChar char="•"/>
            </a:pPr>
            <a:r>
              <a:rPr lang="en-US" sz="1050" dirty="0">
                <a:solidFill>
                  <a:srgbClr val="7A4E12"/>
                </a:solidFill>
                <a:latin typeface="Calibri" pitchFamily="34" charset="0"/>
                <a:ea typeface="Calibri" pitchFamily="34" charset="-122"/>
                <a:cs typeface="Calibri" pitchFamily="34" charset="-120"/>
              </a:rPr>
              <a:t>No server on site, and nobody to maintain it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302B"/>
        </a:solidFill>
      </p:bgPr>
    </p:bg>
    <p:spTree>
      <p:nvGrpSpPr>
        <p:cNvPr id="1" name=""/>
        <p:cNvGrpSpPr/>
        <p:nvPr/>
      </p:nvGrpSpPr>
      <p:grpSpPr>
        <a:xfrm>
          <a:off x="0" y="0"/>
          <a:ext cx="0" cy="0"/>
          <a:chOff x="0" y="0"/>
          <a:chExt cx="0" cy="0"/>
        </a:xfrm>
      </p:grpSpPr>
      <p:sp>
        <p:nvSpPr>
          <p:cNvPr id="2" name="Shape 0"/>
          <p:cNvSpPr/>
          <p:nvPr/>
        </p:nvSpPr>
        <p:spPr>
          <a:xfrm>
            <a:off x="-1463040" y="3931920"/>
            <a:ext cx="4206240" cy="4206240"/>
          </a:xfrm>
          <a:prstGeom prst="ellipse">
            <a:avLst/>
          </a:prstGeom>
          <a:solidFill>
            <a:srgbClr val="24473D"/>
          </a:solidFill>
          <a:ln/>
        </p:spPr>
      </p:sp>
      <p:sp>
        <p:nvSpPr>
          <p:cNvPr id="3" name="Shape 1"/>
          <p:cNvSpPr/>
          <p:nvPr/>
        </p:nvSpPr>
        <p:spPr>
          <a:xfrm>
            <a:off x="10332720" y="-1005840"/>
            <a:ext cx="3291840" cy="3291840"/>
          </a:xfrm>
          <a:prstGeom prst="ellipse">
            <a:avLst/>
          </a:prstGeom>
          <a:solidFill>
            <a:srgbClr val="24473D"/>
          </a:solidFill>
          <a:ln/>
        </p:spPr>
      </p:sp>
      <p:sp>
        <p:nvSpPr>
          <p:cNvPr id="4" name="Text 2"/>
          <p:cNvSpPr/>
          <p:nvPr/>
        </p:nvSpPr>
        <p:spPr>
          <a:xfrm>
            <a:off x="914400" y="1920240"/>
            <a:ext cx="10241280" cy="1463040"/>
          </a:xfrm>
          <a:prstGeom prst="rect">
            <a:avLst/>
          </a:prstGeom>
          <a:noFill/>
          <a:ln/>
        </p:spPr>
        <p:txBody>
          <a:bodyPr wrap="square" lIns="0" tIns="0" rIns="0" bIns="0" rtlCol="0" anchor="ctr"/>
          <a:lstStyle/>
          <a:p>
            <a:pPr indent="0" marL="0">
              <a:lnSpc>
                <a:spcPts val="4400"/>
              </a:lnSpc>
              <a:buNone/>
            </a:pPr>
            <a:r>
              <a:rPr lang="en-US" sz="3600" b="1" dirty="0">
                <a:solidFill>
                  <a:srgbClr val="F2F5F1"/>
                </a:solidFill>
                <a:latin typeface="Cambria" pitchFamily="34" charset="0"/>
                <a:ea typeface="Cambria" pitchFamily="34" charset="-122"/>
                <a:cs typeface="Cambria" pitchFamily="34" charset="-120"/>
              </a:rPr>
              <a:t>Give it to your sharpest student for an hour</a:t>
            </a:r>
            <a:endParaRPr lang="en-US" sz="3600" dirty="0"/>
          </a:p>
        </p:txBody>
      </p:sp>
      <p:sp>
        <p:nvSpPr>
          <p:cNvPr id="5" name="Text 3"/>
          <p:cNvSpPr/>
          <p:nvPr/>
        </p:nvSpPr>
        <p:spPr>
          <a:xfrm>
            <a:off x="950976" y="3529584"/>
            <a:ext cx="8412480" cy="822960"/>
          </a:xfrm>
          <a:prstGeom prst="rect">
            <a:avLst/>
          </a:prstGeom>
          <a:noFill/>
          <a:ln/>
        </p:spPr>
        <p:txBody>
          <a:bodyPr wrap="square" lIns="0" tIns="0" rIns="0" bIns="0" rtlCol="0" anchor="ctr"/>
          <a:lstStyle/>
          <a:p>
            <a:pPr indent="0" marL="0">
              <a:lnSpc>
                <a:spcPts val="2200"/>
              </a:lnSpc>
              <a:buNone/>
            </a:pPr>
            <a:r>
              <a:rPr lang="en-US" sz="1450" dirty="0">
                <a:solidFill>
                  <a:srgbClr val="C7D6CD"/>
                </a:solidFill>
                <a:latin typeface="Calibri" pitchFamily="34" charset="0"/>
                <a:ea typeface="Calibri" pitchFamily="34" charset="-122"/>
                <a:cs typeface="Calibri" pitchFamily="34" charset="-120"/>
              </a:rPr>
              <a:t>Not a demo we drive. Sit a final-year student in front of the SQL board and the packet engine and let them try to reach the bottom of it.</a:t>
            </a:r>
            <a:endParaRPr lang="en-US" sz="1450" dirty="0"/>
          </a:p>
        </p:txBody>
      </p:sp>
      <p:sp>
        <p:nvSpPr>
          <p:cNvPr id="6" name="Text 4"/>
          <p:cNvSpPr/>
          <p:nvPr/>
        </p:nvSpPr>
        <p:spPr>
          <a:xfrm>
            <a:off x="950976" y="4572000"/>
            <a:ext cx="6400800" cy="365760"/>
          </a:xfrm>
          <a:prstGeom prst="rect">
            <a:avLst/>
          </a:prstGeom>
          <a:noFill/>
          <a:ln/>
        </p:spPr>
        <p:txBody>
          <a:bodyPr wrap="square" lIns="0" tIns="0" rIns="0" bIns="0" rtlCol="0" anchor="ctr"/>
          <a:lstStyle/>
          <a:p>
            <a:pPr indent="0" marL="0">
              <a:buNone/>
            </a:pPr>
            <a:r>
              <a:rPr lang="en-US" sz="1700" b="1" dirty="0">
                <a:solidFill>
                  <a:srgbClr val="E0913A"/>
                </a:solidFill>
                <a:latin typeface="Calibri" pitchFamily="34" charset="0"/>
                <a:ea typeface="Calibri" pitchFamily="34" charset="-122"/>
                <a:cs typeface="Calibri" pitchFamily="34" charset="-120"/>
              </a:rPr>
              <a:t>craxle.com/craxlearn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2026-08-05T02:34:02Z</dcterms:created>
  <dcterms:modified xsi:type="dcterms:W3CDTF">2026-08-05T02:34:02Z</dcterms:modified>
</cp:coreProperties>
</file>