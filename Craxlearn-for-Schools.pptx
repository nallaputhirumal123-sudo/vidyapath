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promise: one thing to buy, four people it 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point: install it on their own panel during the meeting. It takes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slide out. Point at the three panes, then offer to do the same thing live with their own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home screen of the board, nothing held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persuasive live demo there is: type one topic, change the level, ask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one of these live rather than reading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get one slide in front of a parent, this is the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out loud. Heads ask about it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WhatsApp group, which is what most institutions use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hand a parent a phone and have them sign a child in. Two taps.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objection this answers: who maintains it when the vendor stops answering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is the answer to 'but AI makes things up'. Show the search step, not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Procurement asks this first, usually before anyone has an account. That is why it is unauthenticated.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consent mechanics: the school's own admission form is where it is captured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number for the conversation, not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 live demo in their room, not for a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937760" cy="4937760"/>
          </a:xfrm>
          <a:prstGeom prst="ellipse">
            <a:avLst/>
          </a:prstGeom>
          <a:solidFill>
            <a:srgbClr val="24473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24473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SCHOOLS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Craxlearn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798064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board that teaches any subject at any level, and the school software behind it — classes, teachers, students, work, fees.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023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2344" y="402336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4023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402336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4023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02552" y="402336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4023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craxle.com/craxlearn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5595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 on the panel you already own.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smart board works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2231136"/>
          </a:xfrm>
          <a:prstGeom prst="roundRect">
            <a:avLst>
              <a:gd name="adj" fmla="val 4902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368296"/>
            <a:ext cx="16130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you have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898648"/>
            <a:ext cx="16130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smart board or TV with an OPS mini PC, or any Windows or Android panel with a browser.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01722" y="1600200"/>
            <a:ext cx="2051914" cy="2231136"/>
          </a:xfrm>
          <a:prstGeom prst="roundRect">
            <a:avLst>
              <a:gd name="adj" fmla="val 4902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21178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3021178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21178" y="2368296"/>
            <a:ext cx="16130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address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21178" y="2898648"/>
            <a:ext cx="16130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craxle.com/craxlearn. No app store, no installer, no licence key on a USB stick.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54803" y="1600200"/>
            <a:ext cx="2051914" cy="2231136"/>
          </a:xfrm>
          <a:prstGeom prst="roundRect">
            <a:avLst>
              <a:gd name="adj" fmla="val 4902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4259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74259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74259" y="2368296"/>
            <a:ext cx="16130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once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74259" y="2898648"/>
            <a:ext cx="16130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installs as an app and opens full screen from the home screen after that.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7885" y="1600200"/>
            <a:ext cx="2051914" cy="2231136"/>
          </a:xfrm>
          <a:prstGeom prst="roundRect">
            <a:avLst>
              <a:gd name="adj" fmla="val 4902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27341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7527341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27341" y="2368296"/>
            <a:ext cx="16130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27341" y="2898648"/>
            <a:ext cx="16130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tells the board which class and subject it is standing 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60966" y="1600200"/>
            <a:ext cx="2051914" cy="2231136"/>
          </a:xfrm>
          <a:prstGeom prst="roundRect">
            <a:avLst>
              <a:gd name="adj" fmla="val 4902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80422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9780422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80422" y="2368296"/>
            <a:ext cx="16130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80422" y="2898648"/>
            <a:ext cx="16130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saved from the board goes straight to that subject's study material.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133088"/>
            <a:ext cx="11064240" cy="1737360"/>
          </a:xfrm>
          <a:prstGeom prst="roundRect">
            <a:avLst>
              <a:gd name="adj" fmla="val 5789"/>
            </a:avLst>
          </a:prstGeom>
          <a:solidFill>
            <a:srgbClr val="16302B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9536" y="4425696"/>
            <a:ext cx="457200" cy="457200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481328" y="438912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runs on a laptop, a tablet and a phone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481328" y="477316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C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address, the same account. A teacher can prepare at home and pick it up in the room. A phone works as the remote, so the lesson is driven facing the room rather than from the screen — type or speak the next topic and it appears on the board.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IN THE 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 10 science period, as the room sees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11274552" cy="4681728"/>
          </a:xfrm>
          <a:prstGeom prst="roundRect">
            <a:avLst>
              <a:gd name="adj" fmla="val 2148"/>
            </a:avLst>
          </a:prstGeom>
          <a:solidFill>
            <a:srgbClr val="0D1F1A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54480"/>
            <a:ext cx="10981944" cy="4425696"/>
          </a:xfrm>
          <a:prstGeom prst="roundRect">
            <a:avLst>
              <a:gd name="adj" fmla="val 1653"/>
            </a:avLst>
          </a:prstGeom>
          <a:solidFill>
            <a:srgbClr val="FBFCF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64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10-A  ·  Science  ·  Mrs Iyer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10:42  ·  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048256"/>
            <a:ext cx="4517136" cy="3785616"/>
          </a:xfrm>
          <a:prstGeom prst="roundRect">
            <a:avLst>
              <a:gd name="adj" fmla="val 1691"/>
            </a:avLst>
          </a:prstGeom>
          <a:solidFill>
            <a:srgbClr val="F1F5F1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19456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Methane, CH₄ — a covalent compound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2560320"/>
            <a:ext cx="411480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has 4 electrons in its outer shell. It needs 4 more to be full.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lose or gain 4 — that would take far too much energy.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SHARES. Four shared pairs, one with each hydrogen.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shared pair is one covalent bond, written C–H.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bonds, so the formula is CH₄.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bonds push apart as far as they can go — 109.5° apart.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methane is a tetrahedron and not a flat cross.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E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ions are formed, so methane does not conduct electricity.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" y="552297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Class 10-A · Science · study material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98448" y="3227832"/>
            <a:ext cx="1737360" cy="0"/>
          </a:xfrm>
          <a:prstGeom prst="line">
            <a:avLst/>
          </a:prstGeom>
          <a:noFill/>
          <a:ln w="28575">
            <a:solidFill>
              <a:srgbClr val="E09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8448" y="3995928"/>
            <a:ext cx="1261872" cy="0"/>
          </a:xfrm>
          <a:prstGeom prst="line">
            <a:avLst/>
          </a:prstGeom>
          <a:noFill/>
          <a:ln w="28575">
            <a:solidFill>
              <a:srgbClr val="E09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9824" y="2048256"/>
            <a:ext cx="2706624" cy="3785616"/>
          </a:xfrm>
          <a:prstGeom prst="roundRect">
            <a:avLst>
              <a:gd name="adj" fmla="val 2365"/>
            </a:avLst>
          </a:prstGeom>
          <a:solidFill>
            <a:srgbClr val="16302B"/>
          </a:solidFill>
          <a:ln/>
        </p:spPr>
      </p:sp>
      <p:sp>
        <p:nvSpPr>
          <p:cNvPr id="15" name="Text 13"/>
          <p:cNvSpPr/>
          <p:nvPr/>
        </p:nvSpPr>
        <p:spPr>
          <a:xfrm>
            <a:off x="5614416" y="2194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· drag to turn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6236208" y="3419856"/>
            <a:ext cx="566928" cy="384048"/>
          </a:xfrm>
          <a:prstGeom prst="line">
            <a:avLst/>
          </a:prstGeom>
          <a:noFill/>
          <a:ln w="25400">
            <a:solidFill>
              <a:srgbClr val="6E8C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803136" y="3419856"/>
            <a:ext cx="566928" cy="384048"/>
          </a:xfrm>
          <a:prstGeom prst="line">
            <a:avLst/>
          </a:prstGeom>
          <a:noFill/>
          <a:ln w="25400">
            <a:solidFill>
              <a:srgbClr val="6E8C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6345936" y="3803904"/>
            <a:ext cx="457200" cy="530352"/>
          </a:xfrm>
          <a:prstGeom prst="line">
            <a:avLst/>
          </a:prstGeom>
          <a:noFill/>
          <a:ln w="25400">
            <a:solidFill>
              <a:srgbClr val="6E8C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3803904"/>
            <a:ext cx="530352" cy="457200"/>
          </a:xfrm>
          <a:prstGeom prst="line">
            <a:avLst/>
          </a:prstGeom>
          <a:noFill/>
          <a:ln w="25400">
            <a:solidFill>
              <a:srgbClr val="6E8C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9904" y="3273552"/>
            <a:ext cx="292608" cy="292608"/>
          </a:xfrm>
          <a:prstGeom prst="ellipse">
            <a:avLst/>
          </a:prstGeom>
          <a:solidFill>
            <a:srgbClr val="DCE6DF"/>
          </a:solidFill>
          <a:ln/>
        </p:spPr>
      </p:sp>
      <p:sp>
        <p:nvSpPr>
          <p:cNvPr id="21" name="Text 19"/>
          <p:cNvSpPr/>
          <p:nvPr/>
        </p:nvSpPr>
        <p:spPr>
          <a:xfrm>
            <a:off x="6089904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23760" y="3273552"/>
            <a:ext cx="292608" cy="292608"/>
          </a:xfrm>
          <a:prstGeom prst="ellipse">
            <a:avLst/>
          </a:prstGeom>
          <a:solidFill>
            <a:srgbClr val="DCE6D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99632" y="4187952"/>
            <a:ext cx="292608" cy="292608"/>
          </a:xfrm>
          <a:prstGeom prst="ellipse">
            <a:avLst/>
          </a:prstGeom>
          <a:solidFill>
            <a:srgbClr val="DCE6DF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87184" y="4114800"/>
            <a:ext cx="292608" cy="292608"/>
          </a:xfrm>
          <a:prstGeom prst="ellipse">
            <a:avLst/>
          </a:prstGeom>
          <a:solidFill>
            <a:srgbClr val="DCE6DF"/>
          </a:solidFill>
          <a:ln/>
        </p:spPr>
      </p:sp>
      <p:sp>
        <p:nvSpPr>
          <p:cNvPr id="27" name="Text 25"/>
          <p:cNvSpPr/>
          <p:nvPr/>
        </p:nvSpPr>
        <p:spPr>
          <a:xfrm>
            <a:off x="7187184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65392" y="3566160"/>
            <a:ext cx="475488" cy="475488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14416" y="51023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D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Methane, from PubChem. Real bond angles — turn it and measure one.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302752" y="2048256"/>
            <a:ext cx="3291840" cy="3785616"/>
          </a:xfrm>
          <a:prstGeom prst="roundRect">
            <a:avLst>
              <a:gd name="adj" fmla="val 1944"/>
            </a:avLst>
          </a:prstGeom>
          <a:solidFill>
            <a:srgbClr val="1E3D34"/>
          </a:solidFill>
          <a:ln/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67344" y="2194560"/>
            <a:ext cx="310896" cy="31089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3" name="Text 31"/>
          <p:cNvSpPr/>
          <p:nvPr/>
        </p:nvSpPr>
        <p:spPr>
          <a:xfrm>
            <a:off x="8467344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51392" y="21945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Axle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21945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 ·  close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467344" y="261518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109.5 and not 90?"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85632" y="3054096"/>
            <a:ext cx="29260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bond is a pair of electrons, and electrons repel each other.</a:t>
            </a:r>
            <a:endParaRPr lang="en-US" sz="9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pairs on a sphere settle where they are furthest apart.</a:t>
            </a:r>
            <a:endParaRPr lang="en-US" sz="9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flat cross that angle would be 90°.</a:t>
            </a:r>
            <a:endParaRPr lang="en-US" sz="9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into three dimensions opens it to 109.5°.</a:t>
            </a:r>
            <a:endParaRPr lang="en-US" sz="9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shape is not decoration — it is the repulsion, solved.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67344" y="550468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error in this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time runs on IST. The lesson, the model and the answer are all on one panel, and all three save into that class.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teaching surfaces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21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subject, taught step by step, with a diagram where one helps.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96512" y="17465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space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2736" y="2221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surface to work on by hand. Save it as a picture.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12864" y="17465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19088" y="2221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powers and roots, worked where the room can see it.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29216" y="17465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structures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221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molecule, crystal, protein or orbit, turned. Measured, never drawn.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118104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264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sources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73989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 or structure from the open catalogues, with its licence.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364992" y="3118104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84448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96512" y="3264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02736" y="373989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PhET: build an atom, wire a circuit, balance an equation.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81344" y="3118104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12864" y="3264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problem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19088" y="373989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question from a book and have it worked through.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997696" y="3118104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17152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921715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729216" y="3264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exams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35440" y="373989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lessons, the labs you type into, and the track exams.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48640" y="4636008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8096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6" name="Text 44"/>
          <p:cNvSpPr/>
          <p:nvPr/>
        </p:nvSpPr>
        <p:spPr>
          <a:xfrm>
            <a:off x="768096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280160" y="47823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packet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525780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packet through real routes and firewall rules.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3364992" y="4636008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584448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51" name="Text 49"/>
          <p:cNvSpPr/>
          <p:nvPr/>
        </p:nvSpPr>
        <p:spPr>
          <a:xfrm>
            <a:off x="3584448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096512" y="47823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3602736" y="525780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real reagents. Every reaction from a table, never guessed.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6181344" y="4636008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00800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912864" y="47823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board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419088" y="525780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against a real database and see what comes back.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8997696" y="4636008"/>
            <a:ext cx="2615184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17152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1" name="Text 59"/>
          <p:cNvSpPr/>
          <p:nvPr/>
        </p:nvSpPr>
        <p:spPr>
          <a:xfrm>
            <a:off x="9217152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9729216" y="47823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9235440" y="525780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board from a phone and teach facing the room.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 these open side by side on one board — the lesson on the left, the simulation on the right.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TO ANY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Answered for the child in front of you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0112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0112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1584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1584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4528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34528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06000" y="1600200"/>
            <a:ext cx="1706880" cy="530352"/>
          </a:xfrm>
          <a:prstGeom prst="roundRect">
            <a:avLst>
              <a:gd name="adj" fmla="val 50000"/>
            </a:avLst>
          </a:prstGeom>
          <a:solidFill>
            <a:srgbClr val="24473D"/>
          </a:solidFill>
          <a:ln w="12700">
            <a:solidFill>
              <a:srgbClr val="3D6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1600200"/>
            <a:ext cx="170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34086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on the board. The teacher picks the level and asks the topic — the explanation, the vocabulary and the depth all change with it. The same board serves a Class 6 science period and a Class 12 physics period.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3553968" cy="2194560"/>
          </a:xfrm>
          <a:prstGeom prst="roundRect">
            <a:avLst>
              <a:gd name="adj" fmla="val 4583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" y="3474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3968496"/>
            <a:ext cx="307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D6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"Light bends when it moves from air into water. That is why a straw looks broken in a glass."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03776" y="3255264"/>
            <a:ext cx="3553968" cy="2194560"/>
          </a:xfrm>
          <a:prstGeom prst="roundRect">
            <a:avLst>
              <a:gd name="adj" fmla="val 4583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41520" y="3474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4152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1520" y="3968496"/>
            <a:ext cx="307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D6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"Refraction, with the normal, the two media, and Snell's law set out and used on a worked value."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58912" y="3255264"/>
            <a:ext cx="3553968" cy="2194560"/>
          </a:xfrm>
          <a:prstGeom prst="roundRect">
            <a:avLst>
              <a:gd name="adj" fmla="val 4583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96656" y="3474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96656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96656" y="3968496"/>
            <a:ext cx="307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D6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same law from Fermat's principle, with the wave picture and the refractive index derived."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as "why does a straw look bent in water" — one topic, three rooms.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teacher does with it, mid-lesson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anywhere on the screen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2199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or finger, over anything — a diagram, a simulation, a PDF. Not only in a canvas.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03776" y="1600200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3232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52323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35296" y="1746504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line and ask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41520" y="222199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an equation: Copy, Paste, or Ask Axle. The answer opens in a window you can resize.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058912" y="1600200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8368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836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90432" y="1746504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redo, thickness, rub 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96656" y="222199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a person mid-sentence can hit without reading a menu.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board as a picture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3739896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screenshot one space. It lands in the study material.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03776" y="3118104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3232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2323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35296" y="3264408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spaces side by side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41520" y="3739896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on one half, the lab or the simulation on the other.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058912" y="3118104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8368" y="33009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78368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790432" y="3264408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instead of typing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96656" y="3739896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topic. Useful with chalk in the other hand.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4636008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4782312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as-is, or as a lesson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6384" y="52578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chapter: show it exactly as it is, or have it written up and taught.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303776" y="4636008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3232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3232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35296" y="4782312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not paragraphs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41520" y="52578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come out line by line, so a room can read them from the back.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058912" y="4636008"/>
            <a:ext cx="3553968" cy="1371600"/>
          </a:xfrm>
          <a:prstGeom prst="roundRect">
            <a:avLst>
              <a:gd name="adj" fmla="val 733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78368" y="48188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6" name="Text 44"/>
          <p:cNvSpPr/>
          <p:nvPr/>
        </p:nvSpPr>
        <p:spPr>
          <a:xfrm>
            <a:off x="8278368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790432" y="4782312"/>
            <a:ext cx="263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error in this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296656" y="52578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on the answer itself. A wrong thing on a board gets reported, not argued with.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exists because a teacher cannot stop the lesson to work a screen out.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FEATURE LIST — THE POINT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student gets out of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9pm, nobody to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020824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350008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at their own level and keep asking. It does not get tired of the third follow-up, which is usually the one that matters.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80136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12864" y="176479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they cannot even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12864" y="2020824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problem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9088" y="2350008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it out of the textbook — the diagram, the equation, the circuit — and have it worked through step by step.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282696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24612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 the timetable has no room for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50215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" y="3831336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 reagents and run it. Every reaction comes from a measured table, so a wrong prediction is corrected by the chemistry, not by a marking scheme.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3081528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282696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12864" y="324612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query without a database to break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502152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19088" y="3831336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queries against a real database, including the errors. They cannot break anything, so they can try the thing they are unsure about.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62856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476402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80160" y="472744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as an abstraction that never lands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98348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packet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86384" y="531266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through real routing tables and firewall rules and watch each decision as it happens.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4562856"/>
            <a:ext cx="5431536" cy="1335024"/>
          </a:xfrm>
          <a:prstGeom prst="roundRect">
            <a:avLst>
              <a:gd name="adj" fmla="val 7534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476402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12864" y="472744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flat on a page that is not flat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498348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structures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19088" y="531266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molecule, the crystal or the orbit and measure it. Real coordinates from the open catalogues.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on the board at the front and on their own phone or laptop, from one address and one account.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teacher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56232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classes, and only theirs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7568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the students they teach. Nobody else's.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81344" y="1600200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56232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12864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class, several subjects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2864" y="207568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 hold two classes and three subjects at once.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29900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209544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numbers, search, edit a row, mark attendance.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2734056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9900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288036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collect 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2864" y="3209544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work with a due date, see submissions, close it when done.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12394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401421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343400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chapters and slides or add links, kept per subject.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3867912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12394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12864" y="401421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discussion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12864" y="4343400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the class and the teacher share, per subject.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01768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525780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514807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inbox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5477256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students across every class they teach, with the name.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1344" y="5001768"/>
            <a:ext cx="5431536" cy="987552"/>
          </a:xfrm>
          <a:prstGeom prst="roundRect">
            <a:avLst>
              <a:gd name="adj" fmla="val 10185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525780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12864" y="514807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from the board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12864" y="5477256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taught on the board files itself into that subject.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enforced on the server, not hidden in a menu — nobody is handed the whole institution to do their own job.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separate places, not one feed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53968" cy="3200400"/>
          </a:xfrm>
          <a:prstGeom prst="roundRect">
            <a:avLst>
              <a:gd name="adj" fmla="val 314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475488" cy="475488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837944"/>
            <a:ext cx="2493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968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set, and when it is due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handed in and who has not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closed, and who closed it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under each piece of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3776" y="1600200"/>
            <a:ext cx="3553968" cy="3200400"/>
          </a:xfrm>
          <a:prstGeom prst="roundRect">
            <a:avLst>
              <a:gd name="adj" fmla="val 314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9808" y="1837944"/>
            <a:ext cx="475488" cy="475488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4559808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3312" y="1837944"/>
            <a:ext cx="2493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material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6384" y="2514600"/>
            <a:ext cx="2968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Chapters, slides, notes, links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saved from the board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per subject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when it is needed again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58912" y="1600200"/>
            <a:ext cx="3553968" cy="3200400"/>
          </a:xfrm>
          <a:prstGeom prst="roundRect">
            <a:avLst>
              <a:gd name="adj" fmla="val 314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4944" y="1837944"/>
            <a:ext cx="475488" cy="475488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14944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8448" y="1837944"/>
            <a:ext cx="2493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discussion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1520" y="2514600"/>
            <a:ext cx="2968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subject's own thread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ask, students answer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teacher is in it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general noticeboard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1000"/>
            </a:avLst>
          </a:prstGeom>
          <a:solidFill>
            <a:srgbClr val="F6E3C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48656"/>
            <a:ext cx="420624" cy="420624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89888" y="51389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one feed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54498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Homework, the chapter needed again in March, and a question asked on Tuesday have different lifetimes. Merge them and the one that matters is the one scrolled past.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01184" cy="4023360"/>
          </a:xfrm>
          <a:prstGeom prst="roundRect">
            <a:avLst>
              <a:gd name="adj" fmla="val 2500"/>
            </a:avLst>
          </a:prstGeom>
          <a:solidFill>
            <a:srgbClr val="16302B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37944"/>
            <a:ext cx="457200" cy="457200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26464" y="1837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352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enters the class code and taps their own name on the register. That is the whole sign-in.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09544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address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19856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9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do not have one, and asking for one creates an account the school cannot see.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to forget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9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reset in week three in front of the class.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416552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out, sign back 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9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stays on the register and taps back into the same account, with the same work on it.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020056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is protected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9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codes are rate-limited per minute, per address, and across the service.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50992" y="1600200"/>
            <a:ext cx="5961888" cy="713232"/>
          </a:xfrm>
          <a:prstGeom prst="roundRect">
            <a:avLst>
              <a:gd name="adj" fmla="val 1410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175564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64224" y="1655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1929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class opens first, not buried under anything else.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650992" y="2423160"/>
            <a:ext cx="5961888" cy="713232"/>
          </a:xfrm>
          <a:prstGeom prst="roundRect">
            <a:avLst>
              <a:gd name="adj" fmla="val 1410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257860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64224" y="2478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and who teaches each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2752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subject: the teacher's name, and everything that teacher posted.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50992" y="3246120"/>
            <a:ext cx="5961888" cy="713232"/>
          </a:xfrm>
          <a:prstGeom prst="roundRect">
            <a:avLst>
              <a:gd name="adj" fmla="val 1410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52160" y="340156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64224" y="3300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hand 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64224" y="35753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due, what is closed, and handing it in.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650992" y="4069080"/>
            <a:ext cx="5961888" cy="713232"/>
          </a:xfrm>
          <a:prstGeom prst="roundRect">
            <a:avLst>
              <a:gd name="adj" fmla="val 1410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52160" y="422452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64224" y="4123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the right place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64224" y="43982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work, in the subject thread, or straight to that subject's teacher.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650992" y="4892040"/>
            <a:ext cx="5961888" cy="713232"/>
          </a:xfrm>
          <a:prstGeom prst="roundRect">
            <a:avLst>
              <a:gd name="adj" fmla="val 14103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52160" y="50474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64224" y="4946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board's tools on their own device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64224" y="5221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Axle, scan a problem from the textbook, the calculator, the 3D structures.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account never sees the job board or anything commercial. That half of the product does not exist for them.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office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2199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and section, each with a join code you can rotate.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81344" y="160020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12864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9088" y="222199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teachers once at school level, then pick them inside a class.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288036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84378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31927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teacher, many classes, many subjects — assigned per class.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269748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88036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284378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19088" y="331927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roll, or let them join with the code and appear on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397764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94106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441655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the whole school, one class, or staff only — with a file attached.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379476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97764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12864" y="394106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19088" y="441655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per class, held per school.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507492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503834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6384" y="55138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across a class, invoices per student, and who is overdue.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1344" y="4892040"/>
            <a:ext cx="5431536" cy="1005840"/>
          </a:xfrm>
          <a:prstGeom prst="roundRect">
            <a:avLst>
              <a:gd name="adj" fmla="val 10000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507492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12864" y="503834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school, seen whole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19088" y="55138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outstanding, requests waiting, and what falls due next.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 the institution and its first administrator. Everything after that is yours to run — nobody rings us to add a teacher in June.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HELPER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Axle answers from the textbook, not from memory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2286000"/>
          </a:xfrm>
          <a:prstGeom prst="roundRect">
            <a:avLst>
              <a:gd name="adj" fmla="val 4400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" y="23500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69748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spoken, or photographed off a page.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15184" cy="2286000"/>
          </a:xfrm>
          <a:prstGeom prst="roundRect">
            <a:avLst>
              <a:gd name="adj" fmla="val 4400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02736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360273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00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2736" y="269748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built from NCERT Class 6 to 12 is searched on our server, before any answer is written.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15184" cy="2286000"/>
          </a:xfrm>
          <a:prstGeom prst="roundRect">
            <a:avLst>
              <a:gd name="adj" fmla="val 4400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19088" y="23500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9088" y="269748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paragraphs from the actual chapter go in with the question.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15184" cy="2286000"/>
          </a:xfrm>
          <a:prstGeom prst="roundRect">
            <a:avLst>
              <a:gd name="adj" fmla="val 4400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801368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23500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697480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 the level chosen, in lines a room can read, with a diagram where one helps.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553968" cy="1517904"/>
          </a:xfrm>
          <a:prstGeom prst="roundRect">
            <a:avLst>
              <a:gd name="adj" fmla="val 6627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4297680"/>
            <a:ext cx="307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invented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" y="4590288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chapter that will not download is recorded as missing. A corpus holding nine chapters while claiming sixteen is worse than one holding nine and saying so.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303776" y="4114800"/>
            <a:ext cx="3553968" cy="1517904"/>
          </a:xfrm>
          <a:prstGeom prst="roundRect">
            <a:avLst>
              <a:gd name="adj" fmla="val 6627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41520" y="4297680"/>
            <a:ext cx="307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where it came from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41520" y="4590288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diagram and structure carries its source and its licence, on screen.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058912" y="4114800"/>
            <a:ext cx="3553968" cy="1517904"/>
          </a:xfrm>
          <a:prstGeom prst="roundRect">
            <a:avLst>
              <a:gd name="adj" fmla="val 6627"/>
            </a:avLst>
          </a:prstGeom>
          <a:solidFill>
            <a:srgbClr val="24473D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96656" y="4297680"/>
            <a:ext cx="307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own material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96656" y="4590288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B4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teacher's own PDF can be shown as-is or written up as a lesson, filed in that subject.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student searched or asked is stored scoped to their own school, and never used to source anybody else's answer.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AND THEIR LICENCES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answers come from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21992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 to 12 Science, Maths, Physics, Chemistry and Biology.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81344" y="1600200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12864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PhET, University of Colorado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9088" y="2221992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simulations, free and open.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28437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807208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 Protein Data Bank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2826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protein and molecular structures, measured.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81344" y="2660904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843784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2807208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19088" y="32826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structures and properties, from the NIH.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39044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86791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434340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and diagrams, each with its licence shown.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81344" y="3721608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904488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12864" y="386791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image library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19088" y="434340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 and earth imagery, public domain.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4782312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4965192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492861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Craxlearn measured tables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6384" y="540410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and property tables the lab runs on — never guessed.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181344" y="4782312"/>
            <a:ext cx="5431536" cy="969264"/>
          </a:xfrm>
          <a:prstGeom prst="roundRect">
            <a:avLst>
              <a:gd name="adj" fmla="val 10377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4965192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12864" y="492861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curriculum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19088" y="540410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lessons of computing and data, written here.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8333"/>
            </a:avLst>
          </a:prstGeom>
          <a:solidFill>
            <a:srgbClr val="F6E3C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5961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list, with licences, is public at craxle.com/api/craxlearn/sources — no account needed.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Privacy, under the DPDP Act 2023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0160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Anybody under 18 is a child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219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says so and this product treats it that way. A child's data is processed only with verifiable consent from a parent or guardian.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81344" y="16002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12864" y="17465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holds the consent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9088" y="22219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obtains and holds it and confirms that to us. We act on the school's instructions for those accounts.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1546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31181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advertising. None.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5935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 network, no behavioural profiling, no third-party analytics anywhere in the product, for anybody of any age.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81344" y="29718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1546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31181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children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19088" y="35935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monitoring of children is forbidden by the Act and is not done here.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5262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44897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delete their history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49651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button for it. It is theirs.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81344" y="4343400"/>
            <a:ext cx="5431536" cy="1243584"/>
          </a:xfrm>
          <a:prstGeom prst="roundRect">
            <a:avLst>
              <a:gd name="adj" fmla="val 8088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526280"/>
            <a:ext cx="402336" cy="402336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12864" y="44897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commercial reaches a child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19088" y="4965192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side is closed to school accounts and to anybody who has not stated they are over 18.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is written for India first and names the Act. It is at craxle.com/privacy, in plain language, before anybody signs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 to start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737360"/>
          </a:xfrm>
          <a:prstGeom prst="roundRect">
            <a:avLst>
              <a:gd name="adj" fmla="val 5789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83080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us the 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6609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 the institution and its first administrator account. One call.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15184" cy="1737360"/>
          </a:xfrm>
          <a:prstGeom prst="roundRect">
            <a:avLst>
              <a:gd name="adj" fmla="val 5789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783080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84448" y="2331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sets 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84448" y="26609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staff, subjects. An afternoon, once.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15184" cy="1737360"/>
          </a:xfrm>
          <a:prstGeom prst="roundRect">
            <a:avLst>
              <a:gd name="adj" fmla="val 5789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83080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go 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6609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per class for students, one per subject for whoever teaches it.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15184" cy="1737360"/>
          </a:xfrm>
          <a:prstGeom prst="roundRect">
            <a:avLst>
              <a:gd name="adj" fmla="val 5789"/>
            </a:avLst>
          </a:prstGeom>
          <a:solidFill>
            <a:srgbClr val="E7EDE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783080"/>
            <a:ext cx="438912" cy="438912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17152" y="2331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goes 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17152" y="26609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address on the panel and install it.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5431536" cy="2194560"/>
          </a:xfrm>
          <a:prstGeom prst="roundRect">
            <a:avLst>
              <a:gd name="adj" fmla="val 4583"/>
            </a:avLst>
          </a:prstGeom>
          <a:solidFill>
            <a:srgbClr val="16302B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E0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26464" y="38221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pays. Nobody else.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4882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 from the institution. No per-student charge at the gate, no parent asked for a card, no free tier that stops working mid-term, and nothing sold to a child inside a lesson.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3602736"/>
            <a:ext cx="5431536" cy="2194560"/>
          </a:xfrm>
          <a:prstGeom prst="roundRect">
            <a:avLst>
              <a:gd name="adj" fmla="val 4583"/>
            </a:avLst>
          </a:prstGeom>
          <a:solidFill>
            <a:srgbClr val="F6E3C7"/>
          </a:solidFill>
          <a:ln/>
          <a:effectLst>
            <a:outerShdw sx="100000" sy="100000" kx="0" ky="0" algn="bl" rotWithShape="0" blurRad="127000" dist="25400" dir="5400000">
              <a:srgbClr val="10231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55664" y="3803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hardware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92240" y="4261104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panel already in the room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laptop, tablet or phone for anyone without one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on your PCs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on site, and nobody to maintain it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206240" cy="4206240"/>
          </a:xfrm>
          <a:prstGeom prst="ellipse">
            <a:avLst/>
          </a:prstGeom>
          <a:solidFill>
            <a:srgbClr val="24473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005840"/>
            <a:ext cx="3291840" cy="3291840"/>
          </a:xfrm>
          <a:prstGeom prst="ellipse">
            <a:avLst/>
          </a:prstGeom>
          <a:solidFill>
            <a:srgbClr val="2447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2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on your board and ask it something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50976" y="3529584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topic from next week's lesson. We will open it on the panel in your own room, at the level of the class that sits in it.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0976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craxle.com/craxlearn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2026-08-05T02:34:02Z</dcterms:created>
  <dcterms:modified xsi:type="dcterms:W3CDTF">2026-08-05T02:34:02Z</dcterms:modified>
</cp:coreProperties>
</file>